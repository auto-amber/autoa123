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2A9D8F"/>
          </a:solidFill>
          <a:ln w="12700">
            <a:solidFill>
              <a:srgbClr val="2A9D8F"/>
            </a:solidFill>
            <a:prstDash val="solid"/>
          </a:ln>
        </p:spPr>
      </p:sp>
      <p:sp>
        <p:nvSpPr>
          <p:cNvPr id="3" name="Shape 1"/>
          <p:cNvSpPr/>
          <p:nvPr/>
        </p:nvSpPr>
        <p:spPr>
          <a:xfrm>
            <a:off x="0" y="5079492"/>
            <a:ext cx="9144000" cy="64008"/>
          </a:xfrm>
          <a:prstGeom prst="rect">
            <a:avLst/>
          </a:prstGeom>
          <a:solidFill>
            <a:srgbClr val="2A9D8F"/>
          </a:solidFill>
          <a:ln w="12700">
            <a:solidFill>
              <a:srgbClr val="2A9D8F"/>
            </a:solidFill>
            <a:prstDash val="solid"/>
          </a:ln>
        </p:spPr>
      </p:sp>
      <p:sp>
        <p:nvSpPr>
          <p:cNvPr id="4" name="Text 2"/>
          <p:cNvSpPr/>
          <p:nvPr/>
        </p:nvSpPr>
        <p:spPr>
          <a:xfrm>
            <a:off x="502920" y="749808"/>
            <a:ext cx="7315200" cy="237744"/>
          </a:xfrm>
          <a:prstGeom prst="rect">
            <a:avLst/>
          </a:prstGeom>
          <a:noFill/>
          <a:ln/>
        </p:spPr>
        <p:txBody>
          <a:bodyPr wrap="square" lIns="0" tIns="0" rIns="0" bIns="0" rtlCol="0" anchor="ctr"/>
          <a:lstStyle/>
          <a:p>
            <a:pPr indent="0" marL="0">
              <a:buNone/>
            </a:pPr>
            <a:r>
              <a:rPr lang="en-US" sz="900" b="1" spc="400" kern="0" dirty="0">
                <a:solidFill>
                  <a:srgbClr val="2A9D8F"/>
                </a:solidFill>
                <a:latin typeface="Calibri" pitchFamily="34" charset="0"/>
                <a:ea typeface="Calibri" pitchFamily="34" charset="-122"/>
                <a:cs typeface="Calibri" pitchFamily="34" charset="-120"/>
              </a:rPr>
              <a:t>AUTOA 123  ·  BRAKES</a:t>
            </a:r>
            <a:endParaRPr lang="en-US" sz="900" dirty="0"/>
          </a:p>
        </p:txBody>
      </p:sp>
      <p:sp>
        <p:nvSpPr>
          <p:cNvPr id="5" name="Text 3"/>
          <p:cNvSpPr/>
          <p:nvPr/>
        </p:nvSpPr>
        <p:spPr>
          <a:xfrm>
            <a:off x="502920" y="1078992"/>
            <a:ext cx="5669280" cy="1920240"/>
          </a:xfrm>
          <a:prstGeom prst="rect">
            <a:avLst/>
          </a:prstGeom>
          <a:noFill/>
          <a:ln/>
        </p:spPr>
        <p:txBody>
          <a:bodyPr wrap="square" lIns="0" tIns="0" rIns="0" bIns="0" rtlCol="0" anchor="ctr"/>
          <a:lstStyle/>
          <a:p>
            <a:pPr indent="0" marL="0">
              <a:buNone/>
            </a:pPr>
            <a:r>
              <a:rPr lang="en-US" sz="5200" b="1" dirty="0">
                <a:solidFill>
                  <a:srgbClr val="FFFFFF"/>
                </a:solidFill>
                <a:latin typeface="Calibri" pitchFamily="34" charset="0"/>
                <a:ea typeface="Calibri" pitchFamily="34" charset="-122"/>
                <a:cs typeface="Calibri" pitchFamily="34" charset="-120"/>
              </a:rPr>
              <a:t>Brake Booster</a:t>
            </a:r>
            <a:endParaRPr lang="en-US" sz="5200" dirty="0"/>
          </a:p>
          <a:p>
            <a:pPr indent="0" marL="0">
              <a:buNone/>
            </a:pPr>
            <a:r>
              <a:rPr lang="en-US" sz="5200" b="1" dirty="0">
                <a:solidFill>
                  <a:srgbClr val="FFFFFF"/>
                </a:solidFill>
                <a:latin typeface="Calibri" pitchFamily="34" charset="0"/>
                <a:ea typeface="Calibri" pitchFamily="34" charset="-122"/>
                <a:cs typeface="Calibri" pitchFamily="34" charset="-120"/>
              </a:rPr>
              <a:t>Systems</a:t>
            </a:r>
            <a:endParaRPr lang="en-US" sz="5200" dirty="0"/>
          </a:p>
        </p:txBody>
      </p:sp>
      <p:sp>
        <p:nvSpPr>
          <p:cNvPr id="6" name="Shape 4"/>
          <p:cNvSpPr/>
          <p:nvPr/>
        </p:nvSpPr>
        <p:spPr>
          <a:xfrm>
            <a:off x="502920" y="3090672"/>
            <a:ext cx="3474720" cy="54864"/>
          </a:xfrm>
          <a:prstGeom prst="rect">
            <a:avLst/>
          </a:prstGeom>
          <a:solidFill>
            <a:srgbClr val="2A9D8F"/>
          </a:solidFill>
          <a:ln w="12700">
            <a:solidFill>
              <a:srgbClr val="2A9D8F"/>
            </a:solidFill>
            <a:prstDash val="solid"/>
          </a:ln>
        </p:spPr>
      </p:sp>
      <p:sp>
        <p:nvSpPr>
          <p:cNvPr id="7" name="Text 5"/>
          <p:cNvSpPr/>
          <p:nvPr/>
        </p:nvSpPr>
        <p:spPr>
          <a:xfrm>
            <a:off x="502920" y="3236976"/>
            <a:ext cx="7772400" cy="274320"/>
          </a:xfrm>
          <a:prstGeom prst="rect">
            <a:avLst/>
          </a:prstGeom>
          <a:noFill/>
          <a:ln/>
        </p:spPr>
        <p:txBody>
          <a:bodyPr wrap="square" lIns="0" tIns="0" rIns="0" bIns="0" rtlCol="0" anchor="ctr"/>
          <a:lstStyle/>
          <a:p>
            <a:pPr indent="0" marL="0">
              <a:buNone/>
            </a:pPr>
            <a:r>
              <a:rPr lang="en-US" sz="1300" dirty="0">
                <a:solidFill>
                  <a:srgbClr val="CCCCCC"/>
                </a:solidFill>
                <a:latin typeface="Calibri" pitchFamily="34" charset="0"/>
                <a:ea typeface="Calibri" pitchFamily="34" charset="-122"/>
                <a:cs typeface="Calibri" pitchFamily="34" charset="-120"/>
              </a:rPr>
              <a:t>Vacuum Boosters  ·  Hydro-Boost  ·  Electronic Boosters</a:t>
            </a:r>
            <a:endParaRPr lang="en-US" sz="1300" dirty="0"/>
          </a:p>
        </p:txBody>
      </p:sp>
      <p:sp>
        <p:nvSpPr>
          <p:cNvPr id="8" name="Text 6"/>
          <p:cNvSpPr/>
          <p:nvPr/>
        </p:nvSpPr>
        <p:spPr>
          <a:xfrm>
            <a:off x="502920" y="4686300"/>
            <a:ext cx="8229600" cy="201168"/>
          </a:xfrm>
          <a:prstGeom prst="rect">
            <a:avLst/>
          </a:prstGeom>
          <a:noFill/>
          <a:ln/>
        </p:spPr>
        <p:txBody>
          <a:bodyPr wrap="square" lIns="0" tIns="0" rIns="0" bIns="0" rtlCol="0" anchor="ctr"/>
          <a:lstStyle/>
          <a:p>
            <a:pPr indent="0" marL="0">
              <a:buNone/>
            </a:pPr>
            <a:r>
              <a:rPr lang="en-US" sz="900" dirty="0">
                <a:solidFill>
                  <a:srgbClr val="888888"/>
                </a:solidFill>
                <a:latin typeface="Calibri" pitchFamily="34" charset="0"/>
                <a:ea typeface="Calibri" pitchFamily="34" charset="-122"/>
                <a:cs typeface="Calibri" pitchFamily="34" charset="-120"/>
              </a:rPr>
              <a:t>Shoreline Community College  ·  Professional Automotive Training Center</a:t>
            </a:r>
            <a:endParaRPr lang="en-US" sz="900" dirty="0"/>
          </a:p>
        </p:txBody>
      </p:sp>
      <p:pic>
        <p:nvPicPr>
          <p:cNvPr id="9" name="Image 0" descr="Cut-away vacuum booster diagram">    </p:cNvPr>
          <p:cNvPicPr>
            <a:picLocks noChangeAspect="1"/>
          </p:cNvPicPr>
          <p:nvPr/>
        </p:nvPicPr>
        <p:blipFill>
          <a:blip r:embed="rId1"/>
          <a:stretch>
            <a:fillRect/>
          </a:stretch>
        </p:blipFill>
        <p:spPr>
          <a:xfrm>
            <a:off x="5943600" y="548640"/>
            <a:ext cx="2926080" cy="19202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2A9D8F"/>
          </a:solidFill>
          <a:ln w="12700">
            <a:solidFill>
              <a:srgbClr val="2A9D8F"/>
            </a:solidFill>
            <a:prstDash val="solid"/>
          </a:ln>
        </p:spPr>
      </p:sp>
      <p:sp>
        <p:nvSpPr>
          <p:cNvPr id="3" name="Shape 1"/>
          <p:cNvSpPr/>
          <p:nvPr/>
        </p:nvSpPr>
        <p:spPr>
          <a:xfrm>
            <a:off x="0" y="5079492"/>
            <a:ext cx="9144000" cy="64008"/>
          </a:xfrm>
          <a:prstGeom prst="rect">
            <a:avLst/>
          </a:prstGeom>
          <a:solidFill>
            <a:srgbClr val="2A9D8F"/>
          </a:solidFill>
          <a:ln w="12700">
            <a:solidFill>
              <a:srgbClr val="2A9D8F"/>
            </a:solidFill>
            <a:prstDash val="solid"/>
          </a:ln>
        </p:spPr>
      </p:sp>
      <p:sp>
        <p:nvSpPr>
          <p:cNvPr id="4" name="Text 2"/>
          <p:cNvSpPr/>
          <p:nvPr/>
        </p:nvSpPr>
        <p:spPr>
          <a:xfrm>
            <a:off x="457200" y="118872"/>
            <a:ext cx="8229600" cy="201168"/>
          </a:xfrm>
          <a:prstGeom prst="rect">
            <a:avLst/>
          </a:prstGeom>
          <a:noFill/>
          <a:ln/>
        </p:spPr>
        <p:txBody>
          <a:bodyPr wrap="square" lIns="0" tIns="0" rIns="0" bIns="0" rtlCol="0" anchor="ctr"/>
          <a:lstStyle/>
          <a:p>
            <a:pPr indent="0" marL="0">
              <a:buNone/>
            </a:pPr>
            <a:r>
              <a:rPr lang="en-US" sz="800" b="1" spc="400" kern="0" dirty="0">
                <a:solidFill>
                  <a:srgbClr val="2A9D8F"/>
                </a:solidFill>
                <a:latin typeface="Calibri" pitchFamily="34" charset="0"/>
                <a:ea typeface="Calibri" pitchFamily="34" charset="-122"/>
                <a:cs typeface="Calibri" pitchFamily="34" charset="-120"/>
              </a:rPr>
              <a:t>FUNDAMENTALS</a:t>
            </a:r>
            <a:endParaRPr lang="en-US" sz="800" dirty="0"/>
          </a:p>
        </p:txBody>
      </p:sp>
      <p:sp>
        <p:nvSpPr>
          <p:cNvPr id="5" name="Text 3"/>
          <p:cNvSpPr/>
          <p:nvPr/>
        </p:nvSpPr>
        <p:spPr>
          <a:xfrm>
            <a:off x="457200" y="384048"/>
            <a:ext cx="8229600" cy="530352"/>
          </a:xfrm>
          <a:prstGeom prst="rect">
            <a:avLst/>
          </a:prstGeom>
          <a:noFill/>
          <a:ln/>
        </p:spPr>
        <p:txBody>
          <a:bodyPr wrap="square" lIns="0" tIns="0" rIns="0" bIns="0" rtlCol="0" anchor="ctr"/>
          <a:lstStyle/>
          <a:p>
            <a:pPr indent="0" marL="0">
              <a:buNone/>
            </a:pPr>
            <a:r>
              <a:rPr lang="en-US" sz="2800" b="1" dirty="0">
                <a:solidFill>
                  <a:srgbClr val="2A9D8F"/>
                </a:solidFill>
                <a:latin typeface="Calibri" pitchFamily="34" charset="0"/>
                <a:ea typeface="Calibri" pitchFamily="34" charset="-122"/>
                <a:cs typeface="Calibri" pitchFamily="34" charset="-120"/>
              </a:rPr>
              <a:t>What Is a Brake Booster?</a:t>
            </a:r>
            <a:endParaRPr lang="en-US" sz="2800" dirty="0"/>
          </a:p>
        </p:txBody>
      </p:sp>
      <p:sp>
        <p:nvSpPr>
          <p:cNvPr id="6" name="Text 4"/>
          <p:cNvSpPr/>
          <p:nvPr/>
        </p:nvSpPr>
        <p:spPr>
          <a:xfrm>
            <a:off x="457200" y="1024128"/>
            <a:ext cx="4389120" cy="2834640"/>
          </a:xfrm>
          <a:prstGeom prst="rect">
            <a:avLst/>
          </a:prstGeom>
          <a:noFill/>
          <a:ln/>
        </p:spPr>
        <p:txBody>
          <a:bodyPr wrap="square" rtlCol="0" anchor="ctr"/>
          <a:lstStyle/>
          <a:p>
            <a:pPr marL="342900" indent="-342900">
              <a:spcAft>
                <a:spcPts val="500"/>
              </a:spcAft>
              <a:buSzPct val="100000"/>
              <a:buChar char="•"/>
            </a:pPr>
            <a:r>
              <a:rPr lang="en-US" sz="1100" dirty="0">
                <a:solidFill>
                  <a:srgbClr val="CCCCCC"/>
                </a:solidFill>
                <a:latin typeface="Calibri" pitchFamily="34" charset="0"/>
                <a:ea typeface="Calibri" pitchFamily="34" charset="-122"/>
                <a:cs typeface="Calibri" pitchFamily="34" charset="-120"/>
              </a:rPr>
              <a:t>Multiplies the force applied to the brake pedal — typically 2:1 to 4:1</a:t>
            </a:r>
            <a:endParaRPr lang="en-US" sz="1100" dirty="0"/>
          </a:p>
          <a:p>
            <a:pPr marL="342900" indent="-342900">
              <a:spcAft>
                <a:spcPts val="500"/>
              </a:spcAft>
              <a:buSzPct val="100000"/>
              <a:buChar char="•"/>
            </a:pPr>
            <a:r>
              <a:rPr lang="en-US" sz="1100" dirty="0">
                <a:solidFill>
                  <a:srgbClr val="CCCCCC"/>
                </a:solidFill>
                <a:latin typeface="Calibri" pitchFamily="34" charset="0"/>
                <a:ea typeface="Calibri" pitchFamily="34" charset="-122"/>
                <a:cs typeface="Calibri" pitchFamily="34" charset="-120"/>
              </a:rPr>
              <a:t>Located between the brake pedal and the master cylinder</a:t>
            </a:r>
            <a:endParaRPr lang="en-US" sz="1100" dirty="0"/>
          </a:p>
          <a:p>
            <a:pPr marL="342900" indent="-342900">
              <a:spcAft>
                <a:spcPts val="500"/>
              </a:spcAft>
              <a:buSzPct val="100000"/>
              <a:buChar char="•"/>
            </a:pPr>
            <a:r>
              <a:rPr lang="en-US" sz="1100" dirty="0">
                <a:solidFill>
                  <a:srgbClr val="CCCCCC"/>
                </a:solidFill>
                <a:latin typeface="Calibri" pitchFamily="34" charset="0"/>
                <a:ea typeface="Calibri" pitchFamily="34" charset="-122"/>
                <a:cs typeface="Calibri" pitchFamily="34" charset="-120"/>
              </a:rPr>
              <a:t>Most common type uses engine intake manifold vacuum</a:t>
            </a:r>
            <a:endParaRPr lang="en-US" sz="1100" dirty="0"/>
          </a:p>
          <a:p>
            <a:pPr marL="342900" indent="-342900">
              <a:spcAft>
                <a:spcPts val="500"/>
              </a:spcAft>
              <a:buSzPct val="100000"/>
              <a:buChar char="•"/>
            </a:pPr>
            <a:r>
              <a:rPr lang="en-US" sz="1100" dirty="0">
                <a:solidFill>
                  <a:srgbClr val="CCCCCC"/>
                </a:solidFill>
                <a:latin typeface="Calibri" pitchFamily="34" charset="0"/>
                <a:ea typeface="Calibri" pitchFamily="34" charset="-122"/>
                <a:cs typeface="Calibri" pitchFamily="34" charset="-120"/>
              </a:rPr>
              <a:t>If it fails, braking still works — pedal effort increases significantly</a:t>
            </a:r>
            <a:endParaRPr lang="en-US" sz="1100" dirty="0"/>
          </a:p>
          <a:p>
            <a:pPr marL="342900" indent="-342900">
              <a:spcAft>
                <a:spcPts val="500"/>
              </a:spcAft>
              <a:buSzPct val="100000"/>
              <a:buChar char="•"/>
            </a:pPr>
            <a:r>
              <a:rPr lang="en-US" sz="1100" dirty="0">
                <a:solidFill>
                  <a:srgbClr val="CCCCCC"/>
                </a:solidFill>
                <a:latin typeface="Calibri" pitchFamily="34" charset="0"/>
                <a:ea typeface="Calibri" pitchFamily="34" charset="-122"/>
                <a:cs typeface="Calibri" pitchFamily="34" charset="-120"/>
              </a:rPr>
              <a:t>Reserve vacuum allows 2–3 assisted stops after engine shuts off</a:t>
            </a:r>
            <a:endParaRPr lang="en-US" sz="1100" dirty="0"/>
          </a:p>
        </p:txBody>
      </p:sp>
      <p:pic>
        <p:nvPicPr>
          <p:cNvPr id="7" name="Image 0" descr="Cut-away booster and master cylinder">    </p:cNvPr>
          <p:cNvPicPr>
            <a:picLocks noChangeAspect="1"/>
          </p:cNvPicPr>
          <p:nvPr/>
        </p:nvPicPr>
        <p:blipFill>
          <a:blip r:embed="rId1"/>
          <a:stretch>
            <a:fillRect/>
          </a:stretch>
        </p:blipFill>
        <p:spPr>
          <a:xfrm>
            <a:off x="5074920" y="804672"/>
            <a:ext cx="3794760" cy="2496312"/>
          </a:xfrm>
          <a:prstGeom prst="rect">
            <a:avLst/>
          </a:prstGeom>
        </p:spPr>
      </p:pic>
      <p:sp>
        <p:nvSpPr>
          <p:cNvPr id="8" name="Shape 5"/>
          <p:cNvSpPr/>
          <p:nvPr/>
        </p:nvSpPr>
        <p:spPr>
          <a:xfrm>
            <a:off x="457200" y="3977640"/>
            <a:ext cx="4389120" cy="914400"/>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9" name="Shape 6"/>
          <p:cNvSpPr/>
          <p:nvPr/>
        </p:nvSpPr>
        <p:spPr>
          <a:xfrm>
            <a:off x="457200" y="3977640"/>
            <a:ext cx="54864" cy="914400"/>
          </a:xfrm>
          <a:prstGeom prst="rect">
            <a:avLst/>
          </a:prstGeom>
          <a:solidFill>
            <a:srgbClr val="E9A825"/>
          </a:solidFill>
          <a:ln w="12700">
            <a:solidFill>
              <a:srgbClr val="E9A825"/>
            </a:solidFill>
            <a:prstDash val="solid"/>
          </a:ln>
        </p:spPr>
      </p:sp>
      <p:sp>
        <p:nvSpPr>
          <p:cNvPr id="10" name="Text 7"/>
          <p:cNvSpPr/>
          <p:nvPr/>
        </p:nvSpPr>
        <p:spPr>
          <a:xfrm>
            <a:off x="585216" y="4069080"/>
            <a:ext cx="4187952" cy="256032"/>
          </a:xfrm>
          <a:prstGeom prst="rect">
            <a:avLst/>
          </a:prstGeom>
          <a:noFill/>
          <a:ln/>
        </p:spPr>
        <p:txBody>
          <a:bodyPr wrap="square" lIns="0" tIns="0" rIns="0" bIns="0" rtlCol="0" anchor="ctr"/>
          <a:lstStyle/>
          <a:p>
            <a:pPr indent="0" marL="0">
              <a:buNone/>
            </a:pPr>
            <a:r>
              <a:rPr lang="en-US" sz="1100" b="1" dirty="0">
                <a:solidFill>
                  <a:srgbClr val="E9A825"/>
                </a:solidFill>
                <a:latin typeface="Calibri" pitchFamily="34" charset="0"/>
                <a:ea typeface="Calibri" pitchFamily="34" charset="-122"/>
                <a:cs typeface="Calibri" pitchFamily="34" charset="-120"/>
              </a:rPr>
              <a:t>Key Takeaway</a:t>
            </a:r>
            <a:endParaRPr lang="en-US" sz="1100" dirty="0"/>
          </a:p>
        </p:txBody>
      </p:sp>
      <p:sp>
        <p:nvSpPr>
          <p:cNvPr id="11" name="Text 8"/>
          <p:cNvSpPr/>
          <p:nvPr/>
        </p:nvSpPr>
        <p:spPr>
          <a:xfrm>
            <a:off x="585216" y="4361688"/>
            <a:ext cx="4187952" cy="420624"/>
          </a:xfrm>
          <a:prstGeom prst="rect">
            <a:avLst/>
          </a:prstGeom>
          <a:noFill/>
          <a:ln/>
        </p:spPr>
        <p:txBody>
          <a:bodyPr wrap="square" lIns="0" tIns="0" rIns="0" bIns="0" rtlCol="0" anchor="t"/>
          <a:lstStyle/>
          <a:p>
            <a:pPr indent="0" marL="0">
              <a:buNone/>
            </a:pPr>
            <a:r>
              <a:rPr lang="en-US" sz="1000" dirty="0">
                <a:solidFill>
                  <a:srgbClr val="CCCCCC"/>
                </a:solidFill>
                <a:latin typeface="Calibri" pitchFamily="34" charset="0"/>
                <a:ea typeface="Calibri" pitchFamily="34" charset="-122"/>
                <a:cs typeface="Calibri" pitchFamily="34" charset="-120"/>
              </a:rPr>
              <a:t>The booster amplifies driver pedal force. It does not generate braking power on its own.</a:t>
            </a:r>
            <a:endParaRPr lang="en-US" sz="1000" dirty="0"/>
          </a:p>
        </p:txBody>
      </p:sp>
      <p:sp>
        <p:nvSpPr>
          <p:cNvPr id="12" name="Shape 9"/>
          <p:cNvSpPr/>
          <p:nvPr/>
        </p:nvSpPr>
        <p:spPr>
          <a:xfrm>
            <a:off x="5074920" y="3419856"/>
            <a:ext cx="3794760" cy="1472184"/>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13" name="Shape 10"/>
          <p:cNvSpPr/>
          <p:nvPr/>
        </p:nvSpPr>
        <p:spPr>
          <a:xfrm>
            <a:off x="5074920" y="3419856"/>
            <a:ext cx="54864" cy="1472184"/>
          </a:xfrm>
          <a:prstGeom prst="rect">
            <a:avLst/>
          </a:prstGeom>
          <a:solidFill>
            <a:srgbClr val="2A9D8F"/>
          </a:solidFill>
          <a:ln w="12700">
            <a:solidFill>
              <a:srgbClr val="2A9D8F"/>
            </a:solidFill>
            <a:prstDash val="solid"/>
          </a:ln>
        </p:spPr>
      </p:sp>
      <p:sp>
        <p:nvSpPr>
          <p:cNvPr id="14" name="Text 11"/>
          <p:cNvSpPr/>
          <p:nvPr/>
        </p:nvSpPr>
        <p:spPr>
          <a:xfrm>
            <a:off x="5202936" y="3511296"/>
            <a:ext cx="3593592" cy="256032"/>
          </a:xfrm>
          <a:prstGeom prst="rect">
            <a:avLst/>
          </a:prstGeom>
          <a:noFill/>
          <a:ln/>
        </p:spPr>
        <p:txBody>
          <a:bodyPr wrap="square" lIns="0" tIns="0" rIns="0" bIns="0" rtlCol="0" anchor="ctr"/>
          <a:lstStyle/>
          <a:p>
            <a:pPr indent="0" marL="0">
              <a:buNone/>
            </a:pPr>
            <a:r>
              <a:rPr lang="en-US" sz="1100" b="1" dirty="0">
                <a:solidFill>
                  <a:srgbClr val="2A9D8F"/>
                </a:solidFill>
                <a:latin typeface="Calibri" pitchFamily="34" charset="0"/>
                <a:ea typeface="Calibri" pitchFamily="34" charset="-122"/>
                <a:cs typeface="Calibri" pitchFamily="34" charset="-120"/>
              </a:rPr>
              <a:t>Key Specs</a:t>
            </a:r>
            <a:endParaRPr lang="en-US" sz="1100" dirty="0"/>
          </a:p>
        </p:txBody>
      </p:sp>
      <p:sp>
        <p:nvSpPr>
          <p:cNvPr id="15" name="Text 12"/>
          <p:cNvSpPr/>
          <p:nvPr/>
        </p:nvSpPr>
        <p:spPr>
          <a:xfrm>
            <a:off x="5202936" y="3803904"/>
            <a:ext cx="3593592" cy="978408"/>
          </a:xfrm>
          <a:prstGeom prst="rect">
            <a:avLst/>
          </a:prstGeom>
          <a:noFill/>
          <a:ln/>
        </p:spPr>
        <p:txBody>
          <a:bodyPr wrap="square" lIns="0" tIns="0" rIns="0" bIns="0" rtlCol="0" anchor="t"/>
          <a:lstStyle/>
          <a:p>
            <a:pPr indent="0" marL="0">
              <a:buNone/>
            </a:pPr>
            <a:r>
              <a:rPr lang="en-US" sz="1000" dirty="0">
                <a:solidFill>
                  <a:srgbClr val="CCCCCC"/>
                </a:solidFill>
                <a:latin typeface="Calibri" pitchFamily="34" charset="0"/>
                <a:ea typeface="Calibri" pitchFamily="34" charset="-122"/>
                <a:cs typeface="Calibri" pitchFamily="34" charset="-120"/>
              </a:rPr>
              <a:t>Boost ratio: 2:1 to 4:1</a:t>
            </a:r>
            <a:endParaRPr lang="en-US" sz="1000" dirty="0"/>
          </a:p>
          <a:p>
            <a:pPr indent="0" marL="0">
              <a:buNone/>
            </a:pPr>
            <a:r>
              <a:rPr lang="en-US" sz="1000" dirty="0">
                <a:solidFill>
                  <a:srgbClr val="CCCCCC"/>
                </a:solidFill>
                <a:latin typeface="Calibri" pitchFamily="34" charset="0"/>
                <a:ea typeface="Calibri" pitchFamily="34" charset="-122"/>
                <a:cs typeface="Calibri" pitchFamily="34" charset="-120"/>
              </a:rPr>
              <a:t>Min vacuum: 15 in. Hg</a:t>
            </a:r>
            <a:endParaRPr lang="en-US" sz="1000" dirty="0"/>
          </a:p>
          <a:p>
            <a:pPr indent="0" marL="0">
              <a:buNone/>
            </a:pPr>
            <a:r>
              <a:rPr lang="en-US" sz="1000" dirty="0">
                <a:solidFill>
                  <a:srgbClr val="CCCCCC"/>
                </a:solidFill>
                <a:latin typeface="Calibri" pitchFamily="34" charset="0"/>
                <a:ea typeface="Calibri" pitchFamily="34" charset="-122"/>
                <a:cs typeface="Calibri" pitchFamily="34" charset="-120"/>
              </a:rPr>
              <a:t>Reserve: 2–3 stops</a:t>
            </a:r>
            <a:endParaRPr lang="en-US" sz="1000" dirty="0"/>
          </a:p>
          <a:p>
            <a:pPr indent="0" marL="0">
              <a:buNone/>
            </a:pPr>
            <a:r>
              <a:rPr lang="en-US" sz="1000" dirty="0">
                <a:solidFill>
                  <a:srgbClr val="CCCCCC"/>
                </a:solidFill>
                <a:latin typeface="Calibri" pitchFamily="34" charset="0"/>
                <a:ea typeface="Calibri" pitchFamily="34" charset="-122"/>
                <a:cs typeface="Calibri" pitchFamily="34" charset="-120"/>
              </a:rPr>
              <a:t>Diameter: 7–11 inches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2A9D8F"/>
          </a:solidFill>
          <a:ln w="12700">
            <a:solidFill>
              <a:srgbClr val="2A9D8F"/>
            </a:solidFill>
            <a:prstDash val="solid"/>
          </a:ln>
        </p:spPr>
      </p:sp>
      <p:sp>
        <p:nvSpPr>
          <p:cNvPr id="3" name="Shape 1"/>
          <p:cNvSpPr/>
          <p:nvPr/>
        </p:nvSpPr>
        <p:spPr>
          <a:xfrm>
            <a:off x="0" y="5079492"/>
            <a:ext cx="9144000" cy="64008"/>
          </a:xfrm>
          <a:prstGeom prst="rect">
            <a:avLst/>
          </a:prstGeom>
          <a:solidFill>
            <a:srgbClr val="2A9D8F"/>
          </a:solidFill>
          <a:ln w="12700">
            <a:solidFill>
              <a:srgbClr val="2A9D8F"/>
            </a:solidFill>
            <a:prstDash val="solid"/>
          </a:ln>
        </p:spPr>
      </p:sp>
      <p:sp>
        <p:nvSpPr>
          <p:cNvPr id="4" name="Text 2"/>
          <p:cNvSpPr/>
          <p:nvPr/>
        </p:nvSpPr>
        <p:spPr>
          <a:xfrm>
            <a:off x="457200" y="118872"/>
            <a:ext cx="8229600" cy="201168"/>
          </a:xfrm>
          <a:prstGeom prst="rect">
            <a:avLst/>
          </a:prstGeom>
          <a:noFill/>
          <a:ln/>
        </p:spPr>
        <p:txBody>
          <a:bodyPr wrap="square" lIns="0" tIns="0" rIns="0" bIns="0" rtlCol="0" anchor="ctr"/>
          <a:lstStyle/>
          <a:p>
            <a:pPr indent="0" marL="0">
              <a:buNone/>
            </a:pPr>
            <a:r>
              <a:rPr lang="en-US" sz="800" b="1" spc="400" kern="0" dirty="0">
                <a:solidFill>
                  <a:srgbClr val="2A9D8F"/>
                </a:solidFill>
                <a:latin typeface="Calibri" pitchFamily="34" charset="0"/>
                <a:ea typeface="Calibri" pitchFamily="34" charset="-122"/>
                <a:cs typeface="Calibri" pitchFamily="34" charset="-120"/>
              </a:rPr>
              <a:t>FUNDAMENTALS</a:t>
            </a:r>
            <a:endParaRPr lang="en-US" sz="800" dirty="0"/>
          </a:p>
        </p:txBody>
      </p:sp>
      <p:sp>
        <p:nvSpPr>
          <p:cNvPr id="5" name="Text 3"/>
          <p:cNvSpPr/>
          <p:nvPr/>
        </p:nvSpPr>
        <p:spPr>
          <a:xfrm>
            <a:off x="457200" y="384048"/>
            <a:ext cx="8229600" cy="530352"/>
          </a:xfrm>
          <a:prstGeom prst="rect">
            <a:avLst/>
          </a:prstGeom>
          <a:noFill/>
          <a:ln/>
        </p:spPr>
        <p:txBody>
          <a:bodyPr wrap="square" lIns="0" tIns="0" rIns="0" bIns="0" rtlCol="0" anchor="ctr"/>
          <a:lstStyle/>
          <a:p>
            <a:pPr indent="0" marL="0">
              <a:buNone/>
            </a:pPr>
            <a:r>
              <a:rPr lang="en-US" sz="2800" b="1" dirty="0">
                <a:solidFill>
                  <a:srgbClr val="2A9D8F"/>
                </a:solidFill>
                <a:latin typeface="Calibri" pitchFamily="34" charset="0"/>
                <a:ea typeface="Calibri" pitchFamily="34" charset="-122"/>
                <a:cs typeface="Calibri" pitchFamily="34" charset="-120"/>
              </a:rPr>
              <a:t>Brake Boosters — Key Facts</a:t>
            </a:r>
            <a:endParaRPr lang="en-US" sz="2800" dirty="0"/>
          </a:p>
        </p:txBody>
      </p:sp>
      <p:sp>
        <p:nvSpPr>
          <p:cNvPr id="6" name="Shape 4"/>
          <p:cNvSpPr/>
          <p:nvPr/>
        </p:nvSpPr>
        <p:spPr>
          <a:xfrm>
            <a:off x="411480" y="1024128"/>
            <a:ext cx="4206240" cy="1627632"/>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7" name="Shape 5"/>
          <p:cNvSpPr/>
          <p:nvPr/>
        </p:nvSpPr>
        <p:spPr>
          <a:xfrm>
            <a:off x="411480" y="1024128"/>
            <a:ext cx="54864" cy="1627632"/>
          </a:xfrm>
          <a:prstGeom prst="rect">
            <a:avLst/>
          </a:prstGeom>
          <a:solidFill>
            <a:srgbClr val="2A9D8F"/>
          </a:solidFill>
          <a:ln w="12700">
            <a:solidFill>
              <a:srgbClr val="2A9D8F"/>
            </a:solidFill>
            <a:prstDash val="solid"/>
          </a:ln>
        </p:spPr>
      </p:sp>
      <p:sp>
        <p:nvSpPr>
          <p:cNvPr id="8" name="Text 6"/>
          <p:cNvSpPr/>
          <p:nvPr/>
        </p:nvSpPr>
        <p:spPr>
          <a:xfrm>
            <a:off x="539496" y="1115568"/>
            <a:ext cx="4005072" cy="256032"/>
          </a:xfrm>
          <a:prstGeom prst="rect">
            <a:avLst/>
          </a:prstGeom>
          <a:noFill/>
          <a:ln/>
        </p:spPr>
        <p:txBody>
          <a:bodyPr wrap="square" lIns="0" tIns="0" rIns="0" bIns="0" rtlCol="0" anchor="ctr"/>
          <a:lstStyle/>
          <a:p>
            <a:pPr indent="0" marL="0">
              <a:buNone/>
            </a:pPr>
            <a:r>
              <a:rPr lang="en-US" sz="1100" b="1" dirty="0">
                <a:solidFill>
                  <a:srgbClr val="2A9D8F"/>
                </a:solidFill>
                <a:latin typeface="Calibri" pitchFamily="34" charset="0"/>
                <a:ea typeface="Calibri" pitchFamily="34" charset="-122"/>
                <a:cs typeface="Calibri" pitchFamily="34" charset="-120"/>
              </a:rPr>
              <a:t>Reduces Driver Effort</a:t>
            </a:r>
            <a:endParaRPr lang="en-US" sz="1100" dirty="0"/>
          </a:p>
        </p:txBody>
      </p:sp>
      <p:sp>
        <p:nvSpPr>
          <p:cNvPr id="9" name="Text 7"/>
          <p:cNvSpPr/>
          <p:nvPr/>
        </p:nvSpPr>
        <p:spPr>
          <a:xfrm>
            <a:off x="539496" y="1408176"/>
            <a:ext cx="4005072" cy="1133856"/>
          </a:xfrm>
          <a:prstGeom prst="rect">
            <a:avLst/>
          </a:prstGeom>
          <a:noFill/>
          <a:ln/>
        </p:spPr>
        <p:txBody>
          <a:bodyPr wrap="square" lIns="0" tIns="0" rIns="0" bIns="0" rtlCol="0" anchor="t"/>
          <a:lstStyle/>
          <a:p>
            <a:pPr indent="0" marL="0">
              <a:buNone/>
            </a:pPr>
            <a:r>
              <a:rPr lang="en-US" sz="1000" dirty="0">
                <a:solidFill>
                  <a:srgbClr val="CCCCCC"/>
                </a:solidFill>
                <a:latin typeface="Calibri" pitchFamily="34" charset="0"/>
                <a:ea typeface="Calibri" pitchFamily="34" charset="-122"/>
                <a:cs typeface="Calibri" pitchFamily="34" charset="-120"/>
              </a:rPr>
              <a:t>The booster allows drivers to generate sufficient hydraulic pressure without high pedal loads — essential for modern vehicle stopping distances.</a:t>
            </a:r>
            <a:endParaRPr lang="en-US" sz="1000" dirty="0"/>
          </a:p>
        </p:txBody>
      </p:sp>
      <p:sp>
        <p:nvSpPr>
          <p:cNvPr id="10" name="Shape 8"/>
          <p:cNvSpPr/>
          <p:nvPr/>
        </p:nvSpPr>
        <p:spPr>
          <a:xfrm>
            <a:off x="4800600" y="1024128"/>
            <a:ext cx="4206240" cy="1627632"/>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11" name="Shape 9"/>
          <p:cNvSpPr/>
          <p:nvPr/>
        </p:nvSpPr>
        <p:spPr>
          <a:xfrm>
            <a:off x="4800600" y="1024128"/>
            <a:ext cx="54864" cy="1627632"/>
          </a:xfrm>
          <a:prstGeom prst="rect">
            <a:avLst/>
          </a:prstGeom>
          <a:solidFill>
            <a:srgbClr val="E9A825"/>
          </a:solidFill>
          <a:ln w="12700">
            <a:solidFill>
              <a:srgbClr val="E9A825"/>
            </a:solidFill>
            <a:prstDash val="solid"/>
          </a:ln>
        </p:spPr>
      </p:sp>
      <p:sp>
        <p:nvSpPr>
          <p:cNvPr id="12" name="Text 10"/>
          <p:cNvSpPr/>
          <p:nvPr/>
        </p:nvSpPr>
        <p:spPr>
          <a:xfrm>
            <a:off x="4928616" y="1115568"/>
            <a:ext cx="4005072" cy="256032"/>
          </a:xfrm>
          <a:prstGeom prst="rect">
            <a:avLst/>
          </a:prstGeom>
          <a:noFill/>
          <a:ln/>
        </p:spPr>
        <p:txBody>
          <a:bodyPr wrap="square" lIns="0" tIns="0" rIns="0" bIns="0" rtlCol="0" anchor="ctr"/>
          <a:lstStyle/>
          <a:p>
            <a:pPr indent="0" marL="0">
              <a:buNone/>
            </a:pPr>
            <a:r>
              <a:rPr lang="en-US" sz="1100" b="1" dirty="0">
                <a:solidFill>
                  <a:srgbClr val="E9A825"/>
                </a:solidFill>
                <a:latin typeface="Calibri" pitchFamily="34" charset="0"/>
                <a:ea typeface="Calibri" pitchFamily="34" charset="-122"/>
                <a:cs typeface="Calibri" pitchFamily="34" charset="-120"/>
              </a:rPr>
              <a:t>Still Works When Failed</a:t>
            </a:r>
            <a:endParaRPr lang="en-US" sz="1100" dirty="0"/>
          </a:p>
        </p:txBody>
      </p:sp>
      <p:sp>
        <p:nvSpPr>
          <p:cNvPr id="13" name="Text 11"/>
          <p:cNvSpPr/>
          <p:nvPr/>
        </p:nvSpPr>
        <p:spPr>
          <a:xfrm>
            <a:off x="4928616" y="1408176"/>
            <a:ext cx="4005072" cy="1133856"/>
          </a:xfrm>
          <a:prstGeom prst="rect">
            <a:avLst/>
          </a:prstGeom>
          <a:noFill/>
          <a:ln/>
        </p:spPr>
        <p:txBody>
          <a:bodyPr wrap="square" lIns="0" tIns="0" rIns="0" bIns="0" rtlCol="0" anchor="t"/>
          <a:lstStyle/>
          <a:p>
            <a:pPr indent="0" marL="0">
              <a:buNone/>
            </a:pPr>
            <a:r>
              <a:rPr lang="en-US" sz="1000" dirty="0">
                <a:solidFill>
                  <a:srgbClr val="CCCCCC"/>
                </a:solidFill>
                <a:latin typeface="Calibri" pitchFamily="34" charset="0"/>
                <a:ea typeface="Calibri" pitchFamily="34" charset="-122"/>
                <a:cs typeface="Calibri" pitchFamily="34" charset="-120"/>
              </a:rPr>
              <a:t>If the booster fails completely, the brake hydraulic system remains functional. Pedal effort increases dramatically — vehicle can still stop.</a:t>
            </a:r>
            <a:endParaRPr lang="en-US" sz="1000" dirty="0"/>
          </a:p>
        </p:txBody>
      </p:sp>
      <p:sp>
        <p:nvSpPr>
          <p:cNvPr id="14" name="Shape 12"/>
          <p:cNvSpPr/>
          <p:nvPr/>
        </p:nvSpPr>
        <p:spPr>
          <a:xfrm>
            <a:off x="411480" y="2816352"/>
            <a:ext cx="4206240" cy="1627632"/>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15" name="Shape 13"/>
          <p:cNvSpPr/>
          <p:nvPr/>
        </p:nvSpPr>
        <p:spPr>
          <a:xfrm>
            <a:off x="411480" y="2816352"/>
            <a:ext cx="54864" cy="1627632"/>
          </a:xfrm>
          <a:prstGeom prst="rect">
            <a:avLst/>
          </a:prstGeom>
          <a:solidFill>
            <a:srgbClr val="2A9D8F"/>
          </a:solidFill>
          <a:ln w="12700">
            <a:solidFill>
              <a:srgbClr val="2A9D8F"/>
            </a:solidFill>
            <a:prstDash val="solid"/>
          </a:ln>
        </p:spPr>
      </p:sp>
      <p:sp>
        <p:nvSpPr>
          <p:cNvPr id="16" name="Text 14"/>
          <p:cNvSpPr/>
          <p:nvPr/>
        </p:nvSpPr>
        <p:spPr>
          <a:xfrm>
            <a:off x="539496" y="2907792"/>
            <a:ext cx="4005072" cy="256032"/>
          </a:xfrm>
          <a:prstGeom prst="rect">
            <a:avLst/>
          </a:prstGeom>
          <a:noFill/>
          <a:ln/>
        </p:spPr>
        <p:txBody>
          <a:bodyPr wrap="square" lIns="0" tIns="0" rIns="0" bIns="0" rtlCol="0" anchor="ctr"/>
          <a:lstStyle/>
          <a:p>
            <a:pPr indent="0" marL="0">
              <a:buNone/>
            </a:pPr>
            <a:r>
              <a:rPr lang="en-US" sz="1100" b="1" dirty="0">
                <a:solidFill>
                  <a:srgbClr val="2A9D8F"/>
                </a:solidFill>
                <a:latin typeface="Calibri" pitchFamily="34" charset="0"/>
                <a:ea typeface="Calibri" pitchFamily="34" charset="-122"/>
                <a:cs typeface="Calibri" pitchFamily="34" charset="-120"/>
              </a:rPr>
              <a:t>Vacuum Reserve</a:t>
            </a:r>
            <a:endParaRPr lang="en-US" sz="1100" dirty="0"/>
          </a:p>
        </p:txBody>
      </p:sp>
      <p:sp>
        <p:nvSpPr>
          <p:cNvPr id="17" name="Text 15"/>
          <p:cNvSpPr/>
          <p:nvPr/>
        </p:nvSpPr>
        <p:spPr>
          <a:xfrm>
            <a:off x="539496" y="3200400"/>
            <a:ext cx="4005072" cy="1133856"/>
          </a:xfrm>
          <a:prstGeom prst="rect">
            <a:avLst/>
          </a:prstGeom>
          <a:noFill/>
          <a:ln/>
        </p:spPr>
        <p:txBody>
          <a:bodyPr wrap="square" lIns="0" tIns="0" rIns="0" bIns="0" rtlCol="0" anchor="t"/>
          <a:lstStyle/>
          <a:p>
            <a:pPr indent="0" marL="0">
              <a:buNone/>
            </a:pPr>
            <a:r>
              <a:rPr lang="en-US" sz="1000" dirty="0">
                <a:solidFill>
                  <a:srgbClr val="CCCCCC"/>
                </a:solidFill>
                <a:latin typeface="Calibri" pitchFamily="34" charset="0"/>
                <a:ea typeface="Calibri" pitchFamily="34" charset="-122"/>
                <a:cs typeface="Calibri" pitchFamily="34" charset="-120"/>
              </a:rPr>
              <a:t>A healthy booster stores enough vacuum for at least 2–3 full power-assisted stops after the engine stops running.</a:t>
            </a:r>
            <a:endParaRPr lang="en-US" sz="1000" dirty="0"/>
          </a:p>
        </p:txBody>
      </p:sp>
      <p:sp>
        <p:nvSpPr>
          <p:cNvPr id="18" name="Shape 16"/>
          <p:cNvSpPr/>
          <p:nvPr/>
        </p:nvSpPr>
        <p:spPr>
          <a:xfrm>
            <a:off x="4800600" y="2816352"/>
            <a:ext cx="4206240" cy="1627632"/>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19" name="Shape 17"/>
          <p:cNvSpPr/>
          <p:nvPr/>
        </p:nvSpPr>
        <p:spPr>
          <a:xfrm>
            <a:off x="4800600" y="2816352"/>
            <a:ext cx="54864" cy="1627632"/>
          </a:xfrm>
          <a:prstGeom prst="rect">
            <a:avLst/>
          </a:prstGeom>
          <a:solidFill>
            <a:srgbClr val="E9A825"/>
          </a:solidFill>
          <a:ln w="12700">
            <a:solidFill>
              <a:srgbClr val="E9A825"/>
            </a:solidFill>
            <a:prstDash val="solid"/>
          </a:ln>
        </p:spPr>
      </p:sp>
      <p:sp>
        <p:nvSpPr>
          <p:cNvPr id="20" name="Text 18"/>
          <p:cNvSpPr/>
          <p:nvPr/>
        </p:nvSpPr>
        <p:spPr>
          <a:xfrm>
            <a:off x="4928616" y="2907792"/>
            <a:ext cx="4005072" cy="256032"/>
          </a:xfrm>
          <a:prstGeom prst="rect">
            <a:avLst/>
          </a:prstGeom>
          <a:noFill/>
          <a:ln/>
        </p:spPr>
        <p:txBody>
          <a:bodyPr wrap="square" lIns="0" tIns="0" rIns="0" bIns="0" rtlCol="0" anchor="ctr"/>
          <a:lstStyle/>
          <a:p>
            <a:pPr indent="0" marL="0">
              <a:buNone/>
            </a:pPr>
            <a:r>
              <a:rPr lang="en-US" sz="1100" b="1" dirty="0">
                <a:solidFill>
                  <a:srgbClr val="E9A825"/>
                </a:solidFill>
                <a:latin typeface="Calibri" pitchFamily="34" charset="0"/>
                <a:ea typeface="Calibri" pitchFamily="34" charset="-122"/>
                <a:cs typeface="Calibri" pitchFamily="34" charset="-120"/>
              </a:rPr>
              <a:t>Booster Size = More Force</a:t>
            </a:r>
            <a:endParaRPr lang="en-US" sz="1100" dirty="0"/>
          </a:p>
        </p:txBody>
      </p:sp>
      <p:sp>
        <p:nvSpPr>
          <p:cNvPr id="21" name="Text 19"/>
          <p:cNvSpPr/>
          <p:nvPr/>
        </p:nvSpPr>
        <p:spPr>
          <a:xfrm>
            <a:off x="4928616" y="3200400"/>
            <a:ext cx="4005072" cy="1133856"/>
          </a:xfrm>
          <a:prstGeom prst="rect">
            <a:avLst/>
          </a:prstGeom>
          <a:noFill/>
          <a:ln/>
        </p:spPr>
        <p:txBody>
          <a:bodyPr wrap="square" lIns="0" tIns="0" rIns="0" bIns="0" rtlCol="0" anchor="t"/>
          <a:lstStyle/>
          <a:p>
            <a:pPr indent="0" marL="0">
              <a:buNone/>
            </a:pPr>
            <a:r>
              <a:rPr lang="en-US" sz="1000" dirty="0">
                <a:solidFill>
                  <a:srgbClr val="CCCCCC"/>
                </a:solidFill>
                <a:latin typeface="Calibri" pitchFamily="34" charset="0"/>
                <a:ea typeface="Calibri" pitchFamily="34" charset="-122"/>
                <a:cs typeface="Calibri" pitchFamily="34" charset="-120"/>
              </a:rPr>
              <a:t>Larger diameter diaphragm = greater assist force. Tandem (dual) diaphragm boosters provide higher boost in a smaller physical package.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2A9D8F"/>
          </a:solidFill>
          <a:ln w="12700">
            <a:solidFill>
              <a:srgbClr val="2A9D8F"/>
            </a:solidFill>
            <a:prstDash val="solid"/>
          </a:ln>
        </p:spPr>
      </p:sp>
      <p:sp>
        <p:nvSpPr>
          <p:cNvPr id="3" name="Shape 1"/>
          <p:cNvSpPr/>
          <p:nvPr/>
        </p:nvSpPr>
        <p:spPr>
          <a:xfrm>
            <a:off x="0" y="5079492"/>
            <a:ext cx="9144000" cy="64008"/>
          </a:xfrm>
          <a:prstGeom prst="rect">
            <a:avLst/>
          </a:prstGeom>
          <a:solidFill>
            <a:srgbClr val="2A9D8F"/>
          </a:solidFill>
          <a:ln w="12700">
            <a:solidFill>
              <a:srgbClr val="2A9D8F"/>
            </a:solidFill>
            <a:prstDash val="solid"/>
          </a:ln>
        </p:spPr>
      </p:sp>
      <p:sp>
        <p:nvSpPr>
          <p:cNvPr id="4" name="Text 2"/>
          <p:cNvSpPr/>
          <p:nvPr/>
        </p:nvSpPr>
        <p:spPr>
          <a:xfrm>
            <a:off x="457200" y="118872"/>
            <a:ext cx="8229600" cy="201168"/>
          </a:xfrm>
          <a:prstGeom prst="rect">
            <a:avLst/>
          </a:prstGeom>
          <a:noFill/>
          <a:ln/>
        </p:spPr>
        <p:txBody>
          <a:bodyPr wrap="square" lIns="0" tIns="0" rIns="0" bIns="0" rtlCol="0" anchor="ctr"/>
          <a:lstStyle/>
          <a:p>
            <a:pPr indent="0" marL="0">
              <a:buNone/>
            </a:pPr>
            <a:r>
              <a:rPr lang="en-US" sz="800" b="1" spc="400" kern="0" dirty="0">
                <a:solidFill>
                  <a:srgbClr val="2A9D8F"/>
                </a:solidFill>
                <a:latin typeface="Calibri" pitchFamily="34" charset="0"/>
                <a:ea typeface="Calibri" pitchFamily="34" charset="-122"/>
                <a:cs typeface="Calibri" pitchFamily="34" charset="-120"/>
              </a:rPr>
              <a:t>HOW IT WORKS</a:t>
            </a:r>
            <a:endParaRPr lang="en-US" sz="800" dirty="0"/>
          </a:p>
        </p:txBody>
      </p:sp>
      <p:sp>
        <p:nvSpPr>
          <p:cNvPr id="5" name="Text 3"/>
          <p:cNvSpPr/>
          <p:nvPr/>
        </p:nvSpPr>
        <p:spPr>
          <a:xfrm>
            <a:off x="457200" y="384048"/>
            <a:ext cx="8229600" cy="530352"/>
          </a:xfrm>
          <a:prstGeom prst="rect">
            <a:avLst/>
          </a:prstGeom>
          <a:noFill/>
          <a:ln/>
        </p:spPr>
        <p:txBody>
          <a:bodyPr wrap="square" lIns="0" tIns="0" rIns="0" bIns="0" rtlCol="0" anchor="ctr"/>
          <a:lstStyle/>
          <a:p>
            <a:pPr indent="0" marL="0">
              <a:buNone/>
            </a:pPr>
            <a:r>
              <a:rPr lang="en-US" sz="2800" b="1" dirty="0">
                <a:solidFill>
                  <a:srgbClr val="2A9D8F"/>
                </a:solidFill>
                <a:latin typeface="Calibri" pitchFamily="34" charset="0"/>
                <a:ea typeface="Calibri" pitchFamily="34" charset="-122"/>
                <a:cs typeface="Calibri" pitchFamily="34" charset="-120"/>
              </a:rPr>
              <a:t>Understanding Vacuum</a:t>
            </a:r>
            <a:endParaRPr lang="en-US" sz="2800" dirty="0"/>
          </a:p>
        </p:txBody>
      </p:sp>
      <p:sp>
        <p:nvSpPr>
          <p:cNvPr id="6" name="Text 4"/>
          <p:cNvSpPr/>
          <p:nvPr/>
        </p:nvSpPr>
        <p:spPr>
          <a:xfrm>
            <a:off x="457200" y="1024128"/>
            <a:ext cx="4389120" cy="3200400"/>
          </a:xfrm>
          <a:prstGeom prst="rect">
            <a:avLst/>
          </a:prstGeom>
          <a:noFill/>
          <a:ln/>
        </p:spPr>
        <p:txBody>
          <a:bodyPr wrap="square" rtlCol="0" anchor="ctr"/>
          <a:lstStyle/>
          <a:p>
            <a:pPr marL="342900" indent="-342900">
              <a:spcAft>
                <a:spcPts val="500"/>
              </a:spcAft>
              <a:buSzPct val="100000"/>
              <a:buChar char="•"/>
            </a:pPr>
            <a:r>
              <a:rPr lang="en-US" sz="1100" dirty="0">
                <a:solidFill>
                  <a:srgbClr val="CCCCCC"/>
                </a:solidFill>
                <a:latin typeface="Calibri" pitchFamily="34" charset="0"/>
                <a:ea typeface="Calibri" pitchFamily="34" charset="-122"/>
                <a:cs typeface="Calibri" pitchFamily="34" charset="-120"/>
              </a:rPr>
              <a:t>Vacuum measured in inches of mercury (in. Hg). Perfect vacuum ≈ 30 in. Hg.</a:t>
            </a:r>
            <a:endParaRPr lang="en-US" sz="1100" dirty="0"/>
          </a:p>
          <a:p>
            <a:pPr marL="342900" indent="-342900">
              <a:spcAft>
                <a:spcPts val="500"/>
              </a:spcAft>
              <a:buSzPct val="100000"/>
              <a:buChar char="•"/>
            </a:pPr>
            <a:r>
              <a:rPr lang="en-US" sz="1100" dirty="0">
                <a:solidFill>
                  <a:srgbClr val="CCCCCC"/>
                </a:solidFill>
                <a:latin typeface="Calibri" pitchFamily="34" charset="0"/>
                <a:ea typeface="Calibri" pitchFamily="34" charset="-122"/>
                <a:cs typeface="Calibri" pitchFamily="34" charset="-120"/>
              </a:rPr>
              <a:t>Engine pistons moving down on the intake stroke create low pressure (vacuum).</a:t>
            </a:r>
            <a:endParaRPr lang="en-US" sz="1100" dirty="0"/>
          </a:p>
          <a:p>
            <a:pPr marL="342900" indent="-342900">
              <a:spcAft>
                <a:spcPts val="500"/>
              </a:spcAft>
              <a:buSzPct val="100000"/>
              <a:buChar char="•"/>
            </a:pPr>
            <a:r>
              <a:rPr lang="en-US" sz="1100" dirty="0">
                <a:solidFill>
                  <a:srgbClr val="CCCCCC"/>
                </a:solidFill>
                <a:latin typeface="Calibri" pitchFamily="34" charset="0"/>
                <a:ea typeface="Calibri" pitchFamily="34" charset="-122"/>
                <a:cs typeface="Calibri" pitchFamily="34" charset="-120"/>
              </a:rPr>
              <a:t>Idle intake manifold vacuum: typically 15–22 in. Hg.</a:t>
            </a:r>
            <a:endParaRPr lang="en-US" sz="1100" dirty="0"/>
          </a:p>
          <a:p>
            <a:pPr marL="342900" indent="-342900">
              <a:spcAft>
                <a:spcPts val="500"/>
              </a:spcAft>
              <a:buSzPct val="100000"/>
              <a:buChar char="•"/>
            </a:pPr>
            <a:r>
              <a:rPr lang="en-US" sz="1100" dirty="0">
                <a:solidFill>
                  <a:srgbClr val="CCCCCC"/>
                </a:solidFill>
                <a:latin typeface="Calibri" pitchFamily="34" charset="0"/>
                <a:ea typeface="Calibri" pitchFamily="34" charset="-122"/>
                <a:cs typeface="Calibri" pitchFamily="34" charset="-120"/>
              </a:rPr>
              <a:t>Vacuum is routed to the front chamber of the booster via a hose.</a:t>
            </a:r>
            <a:endParaRPr lang="en-US" sz="1100" dirty="0"/>
          </a:p>
          <a:p>
            <a:pPr marL="342900" indent="-342900">
              <a:spcAft>
                <a:spcPts val="500"/>
              </a:spcAft>
              <a:buSzPct val="100000"/>
              <a:buChar char="•"/>
            </a:pPr>
            <a:r>
              <a:rPr lang="en-US" sz="1100" dirty="0">
                <a:solidFill>
                  <a:srgbClr val="CCCCCC"/>
                </a:solidFill>
                <a:latin typeface="Calibri" pitchFamily="34" charset="0"/>
                <a:ea typeface="Calibri" pitchFamily="34" charset="-122"/>
                <a:cs typeface="Calibri" pitchFamily="34" charset="-120"/>
              </a:rPr>
              <a:t>When pedal pressed, atmospheric air (14.7 PSI) enters the rear chamber.</a:t>
            </a:r>
            <a:endParaRPr lang="en-US" sz="1100" dirty="0"/>
          </a:p>
          <a:p>
            <a:pPr marL="342900" indent="-342900">
              <a:spcAft>
                <a:spcPts val="500"/>
              </a:spcAft>
              <a:buSzPct val="100000"/>
              <a:buChar char="•"/>
            </a:pPr>
            <a:r>
              <a:rPr lang="en-US" sz="1100" dirty="0">
                <a:solidFill>
                  <a:srgbClr val="CCCCCC"/>
                </a:solidFill>
                <a:latin typeface="Calibri" pitchFamily="34" charset="0"/>
                <a:ea typeface="Calibri" pitchFamily="34" charset="-122"/>
                <a:cs typeface="Calibri" pitchFamily="34" charset="-120"/>
              </a:rPr>
              <a:t>Pressure difference deflects the diaphragm — creating the assist force.</a:t>
            </a:r>
            <a:endParaRPr lang="en-US" sz="1100" dirty="0"/>
          </a:p>
        </p:txBody>
      </p:sp>
      <p:pic>
        <p:nvPicPr>
          <p:cNvPr id="7" name="Image 0" descr="Pressure differential cross-section diagram">    </p:cNvPr>
          <p:cNvPicPr>
            <a:picLocks noChangeAspect="1"/>
          </p:cNvPicPr>
          <p:nvPr/>
        </p:nvPicPr>
        <p:blipFill>
          <a:blip r:embed="rId1"/>
          <a:stretch>
            <a:fillRect/>
          </a:stretch>
        </p:blipFill>
        <p:spPr>
          <a:xfrm>
            <a:off x="5029200" y="777240"/>
            <a:ext cx="3840480" cy="2743200"/>
          </a:xfrm>
          <a:prstGeom prst="rect">
            <a:avLst/>
          </a:prstGeom>
        </p:spPr>
      </p:pic>
      <p:sp>
        <p:nvSpPr>
          <p:cNvPr id="8" name="Shape 5"/>
          <p:cNvSpPr/>
          <p:nvPr/>
        </p:nvSpPr>
        <p:spPr>
          <a:xfrm>
            <a:off x="457200" y="4224528"/>
            <a:ext cx="4389120" cy="658368"/>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9" name="Shape 6"/>
          <p:cNvSpPr/>
          <p:nvPr/>
        </p:nvSpPr>
        <p:spPr>
          <a:xfrm>
            <a:off x="457200" y="4224528"/>
            <a:ext cx="54864" cy="658368"/>
          </a:xfrm>
          <a:prstGeom prst="rect">
            <a:avLst/>
          </a:prstGeom>
          <a:solidFill>
            <a:srgbClr val="E9A825"/>
          </a:solidFill>
          <a:ln w="12700">
            <a:solidFill>
              <a:srgbClr val="E9A825"/>
            </a:solidFill>
            <a:prstDash val="solid"/>
          </a:ln>
        </p:spPr>
      </p:sp>
      <p:sp>
        <p:nvSpPr>
          <p:cNvPr id="10" name="Text 7"/>
          <p:cNvSpPr/>
          <p:nvPr/>
        </p:nvSpPr>
        <p:spPr>
          <a:xfrm>
            <a:off x="585216" y="4315968"/>
            <a:ext cx="4187952" cy="256032"/>
          </a:xfrm>
          <a:prstGeom prst="rect">
            <a:avLst/>
          </a:prstGeom>
          <a:noFill/>
          <a:ln/>
        </p:spPr>
        <p:txBody>
          <a:bodyPr wrap="square" lIns="0" tIns="0" rIns="0" bIns="0" rtlCol="0" anchor="ctr"/>
          <a:lstStyle/>
          <a:p>
            <a:pPr indent="0" marL="0">
              <a:buNone/>
            </a:pPr>
            <a:r>
              <a:rPr lang="en-US" sz="1100" b="1" dirty="0">
                <a:solidFill>
                  <a:srgbClr val="E9A825"/>
                </a:solidFill>
                <a:latin typeface="Calibri" pitchFamily="34" charset="0"/>
                <a:ea typeface="Calibri" pitchFamily="34" charset="-122"/>
                <a:cs typeface="Calibri" pitchFamily="34" charset="-120"/>
              </a:rPr>
              <a:t>Minimum Required</a:t>
            </a:r>
            <a:endParaRPr lang="en-US" sz="1100" dirty="0"/>
          </a:p>
        </p:txBody>
      </p:sp>
      <p:sp>
        <p:nvSpPr>
          <p:cNvPr id="11" name="Text 8"/>
          <p:cNvSpPr/>
          <p:nvPr/>
        </p:nvSpPr>
        <p:spPr>
          <a:xfrm>
            <a:off x="585216" y="4608576"/>
            <a:ext cx="4187952" cy="164592"/>
          </a:xfrm>
          <a:prstGeom prst="rect">
            <a:avLst/>
          </a:prstGeom>
          <a:noFill/>
          <a:ln/>
        </p:spPr>
        <p:txBody>
          <a:bodyPr wrap="square" lIns="0" tIns="0" rIns="0" bIns="0" rtlCol="0" anchor="t"/>
          <a:lstStyle/>
          <a:p>
            <a:pPr indent="0" marL="0">
              <a:buNone/>
            </a:pPr>
            <a:r>
              <a:rPr lang="en-US" sz="1000" dirty="0">
                <a:solidFill>
                  <a:srgbClr val="CCCCCC"/>
                </a:solidFill>
                <a:latin typeface="Calibri" pitchFamily="34" charset="0"/>
                <a:ea typeface="Calibri" pitchFamily="34" charset="-122"/>
                <a:cs typeface="Calibri" pitchFamily="34" charset="-120"/>
              </a:rPr>
              <a:t>15 in. Hg minimum. Healthy: 18–22 in. Hg at idle.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2A9D8F"/>
          </a:solidFill>
          <a:ln w="12700">
            <a:solidFill>
              <a:srgbClr val="2A9D8F"/>
            </a:solidFill>
            <a:prstDash val="solid"/>
          </a:ln>
        </p:spPr>
      </p:sp>
      <p:sp>
        <p:nvSpPr>
          <p:cNvPr id="3" name="Shape 1"/>
          <p:cNvSpPr/>
          <p:nvPr/>
        </p:nvSpPr>
        <p:spPr>
          <a:xfrm>
            <a:off x="0" y="5079492"/>
            <a:ext cx="9144000" cy="64008"/>
          </a:xfrm>
          <a:prstGeom prst="rect">
            <a:avLst/>
          </a:prstGeom>
          <a:solidFill>
            <a:srgbClr val="2A9D8F"/>
          </a:solidFill>
          <a:ln w="12700">
            <a:solidFill>
              <a:srgbClr val="2A9D8F"/>
            </a:solidFill>
            <a:prstDash val="solid"/>
          </a:ln>
        </p:spPr>
      </p:sp>
      <p:sp>
        <p:nvSpPr>
          <p:cNvPr id="4" name="Text 2"/>
          <p:cNvSpPr/>
          <p:nvPr/>
        </p:nvSpPr>
        <p:spPr>
          <a:xfrm>
            <a:off x="457200" y="118872"/>
            <a:ext cx="8229600" cy="201168"/>
          </a:xfrm>
          <a:prstGeom prst="rect">
            <a:avLst/>
          </a:prstGeom>
          <a:noFill/>
          <a:ln/>
        </p:spPr>
        <p:txBody>
          <a:bodyPr wrap="square" lIns="0" tIns="0" rIns="0" bIns="0" rtlCol="0" anchor="ctr"/>
          <a:lstStyle/>
          <a:p>
            <a:pPr indent="0" marL="0">
              <a:buNone/>
            </a:pPr>
            <a:r>
              <a:rPr lang="en-US" sz="800" b="1" spc="400" kern="0" dirty="0">
                <a:solidFill>
                  <a:srgbClr val="2A9D8F"/>
                </a:solidFill>
                <a:latin typeface="Calibri" pitchFamily="34" charset="0"/>
                <a:ea typeface="Calibri" pitchFamily="34" charset="-122"/>
                <a:cs typeface="Calibri" pitchFamily="34" charset="-120"/>
              </a:rPr>
              <a:t>HOW IT WORKS</a:t>
            </a:r>
            <a:endParaRPr lang="en-US" sz="800" dirty="0"/>
          </a:p>
        </p:txBody>
      </p:sp>
      <p:sp>
        <p:nvSpPr>
          <p:cNvPr id="5" name="Text 3"/>
          <p:cNvSpPr/>
          <p:nvPr/>
        </p:nvSpPr>
        <p:spPr>
          <a:xfrm>
            <a:off x="457200" y="384048"/>
            <a:ext cx="8229600" cy="530352"/>
          </a:xfrm>
          <a:prstGeom prst="rect">
            <a:avLst/>
          </a:prstGeom>
          <a:noFill/>
          <a:ln/>
        </p:spPr>
        <p:txBody>
          <a:bodyPr wrap="square" lIns="0" tIns="0" rIns="0" bIns="0" rtlCol="0" anchor="ctr"/>
          <a:lstStyle/>
          <a:p>
            <a:pPr indent="0" marL="0">
              <a:buNone/>
            </a:pPr>
            <a:r>
              <a:rPr lang="en-US" sz="2800" b="1" dirty="0">
                <a:solidFill>
                  <a:srgbClr val="2A9D8F"/>
                </a:solidFill>
                <a:latin typeface="Calibri" pitchFamily="34" charset="0"/>
                <a:ea typeface="Calibri" pitchFamily="34" charset="-122"/>
                <a:cs typeface="Calibri" pitchFamily="34" charset="-120"/>
              </a:rPr>
              <a:t>Where Does the Vacuum Come From?</a:t>
            </a:r>
            <a:endParaRPr lang="en-US" sz="2800" dirty="0"/>
          </a:p>
        </p:txBody>
      </p:sp>
      <p:sp>
        <p:nvSpPr>
          <p:cNvPr id="6" name="Shape 4"/>
          <p:cNvSpPr/>
          <p:nvPr/>
        </p:nvSpPr>
        <p:spPr>
          <a:xfrm>
            <a:off x="411480" y="1024128"/>
            <a:ext cx="4206240" cy="1664208"/>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7" name="Shape 5"/>
          <p:cNvSpPr/>
          <p:nvPr/>
        </p:nvSpPr>
        <p:spPr>
          <a:xfrm>
            <a:off x="411480" y="1024128"/>
            <a:ext cx="54864" cy="1664208"/>
          </a:xfrm>
          <a:prstGeom prst="rect">
            <a:avLst/>
          </a:prstGeom>
          <a:solidFill>
            <a:srgbClr val="2A9D8F"/>
          </a:solidFill>
          <a:ln w="12700">
            <a:solidFill>
              <a:srgbClr val="2A9D8F"/>
            </a:solidFill>
            <a:prstDash val="solid"/>
          </a:ln>
        </p:spPr>
      </p:sp>
      <p:sp>
        <p:nvSpPr>
          <p:cNvPr id="8" name="Text 6"/>
          <p:cNvSpPr/>
          <p:nvPr/>
        </p:nvSpPr>
        <p:spPr>
          <a:xfrm>
            <a:off x="539496" y="1115568"/>
            <a:ext cx="4005072" cy="256032"/>
          </a:xfrm>
          <a:prstGeom prst="rect">
            <a:avLst/>
          </a:prstGeom>
          <a:noFill/>
          <a:ln/>
        </p:spPr>
        <p:txBody>
          <a:bodyPr wrap="square" lIns="0" tIns="0" rIns="0" bIns="0" rtlCol="0" anchor="ctr"/>
          <a:lstStyle/>
          <a:p>
            <a:pPr indent="0" marL="0">
              <a:buNone/>
            </a:pPr>
            <a:r>
              <a:rPr lang="en-US" sz="1100" b="1" dirty="0">
                <a:solidFill>
                  <a:srgbClr val="2A9D8F"/>
                </a:solidFill>
                <a:latin typeface="Calibri" pitchFamily="34" charset="0"/>
                <a:ea typeface="Calibri" pitchFamily="34" charset="-122"/>
                <a:cs typeface="Calibri" pitchFamily="34" charset="-120"/>
              </a:rPr>
              <a:t>Gasoline Engine</a:t>
            </a:r>
            <a:endParaRPr lang="en-US" sz="1100" dirty="0"/>
          </a:p>
        </p:txBody>
      </p:sp>
      <p:sp>
        <p:nvSpPr>
          <p:cNvPr id="9" name="Text 7"/>
          <p:cNvSpPr/>
          <p:nvPr/>
        </p:nvSpPr>
        <p:spPr>
          <a:xfrm>
            <a:off x="539496" y="1408176"/>
            <a:ext cx="4005072" cy="1170432"/>
          </a:xfrm>
          <a:prstGeom prst="rect">
            <a:avLst/>
          </a:prstGeom>
          <a:noFill/>
          <a:ln/>
        </p:spPr>
        <p:txBody>
          <a:bodyPr wrap="square" lIns="0" tIns="0" rIns="0" bIns="0" rtlCol="0" anchor="t"/>
          <a:lstStyle/>
          <a:p>
            <a:pPr indent="0" marL="0">
              <a:buNone/>
            </a:pPr>
            <a:r>
              <a:rPr lang="en-US" sz="1000" dirty="0">
                <a:solidFill>
                  <a:srgbClr val="CCCCCC"/>
                </a:solidFill>
                <a:latin typeface="Calibri" pitchFamily="34" charset="0"/>
                <a:ea typeface="Calibri" pitchFamily="34" charset="-122"/>
                <a:cs typeface="Calibri" pitchFamily="34" charset="-120"/>
              </a:rPr>
              <a:t>Vacuum pulled from intake manifold. A hose routes to the booster check valve. Requires engine running for fresh vacuum.</a:t>
            </a:r>
            <a:endParaRPr lang="en-US" sz="1000" dirty="0"/>
          </a:p>
        </p:txBody>
      </p:sp>
      <p:sp>
        <p:nvSpPr>
          <p:cNvPr id="10" name="Shape 8"/>
          <p:cNvSpPr/>
          <p:nvPr/>
        </p:nvSpPr>
        <p:spPr>
          <a:xfrm>
            <a:off x="4800600" y="1024128"/>
            <a:ext cx="4206240" cy="1664208"/>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11" name="Shape 9"/>
          <p:cNvSpPr/>
          <p:nvPr/>
        </p:nvSpPr>
        <p:spPr>
          <a:xfrm>
            <a:off x="4800600" y="1024128"/>
            <a:ext cx="54864" cy="1664208"/>
          </a:xfrm>
          <a:prstGeom prst="rect">
            <a:avLst/>
          </a:prstGeom>
          <a:solidFill>
            <a:srgbClr val="E9A825"/>
          </a:solidFill>
          <a:ln w="12700">
            <a:solidFill>
              <a:srgbClr val="E9A825"/>
            </a:solidFill>
            <a:prstDash val="solid"/>
          </a:ln>
        </p:spPr>
      </p:sp>
      <p:sp>
        <p:nvSpPr>
          <p:cNvPr id="12" name="Text 10"/>
          <p:cNvSpPr/>
          <p:nvPr/>
        </p:nvSpPr>
        <p:spPr>
          <a:xfrm>
            <a:off x="4928616" y="1115568"/>
            <a:ext cx="4005072" cy="256032"/>
          </a:xfrm>
          <a:prstGeom prst="rect">
            <a:avLst/>
          </a:prstGeom>
          <a:noFill/>
          <a:ln/>
        </p:spPr>
        <p:txBody>
          <a:bodyPr wrap="square" lIns="0" tIns="0" rIns="0" bIns="0" rtlCol="0" anchor="ctr"/>
          <a:lstStyle/>
          <a:p>
            <a:pPr indent="0" marL="0">
              <a:buNone/>
            </a:pPr>
            <a:r>
              <a:rPr lang="en-US" sz="1100" b="1" dirty="0">
                <a:solidFill>
                  <a:srgbClr val="E9A825"/>
                </a:solidFill>
                <a:latin typeface="Calibri" pitchFamily="34" charset="0"/>
                <a:ea typeface="Calibri" pitchFamily="34" charset="-122"/>
                <a:cs typeface="Calibri" pitchFamily="34" charset="-120"/>
              </a:rPr>
              <a:t>Diesel Engine</a:t>
            </a:r>
            <a:endParaRPr lang="en-US" sz="1100" dirty="0"/>
          </a:p>
        </p:txBody>
      </p:sp>
      <p:sp>
        <p:nvSpPr>
          <p:cNvPr id="13" name="Text 11"/>
          <p:cNvSpPr/>
          <p:nvPr/>
        </p:nvSpPr>
        <p:spPr>
          <a:xfrm>
            <a:off x="4928616" y="1408176"/>
            <a:ext cx="4005072" cy="1170432"/>
          </a:xfrm>
          <a:prstGeom prst="rect">
            <a:avLst/>
          </a:prstGeom>
          <a:noFill/>
          <a:ln/>
        </p:spPr>
        <p:txBody>
          <a:bodyPr wrap="square" lIns="0" tIns="0" rIns="0" bIns="0" rtlCol="0" anchor="t"/>
          <a:lstStyle/>
          <a:p>
            <a:pPr indent="0" marL="0">
              <a:buNone/>
            </a:pPr>
            <a:r>
              <a:rPr lang="en-US" sz="1000" dirty="0">
                <a:solidFill>
                  <a:srgbClr val="CCCCCC"/>
                </a:solidFill>
                <a:latin typeface="Calibri" pitchFamily="34" charset="0"/>
                <a:ea typeface="Calibri" pitchFamily="34" charset="-122"/>
                <a:cs typeface="Calibri" pitchFamily="34" charset="-120"/>
              </a:rPr>
              <a:t>Minimal intake vacuum — uses compression ignition. Requires a dedicated belt-driven or electric vacuum pump to supply the booster.</a:t>
            </a:r>
            <a:endParaRPr lang="en-US" sz="1000" dirty="0"/>
          </a:p>
        </p:txBody>
      </p:sp>
      <p:sp>
        <p:nvSpPr>
          <p:cNvPr id="14" name="Shape 12"/>
          <p:cNvSpPr/>
          <p:nvPr/>
        </p:nvSpPr>
        <p:spPr>
          <a:xfrm>
            <a:off x="411480" y="2834640"/>
            <a:ext cx="4206240" cy="1664208"/>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15" name="Shape 13"/>
          <p:cNvSpPr/>
          <p:nvPr/>
        </p:nvSpPr>
        <p:spPr>
          <a:xfrm>
            <a:off x="411480" y="2834640"/>
            <a:ext cx="54864" cy="1664208"/>
          </a:xfrm>
          <a:prstGeom prst="rect">
            <a:avLst/>
          </a:prstGeom>
          <a:solidFill>
            <a:srgbClr val="2A9D8F"/>
          </a:solidFill>
          <a:ln w="12700">
            <a:solidFill>
              <a:srgbClr val="2A9D8F"/>
            </a:solidFill>
            <a:prstDash val="solid"/>
          </a:ln>
        </p:spPr>
      </p:sp>
      <p:sp>
        <p:nvSpPr>
          <p:cNvPr id="16" name="Text 14"/>
          <p:cNvSpPr/>
          <p:nvPr/>
        </p:nvSpPr>
        <p:spPr>
          <a:xfrm>
            <a:off x="539496" y="2926080"/>
            <a:ext cx="4005072" cy="256032"/>
          </a:xfrm>
          <a:prstGeom prst="rect">
            <a:avLst/>
          </a:prstGeom>
          <a:noFill/>
          <a:ln/>
        </p:spPr>
        <p:txBody>
          <a:bodyPr wrap="square" lIns="0" tIns="0" rIns="0" bIns="0" rtlCol="0" anchor="ctr"/>
          <a:lstStyle/>
          <a:p>
            <a:pPr indent="0" marL="0">
              <a:buNone/>
            </a:pPr>
            <a:r>
              <a:rPr lang="en-US" sz="1100" b="1" dirty="0">
                <a:solidFill>
                  <a:srgbClr val="2A9D8F"/>
                </a:solidFill>
                <a:latin typeface="Calibri" pitchFamily="34" charset="0"/>
                <a:ea typeface="Calibri" pitchFamily="34" charset="-122"/>
                <a:cs typeface="Calibri" pitchFamily="34" charset="-120"/>
              </a:rPr>
              <a:t>Turbocharged Engine</a:t>
            </a:r>
            <a:endParaRPr lang="en-US" sz="1100" dirty="0"/>
          </a:p>
        </p:txBody>
      </p:sp>
      <p:sp>
        <p:nvSpPr>
          <p:cNvPr id="17" name="Text 15"/>
          <p:cNvSpPr/>
          <p:nvPr/>
        </p:nvSpPr>
        <p:spPr>
          <a:xfrm>
            <a:off x="539496" y="3218688"/>
            <a:ext cx="4005072" cy="1170432"/>
          </a:xfrm>
          <a:prstGeom prst="rect">
            <a:avLst/>
          </a:prstGeom>
          <a:noFill/>
          <a:ln/>
        </p:spPr>
        <p:txBody>
          <a:bodyPr wrap="square" lIns="0" tIns="0" rIns="0" bIns="0" rtlCol="0" anchor="t"/>
          <a:lstStyle/>
          <a:p>
            <a:pPr indent="0" marL="0">
              <a:buNone/>
            </a:pPr>
            <a:r>
              <a:rPr lang="en-US" sz="1000" dirty="0">
                <a:solidFill>
                  <a:srgbClr val="CCCCCC"/>
                </a:solidFill>
                <a:latin typeface="Calibri" pitchFamily="34" charset="0"/>
                <a:ea typeface="Calibri" pitchFamily="34" charset="-122"/>
                <a:cs typeface="Calibri" pitchFamily="34" charset="-120"/>
              </a:rPr>
              <a:t>Turbo pressurizes the intake manifold — positive pressure, not vacuum. Requires a separate electric vacuum pump.</a:t>
            </a:r>
            <a:endParaRPr lang="en-US" sz="1000" dirty="0"/>
          </a:p>
        </p:txBody>
      </p:sp>
      <p:sp>
        <p:nvSpPr>
          <p:cNvPr id="18" name="Shape 16"/>
          <p:cNvSpPr/>
          <p:nvPr/>
        </p:nvSpPr>
        <p:spPr>
          <a:xfrm>
            <a:off x="4800600" y="2834640"/>
            <a:ext cx="4206240" cy="1664208"/>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19" name="Shape 17"/>
          <p:cNvSpPr/>
          <p:nvPr/>
        </p:nvSpPr>
        <p:spPr>
          <a:xfrm>
            <a:off x="4800600" y="2834640"/>
            <a:ext cx="54864" cy="1664208"/>
          </a:xfrm>
          <a:prstGeom prst="rect">
            <a:avLst/>
          </a:prstGeom>
          <a:solidFill>
            <a:srgbClr val="E9A825"/>
          </a:solidFill>
          <a:ln w="12700">
            <a:solidFill>
              <a:srgbClr val="E9A825"/>
            </a:solidFill>
            <a:prstDash val="solid"/>
          </a:ln>
        </p:spPr>
      </p:sp>
      <p:sp>
        <p:nvSpPr>
          <p:cNvPr id="20" name="Text 18"/>
          <p:cNvSpPr/>
          <p:nvPr/>
        </p:nvSpPr>
        <p:spPr>
          <a:xfrm>
            <a:off x="4928616" y="2926080"/>
            <a:ext cx="4005072" cy="256032"/>
          </a:xfrm>
          <a:prstGeom prst="rect">
            <a:avLst/>
          </a:prstGeom>
          <a:noFill/>
          <a:ln/>
        </p:spPr>
        <p:txBody>
          <a:bodyPr wrap="square" lIns="0" tIns="0" rIns="0" bIns="0" rtlCol="0" anchor="ctr"/>
          <a:lstStyle/>
          <a:p>
            <a:pPr indent="0" marL="0">
              <a:buNone/>
            </a:pPr>
            <a:r>
              <a:rPr lang="en-US" sz="1100" b="1" dirty="0">
                <a:solidFill>
                  <a:srgbClr val="E9A825"/>
                </a:solidFill>
                <a:latin typeface="Calibri" pitchFamily="34" charset="0"/>
                <a:ea typeface="Calibri" pitchFamily="34" charset="-122"/>
                <a:cs typeface="Calibri" pitchFamily="34" charset="-120"/>
              </a:rPr>
              <a:t>Electric / Hybrid</a:t>
            </a:r>
            <a:endParaRPr lang="en-US" sz="1100" dirty="0"/>
          </a:p>
        </p:txBody>
      </p:sp>
      <p:sp>
        <p:nvSpPr>
          <p:cNvPr id="21" name="Text 19"/>
          <p:cNvSpPr/>
          <p:nvPr/>
        </p:nvSpPr>
        <p:spPr>
          <a:xfrm>
            <a:off x="4928616" y="3218688"/>
            <a:ext cx="4005072" cy="1170432"/>
          </a:xfrm>
          <a:prstGeom prst="rect">
            <a:avLst/>
          </a:prstGeom>
          <a:noFill/>
          <a:ln/>
        </p:spPr>
        <p:txBody>
          <a:bodyPr wrap="square" lIns="0" tIns="0" rIns="0" bIns="0" rtlCol="0" anchor="t"/>
          <a:lstStyle/>
          <a:p>
            <a:pPr indent="0" marL="0">
              <a:buNone/>
            </a:pPr>
            <a:r>
              <a:rPr lang="en-US" sz="1000" dirty="0">
                <a:solidFill>
                  <a:srgbClr val="CCCCCC"/>
                </a:solidFill>
                <a:latin typeface="Calibri" pitchFamily="34" charset="0"/>
                <a:ea typeface="Calibri" pitchFamily="34" charset="-122"/>
                <a:cs typeface="Calibri" pitchFamily="34" charset="-120"/>
              </a:rPr>
              <a:t>No combustion engine running = no vacuum. Uses electric vacuum pump or fully electronic booster. Covered in Section 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2A9D8F"/>
          </a:solidFill>
          <a:ln w="12700">
            <a:solidFill>
              <a:srgbClr val="2A9D8F"/>
            </a:solidFill>
            <a:prstDash val="solid"/>
          </a:ln>
        </p:spPr>
      </p:sp>
      <p:sp>
        <p:nvSpPr>
          <p:cNvPr id="3" name="Shape 1"/>
          <p:cNvSpPr/>
          <p:nvPr/>
        </p:nvSpPr>
        <p:spPr>
          <a:xfrm>
            <a:off x="0" y="5079492"/>
            <a:ext cx="9144000" cy="64008"/>
          </a:xfrm>
          <a:prstGeom prst="rect">
            <a:avLst/>
          </a:prstGeom>
          <a:solidFill>
            <a:srgbClr val="2A9D8F"/>
          </a:solidFill>
          <a:ln w="12700">
            <a:solidFill>
              <a:srgbClr val="2A9D8F"/>
            </a:solidFill>
            <a:prstDash val="solid"/>
          </a:ln>
        </p:spPr>
      </p:sp>
      <p:sp>
        <p:nvSpPr>
          <p:cNvPr id="4" name="Text 2"/>
          <p:cNvSpPr/>
          <p:nvPr/>
        </p:nvSpPr>
        <p:spPr>
          <a:xfrm>
            <a:off x="457200" y="118872"/>
            <a:ext cx="8229600" cy="201168"/>
          </a:xfrm>
          <a:prstGeom prst="rect">
            <a:avLst/>
          </a:prstGeom>
          <a:noFill/>
          <a:ln/>
        </p:spPr>
        <p:txBody>
          <a:bodyPr wrap="square" lIns="0" tIns="0" rIns="0" bIns="0" rtlCol="0" anchor="ctr"/>
          <a:lstStyle/>
          <a:p>
            <a:pPr indent="0" marL="0">
              <a:buNone/>
            </a:pPr>
            <a:r>
              <a:rPr lang="en-US" sz="800" b="1" spc="400" kern="0" dirty="0">
                <a:solidFill>
                  <a:srgbClr val="2A9D8F"/>
                </a:solidFill>
                <a:latin typeface="Calibri" pitchFamily="34" charset="0"/>
                <a:ea typeface="Calibri" pitchFamily="34" charset="-122"/>
                <a:cs typeface="Calibri" pitchFamily="34" charset="-120"/>
              </a:rPr>
              <a:t>COMPONENTS</a:t>
            </a:r>
            <a:endParaRPr lang="en-US" sz="800" dirty="0"/>
          </a:p>
        </p:txBody>
      </p:sp>
      <p:sp>
        <p:nvSpPr>
          <p:cNvPr id="5" name="Text 3"/>
          <p:cNvSpPr/>
          <p:nvPr/>
        </p:nvSpPr>
        <p:spPr>
          <a:xfrm>
            <a:off x="457200" y="384048"/>
            <a:ext cx="8229600" cy="530352"/>
          </a:xfrm>
          <a:prstGeom prst="rect">
            <a:avLst/>
          </a:prstGeom>
          <a:noFill/>
          <a:ln/>
        </p:spPr>
        <p:txBody>
          <a:bodyPr wrap="square" lIns="0" tIns="0" rIns="0" bIns="0" rtlCol="0" anchor="ctr"/>
          <a:lstStyle/>
          <a:p>
            <a:pPr indent="0" marL="0">
              <a:buNone/>
            </a:pPr>
            <a:r>
              <a:rPr lang="en-US" sz="2800" b="1" dirty="0">
                <a:solidFill>
                  <a:srgbClr val="2A9D8F"/>
                </a:solidFill>
                <a:latin typeface="Calibri" pitchFamily="34" charset="0"/>
                <a:ea typeface="Calibri" pitchFamily="34" charset="-122"/>
                <a:cs typeface="Calibri" pitchFamily="34" charset="-120"/>
              </a:rPr>
              <a:t>Booster Air Filter (Charcoal Filter)</a:t>
            </a:r>
            <a:endParaRPr lang="en-US" sz="2800" dirty="0"/>
          </a:p>
        </p:txBody>
      </p:sp>
      <p:pic>
        <p:nvPicPr>
          <p:cNvPr id="6" name="Image 0" descr="Charcoal filter on vacuum hose photo">    </p:cNvPr>
          <p:cNvPicPr>
            <a:picLocks noChangeAspect="1"/>
          </p:cNvPicPr>
          <p:nvPr/>
        </p:nvPicPr>
        <p:blipFill>
          <a:blip r:embed="rId1"/>
          <a:stretch>
            <a:fillRect/>
          </a:stretch>
        </p:blipFill>
        <p:spPr>
          <a:xfrm>
            <a:off x="457200" y="987552"/>
            <a:ext cx="4937760" cy="3474720"/>
          </a:xfrm>
          <a:prstGeom prst="rect">
            <a:avLst/>
          </a:prstGeom>
        </p:spPr>
      </p:pic>
      <p:sp>
        <p:nvSpPr>
          <p:cNvPr id="7" name="Shape 4"/>
          <p:cNvSpPr/>
          <p:nvPr/>
        </p:nvSpPr>
        <p:spPr>
          <a:xfrm>
            <a:off x="5577840" y="987552"/>
            <a:ext cx="3337560" cy="1298448"/>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8" name="Shape 5"/>
          <p:cNvSpPr/>
          <p:nvPr/>
        </p:nvSpPr>
        <p:spPr>
          <a:xfrm>
            <a:off x="5577840" y="987552"/>
            <a:ext cx="54864" cy="1298448"/>
          </a:xfrm>
          <a:prstGeom prst="rect">
            <a:avLst/>
          </a:prstGeom>
          <a:solidFill>
            <a:srgbClr val="2A9D8F"/>
          </a:solidFill>
          <a:ln w="12700">
            <a:solidFill>
              <a:srgbClr val="2A9D8F"/>
            </a:solidFill>
            <a:prstDash val="solid"/>
          </a:ln>
        </p:spPr>
      </p:sp>
      <p:sp>
        <p:nvSpPr>
          <p:cNvPr id="9" name="Text 6"/>
          <p:cNvSpPr/>
          <p:nvPr/>
        </p:nvSpPr>
        <p:spPr>
          <a:xfrm>
            <a:off x="5705856" y="1078992"/>
            <a:ext cx="3136392" cy="256032"/>
          </a:xfrm>
          <a:prstGeom prst="rect">
            <a:avLst/>
          </a:prstGeom>
          <a:noFill/>
          <a:ln/>
        </p:spPr>
        <p:txBody>
          <a:bodyPr wrap="square" lIns="0" tIns="0" rIns="0" bIns="0" rtlCol="0" anchor="ctr"/>
          <a:lstStyle/>
          <a:p>
            <a:pPr indent="0" marL="0">
              <a:buNone/>
            </a:pPr>
            <a:r>
              <a:rPr lang="en-US" sz="1100" b="1" dirty="0">
                <a:solidFill>
                  <a:srgbClr val="2A9D8F"/>
                </a:solidFill>
                <a:latin typeface="Calibri" pitchFamily="34" charset="0"/>
                <a:ea typeface="Calibri" pitchFamily="34" charset="-122"/>
                <a:cs typeface="Calibri" pitchFamily="34" charset="-120"/>
              </a:rPr>
              <a:t>Purpose</a:t>
            </a:r>
            <a:endParaRPr lang="en-US" sz="1100" dirty="0"/>
          </a:p>
        </p:txBody>
      </p:sp>
      <p:sp>
        <p:nvSpPr>
          <p:cNvPr id="10" name="Text 7"/>
          <p:cNvSpPr/>
          <p:nvPr/>
        </p:nvSpPr>
        <p:spPr>
          <a:xfrm>
            <a:off x="5705856" y="1371600"/>
            <a:ext cx="3136392" cy="804672"/>
          </a:xfrm>
          <a:prstGeom prst="rect">
            <a:avLst/>
          </a:prstGeom>
          <a:noFill/>
          <a:ln/>
        </p:spPr>
        <p:txBody>
          <a:bodyPr wrap="square" lIns="0" tIns="0" rIns="0" bIns="0" rtlCol="0" anchor="t"/>
          <a:lstStyle/>
          <a:p>
            <a:pPr indent="0" marL="0">
              <a:buNone/>
            </a:pPr>
            <a:r>
              <a:rPr lang="en-US" sz="1000" dirty="0">
                <a:solidFill>
                  <a:srgbClr val="CCCCCC"/>
                </a:solidFill>
                <a:latin typeface="Calibri" pitchFamily="34" charset="0"/>
                <a:ea typeface="Calibri" pitchFamily="34" charset="-122"/>
                <a:cs typeface="Calibri" pitchFamily="34" charset="-120"/>
              </a:rPr>
              <a:t>Filters atmospheric air entering the booster rear chamber when the pedal is pressed. Protects the diaphragm from dirt and debris.</a:t>
            </a:r>
            <a:endParaRPr lang="en-US" sz="1000" dirty="0"/>
          </a:p>
        </p:txBody>
      </p:sp>
      <p:sp>
        <p:nvSpPr>
          <p:cNvPr id="11" name="Shape 8"/>
          <p:cNvSpPr/>
          <p:nvPr/>
        </p:nvSpPr>
        <p:spPr>
          <a:xfrm>
            <a:off x="5577840" y="2395728"/>
            <a:ext cx="3337560" cy="1170432"/>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12" name="Shape 9"/>
          <p:cNvSpPr/>
          <p:nvPr/>
        </p:nvSpPr>
        <p:spPr>
          <a:xfrm>
            <a:off x="5577840" y="2395728"/>
            <a:ext cx="54864" cy="1170432"/>
          </a:xfrm>
          <a:prstGeom prst="rect">
            <a:avLst/>
          </a:prstGeom>
          <a:solidFill>
            <a:srgbClr val="2A9D8F"/>
          </a:solidFill>
          <a:ln w="12700">
            <a:solidFill>
              <a:srgbClr val="2A9D8F"/>
            </a:solidFill>
            <a:prstDash val="solid"/>
          </a:ln>
        </p:spPr>
      </p:sp>
      <p:sp>
        <p:nvSpPr>
          <p:cNvPr id="13" name="Text 10"/>
          <p:cNvSpPr/>
          <p:nvPr/>
        </p:nvSpPr>
        <p:spPr>
          <a:xfrm>
            <a:off x="5705856" y="2487168"/>
            <a:ext cx="3136392" cy="256032"/>
          </a:xfrm>
          <a:prstGeom prst="rect">
            <a:avLst/>
          </a:prstGeom>
          <a:noFill/>
          <a:ln/>
        </p:spPr>
        <p:txBody>
          <a:bodyPr wrap="square" lIns="0" tIns="0" rIns="0" bIns="0" rtlCol="0" anchor="ctr"/>
          <a:lstStyle/>
          <a:p>
            <a:pPr indent="0" marL="0">
              <a:buNone/>
            </a:pPr>
            <a:r>
              <a:rPr lang="en-US" sz="1100" b="1" dirty="0">
                <a:solidFill>
                  <a:srgbClr val="2A9D8F"/>
                </a:solidFill>
                <a:latin typeface="Calibri" pitchFamily="34" charset="0"/>
                <a:ea typeface="Calibri" pitchFamily="34" charset="-122"/>
                <a:cs typeface="Calibri" pitchFamily="34" charset="-120"/>
              </a:rPr>
              <a:t>Service</a:t>
            </a:r>
            <a:endParaRPr lang="en-US" sz="1100" dirty="0"/>
          </a:p>
        </p:txBody>
      </p:sp>
      <p:sp>
        <p:nvSpPr>
          <p:cNvPr id="14" name="Text 11"/>
          <p:cNvSpPr/>
          <p:nvPr/>
        </p:nvSpPr>
        <p:spPr>
          <a:xfrm>
            <a:off x="5705856" y="2779776"/>
            <a:ext cx="3136392" cy="676656"/>
          </a:xfrm>
          <a:prstGeom prst="rect">
            <a:avLst/>
          </a:prstGeom>
          <a:noFill/>
          <a:ln/>
        </p:spPr>
        <p:txBody>
          <a:bodyPr wrap="square" lIns="0" tIns="0" rIns="0" bIns="0" rtlCol="0" anchor="t"/>
          <a:lstStyle/>
          <a:p>
            <a:pPr indent="0" marL="0">
              <a:buNone/>
            </a:pPr>
            <a:r>
              <a:rPr lang="en-US" sz="1000" dirty="0">
                <a:solidFill>
                  <a:srgbClr val="CCCCCC"/>
                </a:solidFill>
                <a:latin typeface="Calibri" pitchFamily="34" charset="0"/>
                <a:ea typeface="Calibri" pitchFamily="34" charset="-122"/>
                <a:cs typeface="Calibri" pitchFamily="34" charset="-120"/>
              </a:rPr>
              <a:t>Replace if visibly clogged or if hissing is heard near booster when pedal is applied. Located in the vacuum hose near the booster inlet.</a:t>
            </a:r>
            <a:endParaRPr lang="en-US" sz="1000" dirty="0"/>
          </a:p>
        </p:txBody>
      </p:sp>
      <p:sp>
        <p:nvSpPr>
          <p:cNvPr id="15" name="Shape 12"/>
          <p:cNvSpPr/>
          <p:nvPr/>
        </p:nvSpPr>
        <p:spPr>
          <a:xfrm>
            <a:off x="5577840" y="3675888"/>
            <a:ext cx="3337560" cy="1078992"/>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16" name="Shape 13"/>
          <p:cNvSpPr/>
          <p:nvPr/>
        </p:nvSpPr>
        <p:spPr>
          <a:xfrm>
            <a:off x="5577840" y="3675888"/>
            <a:ext cx="54864" cy="1078992"/>
          </a:xfrm>
          <a:prstGeom prst="rect">
            <a:avLst/>
          </a:prstGeom>
          <a:solidFill>
            <a:srgbClr val="E9A825"/>
          </a:solidFill>
          <a:ln w="12700">
            <a:solidFill>
              <a:srgbClr val="E9A825"/>
            </a:solidFill>
            <a:prstDash val="solid"/>
          </a:ln>
        </p:spPr>
      </p:sp>
      <p:sp>
        <p:nvSpPr>
          <p:cNvPr id="17" name="Text 14"/>
          <p:cNvSpPr/>
          <p:nvPr/>
        </p:nvSpPr>
        <p:spPr>
          <a:xfrm>
            <a:off x="5705856" y="3767328"/>
            <a:ext cx="3136392" cy="256032"/>
          </a:xfrm>
          <a:prstGeom prst="rect">
            <a:avLst/>
          </a:prstGeom>
          <a:noFill/>
          <a:ln/>
        </p:spPr>
        <p:txBody>
          <a:bodyPr wrap="square" lIns="0" tIns="0" rIns="0" bIns="0" rtlCol="0" anchor="ctr"/>
          <a:lstStyle/>
          <a:p>
            <a:pPr indent="0" marL="0">
              <a:buNone/>
            </a:pPr>
            <a:r>
              <a:rPr lang="en-US" sz="1100" b="1" dirty="0">
                <a:solidFill>
                  <a:srgbClr val="E9A825"/>
                </a:solidFill>
                <a:latin typeface="Calibri" pitchFamily="34" charset="0"/>
                <a:ea typeface="Calibri" pitchFamily="34" charset="-122"/>
                <a:cs typeface="Calibri" pitchFamily="34" charset="-120"/>
              </a:rPr>
              <a:t>Symptom When Clogged</a:t>
            </a:r>
            <a:endParaRPr lang="en-US" sz="1100" dirty="0"/>
          </a:p>
        </p:txBody>
      </p:sp>
      <p:sp>
        <p:nvSpPr>
          <p:cNvPr id="18" name="Text 15"/>
          <p:cNvSpPr/>
          <p:nvPr/>
        </p:nvSpPr>
        <p:spPr>
          <a:xfrm>
            <a:off x="5705856" y="4059936"/>
            <a:ext cx="3136392" cy="585216"/>
          </a:xfrm>
          <a:prstGeom prst="rect">
            <a:avLst/>
          </a:prstGeom>
          <a:noFill/>
          <a:ln/>
        </p:spPr>
        <p:txBody>
          <a:bodyPr wrap="square" lIns="0" tIns="0" rIns="0" bIns="0" rtlCol="0" anchor="t"/>
          <a:lstStyle/>
          <a:p>
            <a:pPr indent="0" marL="0">
              <a:buNone/>
            </a:pPr>
            <a:r>
              <a:rPr lang="en-US" sz="1000" dirty="0">
                <a:solidFill>
                  <a:srgbClr val="CCCCCC"/>
                </a:solidFill>
                <a:latin typeface="Calibri" pitchFamily="34" charset="0"/>
                <a:ea typeface="Calibri" pitchFamily="34" charset="-122"/>
                <a:cs typeface="Calibri" pitchFamily="34" charset="-120"/>
              </a:rPr>
              <a:t>Restricted airflow = sluggish or reduced pedal assist. Replace during brake inspection.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2A9D8F"/>
          </a:solidFill>
          <a:ln w="12700">
            <a:solidFill>
              <a:srgbClr val="2A9D8F"/>
            </a:solidFill>
            <a:prstDash val="solid"/>
          </a:ln>
        </p:spPr>
      </p:sp>
      <p:sp>
        <p:nvSpPr>
          <p:cNvPr id="3" name="Shape 1"/>
          <p:cNvSpPr/>
          <p:nvPr/>
        </p:nvSpPr>
        <p:spPr>
          <a:xfrm>
            <a:off x="0" y="5079492"/>
            <a:ext cx="9144000" cy="64008"/>
          </a:xfrm>
          <a:prstGeom prst="rect">
            <a:avLst/>
          </a:prstGeom>
          <a:solidFill>
            <a:srgbClr val="2A9D8F"/>
          </a:solidFill>
          <a:ln w="12700">
            <a:solidFill>
              <a:srgbClr val="2A9D8F"/>
            </a:solidFill>
            <a:prstDash val="solid"/>
          </a:ln>
        </p:spPr>
      </p:sp>
      <p:sp>
        <p:nvSpPr>
          <p:cNvPr id="4" name="Text 2"/>
          <p:cNvSpPr/>
          <p:nvPr/>
        </p:nvSpPr>
        <p:spPr>
          <a:xfrm>
            <a:off x="457200" y="118872"/>
            <a:ext cx="8229600" cy="201168"/>
          </a:xfrm>
          <a:prstGeom prst="rect">
            <a:avLst/>
          </a:prstGeom>
          <a:noFill/>
          <a:ln/>
        </p:spPr>
        <p:txBody>
          <a:bodyPr wrap="square" lIns="0" tIns="0" rIns="0" bIns="0" rtlCol="0" anchor="ctr"/>
          <a:lstStyle/>
          <a:p>
            <a:pPr indent="0" marL="0">
              <a:buNone/>
            </a:pPr>
            <a:r>
              <a:rPr lang="en-US" sz="800" b="1" spc="400" kern="0" dirty="0">
                <a:solidFill>
                  <a:srgbClr val="2A9D8F"/>
                </a:solidFill>
                <a:latin typeface="Calibri" pitchFamily="34" charset="0"/>
                <a:ea typeface="Calibri" pitchFamily="34" charset="-122"/>
                <a:cs typeface="Calibri" pitchFamily="34" charset="-120"/>
              </a:rPr>
              <a:t>HOW IT WORKS</a:t>
            </a:r>
            <a:endParaRPr lang="en-US" sz="800" dirty="0"/>
          </a:p>
        </p:txBody>
      </p:sp>
      <p:sp>
        <p:nvSpPr>
          <p:cNvPr id="5" name="Text 3"/>
          <p:cNvSpPr/>
          <p:nvPr/>
        </p:nvSpPr>
        <p:spPr>
          <a:xfrm>
            <a:off x="457200" y="384048"/>
            <a:ext cx="8229600" cy="530352"/>
          </a:xfrm>
          <a:prstGeom prst="rect">
            <a:avLst/>
          </a:prstGeom>
          <a:noFill/>
          <a:ln/>
        </p:spPr>
        <p:txBody>
          <a:bodyPr wrap="square" lIns="0" tIns="0" rIns="0" bIns="0" rtlCol="0" anchor="ctr"/>
          <a:lstStyle/>
          <a:p>
            <a:pPr indent="0" marL="0">
              <a:buNone/>
            </a:pPr>
            <a:r>
              <a:rPr lang="en-US" sz="2800" b="1" dirty="0">
                <a:solidFill>
                  <a:srgbClr val="2A9D8F"/>
                </a:solidFill>
                <a:latin typeface="Calibri" pitchFamily="34" charset="0"/>
                <a:ea typeface="Calibri" pitchFamily="34" charset="-122"/>
                <a:cs typeface="Calibri" pitchFamily="34" charset="-120"/>
              </a:rPr>
              <a:t>Booster Operation — Brake Released</a:t>
            </a:r>
            <a:endParaRPr lang="en-US" sz="2800" dirty="0"/>
          </a:p>
        </p:txBody>
      </p:sp>
      <p:pic>
        <p:nvPicPr>
          <p:cNvPr id="6" name="Image 0" descr="Cross-section: vacuum control valve open, both chambers equalized">    </p:cNvPr>
          <p:cNvPicPr>
            <a:picLocks noChangeAspect="1"/>
          </p:cNvPicPr>
          <p:nvPr/>
        </p:nvPicPr>
        <p:blipFill>
          <a:blip r:embed="rId1"/>
          <a:stretch>
            <a:fillRect/>
          </a:stretch>
        </p:blipFill>
        <p:spPr>
          <a:xfrm>
            <a:off x="4754880" y="749808"/>
            <a:ext cx="4160520" cy="2706624"/>
          </a:xfrm>
          <a:prstGeom prst="rect">
            <a:avLst/>
          </a:prstGeom>
        </p:spPr>
      </p:pic>
      <p:sp>
        <p:nvSpPr>
          <p:cNvPr id="7" name="Text 4"/>
          <p:cNvSpPr/>
          <p:nvPr/>
        </p:nvSpPr>
        <p:spPr>
          <a:xfrm>
            <a:off x="457200" y="1024128"/>
            <a:ext cx="4114800" cy="3017520"/>
          </a:xfrm>
          <a:prstGeom prst="rect">
            <a:avLst/>
          </a:prstGeom>
          <a:noFill/>
          <a:ln/>
        </p:spPr>
        <p:txBody>
          <a:bodyPr wrap="square" rtlCol="0" anchor="ctr"/>
          <a:lstStyle/>
          <a:p>
            <a:pPr marL="342900" indent="-342900">
              <a:spcAft>
                <a:spcPts val="500"/>
              </a:spcAft>
              <a:buSzPct val="100000"/>
              <a:buChar char="•"/>
            </a:pPr>
            <a:r>
              <a:rPr lang="en-US" sz="1100" dirty="0">
                <a:solidFill>
                  <a:srgbClr val="CCCCCC"/>
                </a:solidFill>
                <a:latin typeface="Calibri" pitchFamily="34" charset="0"/>
                <a:ea typeface="Calibri" pitchFamily="34" charset="-122"/>
                <a:cs typeface="Calibri" pitchFamily="34" charset="-120"/>
              </a:rPr>
              <a:t>Vacuum applied to BOTH sides of the diaphragm.</a:t>
            </a:r>
            <a:endParaRPr lang="en-US" sz="1100" dirty="0"/>
          </a:p>
          <a:p>
            <a:pPr marL="342900" indent="-342900">
              <a:spcAft>
                <a:spcPts val="500"/>
              </a:spcAft>
              <a:buSzPct val="100000"/>
              <a:buChar char="•"/>
            </a:pPr>
            <a:r>
              <a:rPr lang="en-US" sz="1100" dirty="0">
                <a:solidFill>
                  <a:srgbClr val="CCCCCC"/>
                </a:solidFill>
                <a:latin typeface="Calibri" pitchFamily="34" charset="0"/>
                <a:ea typeface="Calibri" pitchFamily="34" charset="-122"/>
                <a:cs typeface="Calibri" pitchFamily="34" charset="-120"/>
              </a:rPr>
              <a:t>Vacuum control valve is OPEN — both chambers equalized.</a:t>
            </a:r>
            <a:endParaRPr lang="en-US" sz="1100" dirty="0"/>
          </a:p>
          <a:p>
            <a:pPr marL="342900" indent="-342900">
              <a:spcAft>
                <a:spcPts val="500"/>
              </a:spcAft>
              <a:buSzPct val="100000"/>
              <a:buChar char="•"/>
            </a:pPr>
            <a:r>
              <a:rPr lang="en-US" sz="1100" dirty="0">
                <a:solidFill>
                  <a:srgbClr val="CCCCCC"/>
                </a:solidFill>
                <a:latin typeface="Calibri" pitchFamily="34" charset="0"/>
                <a:ea typeface="Calibri" pitchFamily="34" charset="-122"/>
                <a:cs typeface="Calibri" pitchFamily="34" charset="-120"/>
              </a:rPr>
              <a:t>Atmosphere valve is CLOSED — no atmospheric air entering.</a:t>
            </a:r>
            <a:endParaRPr lang="en-US" sz="1100" dirty="0"/>
          </a:p>
          <a:p>
            <a:pPr marL="342900" indent="-342900">
              <a:spcAft>
                <a:spcPts val="500"/>
              </a:spcAft>
              <a:buSzPct val="100000"/>
              <a:buChar char="•"/>
            </a:pPr>
            <a:r>
              <a:rPr lang="en-US" sz="1100" dirty="0">
                <a:solidFill>
                  <a:srgbClr val="CCCCCC"/>
                </a:solidFill>
                <a:latin typeface="Calibri" pitchFamily="34" charset="0"/>
                <a:ea typeface="Calibri" pitchFamily="34" charset="-122"/>
                <a:cs typeface="Calibri" pitchFamily="34" charset="-120"/>
              </a:rPr>
              <a:t>No pressure differential = zero boost force applied.</a:t>
            </a:r>
            <a:endParaRPr lang="en-US" sz="1100" dirty="0"/>
          </a:p>
          <a:p>
            <a:pPr marL="342900" indent="-342900">
              <a:spcAft>
                <a:spcPts val="500"/>
              </a:spcAft>
              <a:buSzPct val="100000"/>
              <a:buChar char="•"/>
            </a:pPr>
            <a:r>
              <a:rPr lang="en-US" sz="1100" dirty="0">
                <a:solidFill>
                  <a:srgbClr val="CCCCCC"/>
                </a:solidFill>
                <a:latin typeface="Calibri" pitchFamily="34" charset="0"/>
                <a:ea typeface="Calibri" pitchFamily="34" charset="-122"/>
                <a:cs typeface="Calibri" pitchFamily="34" charset="-120"/>
              </a:rPr>
              <a:t>Output pushrod is not acting on the master cylinder piston.</a:t>
            </a:r>
            <a:endParaRPr lang="en-US" sz="1100" dirty="0"/>
          </a:p>
        </p:txBody>
      </p:sp>
      <p:sp>
        <p:nvSpPr>
          <p:cNvPr id="8" name="Shape 5"/>
          <p:cNvSpPr/>
          <p:nvPr/>
        </p:nvSpPr>
        <p:spPr>
          <a:xfrm>
            <a:off x="457200" y="4069080"/>
            <a:ext cx="4114800" cy="768096"/>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9" name="Shape 6"/>
          <p:cNvSpPr/>
          <p:nvPr/>
        </p:nvSpPr>
        <p:spPr>
          <a:xfrm>
            <a:off x="457200" y="4069080"/>
            <a:ext cx="54864" cy="768096"/>
          </a:xfrm>
          <a:prstGeom prst="rect">
            <a:avLst/>
          </a:prstGeom>
          <a:solidFill>
            <a:srgbClr val="2A9D8F"/>
          </a:solidFill>
          <a:ln w="12700">
            <a:solidFill>
              <a:srgbClr val="2A9D8F"/>
            </a:solidFill>
            <a:prstDash val="solid"/>
          </a:ln>
        </p:spPr>
      </p:sp>
      <p:sp>
        <p:nvSpPr>
          <p:cNvPr id="10" name="Text 7"/>
          <p:cNvSpPr/>
          <p:nvPr/>
        </p:nvSpPr>
        <p:spPr>
          <a:xfrm>
            <a:off x="585216" y="4160520"/>
            <a:ext cx="3913632" cy="256032"/>
          </a:xfrm>
          <a:prstGeom prst="rect">
            <a:avLst/>
          </a:prstGeom>
          <a:noFill/>
          <a:ln/>
        </p:spPr>
        <p:txBody>
          <a:bodyPr wrap="square" lIns="0" tIns="0" rIns="0" bIns="0" rtlCol="0" anchor="ctr"/>
          <a:lstStyle/>
          <a:p>
            <a:pPr indent="0" marL="0">
              <a:buNone/>
            </a:pPr>
            <a:r>
              <a:rPr lang="en-US" sz="1100" b="1" dirty="0">
                <a:solidFill>
                  <a:srgbClr val="2A9D8F"/>
                </a:solidFill>
                <a:latin typeface="Calibri" pitchFamily="34" charset="0"/>
                <a:ea typeface="Calibri" pitchFamily="34" charset="-122"/>
                <a:cs typeface="Calibri" pitchFamily="34" charset="-120"/>
              </a:rPr>
              <a:t>System State: At Rest</a:t>
            </a:r>
            <a:endParaRPr lang="en-US" sz="1100" dirty="0"/>
          </a:p>
        </p:txBody>
      </p:sp>
      <p:sp>
        <p:nvSpPr>
          <p:cNvPr id="11" name="Text 8"/>
          <p:cNvSpPr/>
          <p:nvPr/>
        </p:nvSpPr>
        <p:spPr>
          <a:xfrm>
            <a:off x="585216" y="4453128"/>
            <a:ext cx="3913632" cy="274320"/>
          </a:xfrm>
          <a:prstGeom prst="rect">
            <a:avLst/>
          </a:prstGeom>
          <a:noFill/>
          <a:ln/>
        </p:spPr>
        <p:txBody>
          <a:bodyPr wrap="square" lIns="0" tIns="0" rIns="0" bIns="0" rtlCol="0" anchor="t"/>
          <a:lstStyle/>
          <a:p>
            <a:pPr indent="0" marL="0">
              <a:buNone/>
            </a:pPr>
            <a:r>
              <a:rPr lang="en-US" sz="1000" dirty="0">
                <a:solidFill>
                  <a:srgbClr val="CCCCCC"/>
                </a:solidFill>
                <a:latin typeface="Calibri" pitchFamily="34" charset="0"/>
                <a:ea typeface="Calibri" pitchFamily="34" charset="-122"/>
                <a:cs typeface="Calibri" pitchFamily="34" charset="-120"/>
              </a:rPr>
              <a:t>Both chambers at equal vacuum. Diaphragm centered. No pedal force, no boost force.</a:t>
            </a:r>
            <a:endParaRPr lang="en-US" sz="1000" dirty="0"/>
          </a:p>
        </p:txBody>
      </p:sp>
      <p:sp>
        <p:nvSpPr>
          <p:cNvPr id="12" name="Shape 9"/>
          <p:cNvSpPr/>
          <p:nvPr/>
        </p:nvSpPr>
        <p:spPr>
          <a:xfrm>
            <a:off x="4754880" y="3566160"/>
            <a:ext cx="4160520" cy="1261872"/>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13" name="Shape 10"/>
          <p:cNvSpPr/>
          <p:nvPr/>
        </p:nvSpPr>
        <p:spPr>
          <a:xfrm>
            <a:off x="4754880" y="3566160"/>
            <a:ext cx="54864" cy="1261872"/>
          </a:xfrm>
          <a:prstGeom prst="rect">
            <a:avLst/>
          </a:prstGeom>
          <a:solidFill>
            <a:srgbClr val="2A9D8F"/>
          </a:solidFill>
          <a:ln w="12700">
            <a:solidFill>
              <a:srgbClr val="2A9D8F"/>
            </a:solidFill>
            <a:prstDash val="solid"/>
          </a:ln>
        </p:spPr>
      </p:sp>
      <p:sp>
        <p:nvSpPr>
          <p:cNvPr id="14" name="Text 11"/>
          <p:cNvSpPr/>
          <p:nvPr/>
        </p:nvSpPr>
        <p:spPr>
          <a:xfrm>
            <a:off x="4882896" y="3657600"/>
            <a:ext cx="3959352" cy="256032"/>
          </a:xfrm>
          <a:prstGeom prst="rect">
            <a:avLst/>
          </a:prstGeom>
          <a:noFill/>
          <a:ln/>
        </p:spPr>
        <p:txBody>
          <a:bodyPr wrap="square" lIns="0" tIns="0" rIns="0" bIns="0" rtlCol="0" anchor="ctr"/>
          <a:lstStyle/>
          <a:p>
            <a:pPr indent="0" marL="0">
              <a:buNone/>
            </a:pPr>
            <a:r>
              <a:rPr lang="en-US" sz="1100" b="1" dirty="0">
                <a:solidFill>
                  <a:srgbClr val="2A9D8F"/>
                </a:solidFill>
                <a:latin typeface="Calibri" pitchFamily="34" charset="0"/>
                <a:ea typeface="Calibri" pitchFamily="34" charset="-122"/>
                <a:cs typeface="Calibri" pitchFamily="34" charset="-120"/>
              </a:rPr>
              <a:t>Remember</a:t>
            </a:r>
            <a:endParaRPr lang="en-US" sz="1100" dirty="0"/>
          </a:p>
        </p:txBody>
      </p:sp>
      <p:sp>
        <p:nvSpPr>
          <p:cNvPr id="15" name="Text 12"/>
          <p:cNvSpPr/>
          <p:nvPr/>
        </p:nvSpPr>
        <p:spPr>
          <a:xfrm>
            <a:off x="4882896" y="3950208"/>
            <a:ext cx="3959352" cy="768096"/>
          </a:xfrm>
          <a:prstGeom prst="rect">
            <a:avLst/>
          </a:prstGeom>
          <a:noFill/>
          <a:ln/>
        </p:spPr>
        <p:txBody>
          <a:bodyPr wrap="square" lIns="0" tIns="0" rIns="0" bIns="0" rtlCol="0" anchor="t"/>
          <a:lstStyle/>
          <a:p>
            <a:pPr indent="0" marL="0">
              <a:buNone/>
            </a:pPr>
            <a:r>
              <a:rPr lang="en-US" sz="1000" dirty="0">
                <a:solidFill>
                  <a:srgbClr val="CCCCCC"/>
                </a:solidFill>
                <a:latin typeface="Calibri" pitchFamily="34" charset="0"/>
                <a:ea typeface="Calibri" pitchFamily="34" charset="-122"/>
                <a:cs typeface="Calibri" pitchFamily="34" charset="-120"/>
              </a:rPr>
              <a:t>The booster is passively holding vacuum at all times while the engine runs. The check valve maintains this reserve.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2A9D8F"/>
          </a:solidFill>
          <a:ln w="12700">
            <a:solidFill>
              <a:srgbClr val="2A9D8F"/>
            </a:solidFill>
            <a:prstDash val="solid"/>
          </a:ln>
        </p:spPr>
      </p:sp>
      <p:sp>
        <p:nvSpPr>
          <p:cNvPr id="3" name="Shape 1"/>
          <p:cNvSpPr/>
          <p:nvPr/>
        </p:nvSpPr>
        <p:spPr>
          <a:xfrm>
            <a:off x="0" y="5079492"/>
            <a:ext cx="9144000" cy="64008"/>
          </a:xfrm>
          <a:prstGeom prst="rect">
            <a:avLst/>
          </a:prstGeom>
          <a:solidFill>
            <a:srgbClr val="2A9D8F"/>
          </a:solidFill>
          <a:ln w="12700">
            <a:solidFill>
              <a:srgbClr val="2A9D8F"/>
            </a:solidFill>
            <a:prstDash val="solid"/>
          </a:ln>
        </p:spPr>
      </p:sp>
      <p:sp>
        <p:nvSpPr>
          <p:cNvPr id="4" name="Text 2"/>
          <p:cNvSpPr/>
          <p:nvPr/>
        </p:nvSpPr>
        <p:spPr>
          <a:xfrm>
            <a:off x="457200" y="118872"/>
            <a:ext cx="8229600" cy="201168"/>
          </a:xfrm>
          <a:prstGeom prst="rect">
            <a:avLst/>
          </a:prstGeom>
          <a:noFill/>
          <a:ln/>
        </p:spPr>
        <p:txBody>
          <a:bodyPr wrap="square" lIns="0" tIns="0" rIns="0" bIns="0" rtlCol="0" anchor="ctr"/>
          <a:lstStyle/>
          <a:p>
            <a:pPr indent="0" marL="0">
              <a:buNone/>
            </a:pPr>
            <a:r>
              <a:rPr lang="en-US" sz="800" b="1" spc="400" kern="0" dirty="0">
                <a:solidFill>
                  <a:srgbClr val="2A9D8F"/>
                </a:solidFill>
                <a:latin typeface="Calibri" pitchFamily="34" charset="0"/>
                <a:ea typeface="Calibri" pitchFamily="34" charset="-122"/>
                <a:cs typeface="Calibri" pitchFamily="34" charset="-120"/>
              </a:rPr>
              <a:t>HOW IT WORKS</a:t>
            </a:r>
            <a:endParaRPr lang="en-US" sz="800" dirty="0"/>
          </a:p>
        </p:txBody>
      </p:sp>
      <p:sp>
        <p:nvSpPr>
          <p:cNvPr id="5" name="Text 3"/>
          <p:cNvSpPr/>
          <p:nvPr/>
        </p:nvSpPr>
        <p:spPr>
          <a:xfrm>
            <a:off x="457200" y="384048"/>
            <a:ext cx="8229600" cy="530352"/>
          </a:xfrm>
          <a:prstGeom prst="rect">
            <a:avLst/>
          </a:prstGeom>
          <a:noFill/>
          <a:ln/>
        </p:spPr>
        <p:txBody>
          <a:bodyPr wrap="square" lIns="0" tIns="0" rIns="0" bIns="0" rtlCol="0" anchor="ctr"/>
          <a:lstStyle/>
          <a:p>
            <a:pPr indent="0" marL="0">
              <a:buNone/>
            </a:pPr>
            <a:r>
              <a:rPr lang="en-US" sz="2800" b="1" dirty="0">
                <a:solidFill>
                  <a:srgbClr val="2A9D8F"/>
                </a:solidFill>
                <a:latin typeface="Calibri" pitchFamily="34" charset="0"/>
                <a:ea typeface="Calibri" pitchFamily="34" charset="-122"/>
                <a:cs typeface="Calibri" pitchFamily="34" charset="-120"/>
              </a:rPr>
              <a:t>Booster Operation — Brake Applied</a:t>
            </a:r>
            <a:endParaRPr lang="en-US" sz="2800" dirty="0"/>
          </a:p>
        </p:txBody>
      </p:sp>
      <p:pic>
        <p:nvPicPr>
          <p:cNvPr id="6" name="Image 0" descr="Cross-section: atmosphere valve open, diaphragm deflecting toward front">    </p:cNvPr>
          <p:cNvPicPr>
            <a:picLocks noChangeAspect="1"/>
          </p:cNvPicPr>
          <p:nvPr/>
        </p:nvPicPr>
        <p:blipFill>
          <a:blip r:embed="rId1"/>
          <a:stretch>
            <a:fillRect/>
          </a:stretch>
        </p:blipFill>
        <p:spPr>
          <a:xfrm>
            <a:off x="4754880" y="749808"/>
            <a:ext cx="4160520" cy="2706624"/>
          </a:xfrm>
          <a:prstGeom prst="rect">
            <a:avLst/>
          </a:prstGeom>
        </p:spPr>
      </p:pic>
      <p:sp>
        <p:nvSpPr>
          <p:cNvPr id="7" name="Text 4"/>
          <p:cNvSpPr/>
          <p:nvPr/>
        </p:nvSpPr>
        <p:spPr>
          <a:xfrm>
            <a:off x="457200" y="1024128"/>
            <a:ext cx="4114800" cy="3200400"/>
          </a:xfrm>
          <a:prstGeom prst="rect">
            <a:avLst/>
          </a:prstGeom>
          <a:noFill/>
          <a:ln/>
        </p:spPr>
        <p:txBody>
          <a:bodyPr wrap="square" rtlCol="0" anchor="ctr"/>
          <a:lstStyle/>
          <a:p>
            <a:pPr marL="342900" indent="-342900">
              <a:spcAft>
                <a:spcPts val="500"/>
              </a:spcAft>
              <a:buSzPct val="100000"/>
              <a:buChar char="•"/>
            </a:pPr>
            <a:r>
              <a:rPr lang="en-US" sz="1100" dirty="0">
                <a:solidFill>
                  <a:srgbClr val="CCCCCC"/>
                </a:solidFill>
                <a:latin typeface="Calibri" pitchFamily="34" charset="0"/>
                <a:ea typeface="Calibri" pitchFamily="34" charset="-122"/>
                <a:cs typeface="Calibri" pitchFamily="34" charset="-120"/>
              </a:rPr>
              <a:t>Pedal input shifts the control valve spool rearward.</a:t>
            </a:r>
            <a:endParaRPr lang="en-US" sz="1100" dirty="0"/>
          </a:p>
          <a:p>
            <a:pPr marL="342900" indent="-342900">
              <a:spcAft>
                <a:spcPts val="500"/>
              </a:spcAft>
              <a:buSzPct val="100000"/>
              <a:buChar char="•"/>
            </a:pPr>
            <a:r>
              <a:rPr lang="en-US" sz="1100" dirty="0">
                <a:solidFill>
                  <a:srgbClr val="CCCCCC"/>
                </a:solidFill>
                <a:latin typeface="Calibri" pitchFamily="34" charset="0"/>
                <a:ea typeface="Calibri" pitchFamily="34" charset="-122"/>
                <a:cs typeface="Calibri" pitchFamily="34" charset="-120"/>
              </a:rPr>
              <a:t>Vacuum control valve CLOSES — front chamber sealed.</a:t>
            </a:r>
            <a:endParaRPr lang="en-US" sz="1100" dirty="0"/>
          </a:p>
          <a:p>
            <a:pPr marL="342900" indent="-342900">
              <a:spcAft>
                <a:spcPts val="500"/>
              </a:spcAft>
              <a:buSzPct val="100000"/>
              <a:buChar char="•"/>
            </a:pPr>
            <a:r>
              <a:rPr lang="en-US" sz="1100" dirty="0">
                <a:solidFill>
                  <a:srgbClr val="CCCCCC"/>
                </a:solidFill>
                <a:latin typeface="Calibri" pitchFamily="34" charset="0"/>
                <a:ea typeface="Calibri" pitchFamily="34" charset="-122"/>
                <a:cs typeface="Calibri" pitchFamily="34" charset="-120"/>
              </a:rPr>
              <a:t>Atmosphere valve OPENS — 14.7 PSI air enters rear chamber.</a:t>
            </a:r>
            <a:endParaRPr lang="en-US" sz="1100" dirty="0"/>
          </a:p>
          <a:p>
            <a:pPr marL="342900" indent="-342900">
              <a:spcAft>
                <a:spcPts val="500"/>
              </a:spcAft>
              <a:buSzPct val="100000"/>
              <a:buChar char="•"/>
            </a:pPr>
            <a:r>
              <a:rPr lang="en-US" sz="1100" dirty="0">
                <a:solidFill>
                  <a:srgbClr val="CCCCCC"/>
                </a:solidFill>
                <a:latin typeface="Calibri" pitchFamily="34" charset="0"/>
                <a:ea typeface="Calibri" pitchFamily="34" charset="-122"/>
                <a:cs typeface="Calibri" pitchFamily="34" charset="-120"/>
              </a:rPr>
              <a:t>Pressure differential deflects diaphragm toward the front.</a:t>
            </a:r>
            <a:endParaRPr lang="en-US" sz="1100" dirty="0"/>
          </a:p>
          <a:p>
            <a:pPr marL="342900" indent="-342900">
              <a:spcAft>
                <a:spcPts val="500"/>
              </a:spcAft>
              <a:buSzPct val="100000"/>
              <a:buChar char="•"/>
            </a:pPr>
            <a:r>
              <a:rPr lang="en-US" sz="1100" dirty="0">
                <a:solidFill>
                  <a:srgbClr val="CCCCCC"/>
                </a:solidFill>
                <a:latin typeface="Calibri" pitchFamily="34" charset="0"/>
                <a:ea typeface="Calibri" pitchFamily="34" charset="-122"/>
                <a:cs typeface="Calibri" pitchFamily="34" charset="-120"/>
              </a:rPr>
              <a:t>Diaphragm force adds to pedal force on the output pushrod.</a:t>
            </a:r>
            <a:endParaRPr lang="en-US" sz="1100" dirty="0"/>
          </a:p>
          <a:p>
            <a:pPr marL="342900" indent="-342900">
              <a:spcAft>
                <a:spcPts val="500"/>
              </a:spcAft>
              <a:buSzPct val="100000"/>
              <a:buChar char="•"/>
            </a:pPr>
            <a:r>
              <a:rPr lang="en-US" sz="1100" dirty="0">
                <a:solidFill>
                  <a:srgbClr val="CCCCCC"/>
                </a:solidFill>
                <a:latin typeface="Calibri" pitchFamily="34" charset="0"/>
                <a:ea typeface="Calibri" pitchFamily="34" charset="-122"/>
                <a:cs typeface="Calibri" pitchFamily="34" charset="-120"/>
              </a:rPr>
              <a:t>Master cylinder piston pushed — hydraulic pressure builds.</a:t>
            </a:r>
            <a:endParaRPr lang="en-US" sz="1100" dirty="0"/>
          </a:p>
        </p:txBody>
      </p:sp>
      <p:sp>
        <p:nvSpPr>
          <p:cNvPr id="8" name="Shape 5"/>
          <p:cNvSpPr/>
          <p:nvPr/>
        </p:nvSpPr>
        <p:spPr>
          <a:xfrm>
            <a:off x="457200" y="4187952"/>
            <a:ext cx="4114800" cy="658368"/>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9" name="Shape 6"/>
          <p:cNvSpPr/>
          <p:nvPr/>
        </p:nvSpPr>
        <p:spPr>
          <a:xfrm>
            <a:off x="457200" y="4187952"/>
            <a:ext cx="54864" cy="658368"/>
          </a:xfrm>
          <a:prstGeom prst="rect">
            <a:avLst/>
          </a:prstGeom>
          <a:solidFill>
            <a:srgbClr val="E9A825"/>
          </a:solidFill>
          <a:ln w="12700">
            <a:solidFill>
              <a:srgbClr val="E9A825"/>
            </a:solidFill>
            <a:prstDash val="solid"/>
          </a:ln>
        </p:spPr>
      </p:sp>
      <p:sp>
        <p:nvSpPr>
          <p:cNvPr id="10" name="Text 7"/>
          <p:cNvSpPr/>
          <p:nvPr/>
        </p:nvSpPr>
        <p:spPr>
          <a:xfrm>
            <a:off x="585216" y="4279392"/>
            <a:ext cx="3913632" cy="256032"/>
          </a:xfrm>
          <a:prstGeom prst="rect">
            <a:avLst/>
          </a:prstGeom>
          <a:noFill/>
          <a:ln/>
        </p:spPr>
        <p:txBody>
          <a:bodyPr wrap="square" lIns="0" tIns="0" rIns="0" bIns="0" rtlCol="0" anchor="ctr"/>
          <a:lstStyle/>
          <a:p>
            <a:pPr indent="0" marL="0">
              <a:buNone/>
            </a:pPr>
            <a:r>
              <a:rPr lang="en-US" sz="1100" b="1" dirty="0">
                <a:solidFill>
                  <a:srgbClr val="E9A825"/>
                </a:solidFill>
                <a:latin typeface="Calibri" pitchFamily="34" charset="0"/>
                <a:ea typeface="Calibri" pitchFamily="34" charset="-122"/>
                <a:cs typeface="Calibri" pitchFamily="34" charset="-120"/>
              </a:rPr>
              <a:t>Result</a:t>
            </a:r>
            <a:endParaRPr lang="en-US" sz="1100" dirty="0"/>
          </a:p>
        </p:txBody>
      </p:sp>
      <p:sp>
        <p:nvSpPr>
          <p:cNvPr id="11" name="Text 8"/>
          <p:cNvSpPr/>
          <p:nvPr/>
        </p:nvSpPr>
        <p:spPr>
          <a:xfrm>
            <a:off x="585216" y="4572000"/>
            <a:ext cx="3913632" cy="164592"/>
          </a:xfrm>
          <a:prstGeom prst="rect">
            <a:avLst/>
          </a:prstGeom>
          <a:noFill/>
          <a:ln/>
        </p:spPr>
        <p:txBody>
          <a:bodyPr wrap="square" lIns="0" tIns="0" rIns="0" bIns="0" rtlCol="0" anchor="t"/>
          <a:lstStyle/>
          <a:p>
            <a:pPr indent="0" marL="0">
              <a:buNone/>
            </a:pPr>
            <a:r>
              <a:rPr lang="en-US" sz="1000" dirty="0">
                <a:solidFill>
                  <a:srgbClr val="CCCCCC"/>
                </a:solidFill>
                <a:latin typeface="Calibri" pitchFamily="34" charset="0"/>
                <a:ea typeface="Calibri" pitchFamily="34" charset="-122"/>
                <a:cs typeface="Calibri" pitchFamily="34" charset="-120"/>
              </a:rPr>
              <a:t>Pedal + diaphragm force combined — 2x to 4x amplification of driver input.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2A9D8F"/>
          </a:solidFill>
          <a:ln w="12700">
            <a:solidFill>
              <a:srgbClr val="2A9D8F"/>
            </a:solidFill>
            <a:prstDash val="solid"/>
          </a:ln>
        </p:spPr>
      </p:sp>
      <p:sp>
        <p:nvSpPr>
          <p:cNvPr id="3" name="Shape 1"/>
          <p:cNvSpPr/>
          <p:nvPr/>
        </p:nvSpPr>
        <p:spPr>
          <a:xfrm>
            <a:off x="0" y="5079492"/>
            <a:ext cx="9144000" cy="64008"/>
          </a:xfrm>
          <a:prstGeom prst="rect">
            <a:avLst/>
          </a:prstGeom>
          <a:solidFill>
            <a:srgbClr val="2A9D8F"/>
          </a:solidFill>
          <a:ln w="12700">
            <a:solidFill>
              <a:srgbClr val="2A9D8F"/>
            </a:solidFill>
            <a:prstDash val="solid"/>
          </a:ln>
        </p:spPr>
      </p:sp>
      <p:sp>
        <p:nvSpPr>
          <p:cNvPr id="4" name="Text 2"/>
          <p:cNvSpPr/>
          <p:nvPr/>
        </p:nvSpPr>
        <p:spPr>
          <a:xfrm>
            <a:off x="457200" y="118872"/>
            <a:ext cx="8229600" cy="201168"/>
          </a:xfrm>
          <a:prstGeom prst="rect">
            <a:avLst/>
          </a:prstGeom>
          <a:noFill/>
          <a:ln/>
        </p:spPr>
        <p:txBody>
          <a:bodyPr wrap="square" lIns="0" tIns="0" rIns="0" bIns="0" rtlCol="0" anchor="ctr"/>
          <a:lstStyle/>
          <a:p>
            <a:pPr indent="0" marL="0">
              <a:buNone/>
            </a:pPr>
            <a:r>
              <a:rPr lang="en-US" sz="800" b="1" spc="400" kern="0" dirty="0">
                <a:solidFill>
                  <a:srgbClr val="2A9D8F"/>
                </a:solidFill>
                <a:latin typeface="Calibri" pitchFamily="34" charset="0"/>
                <a:ea typeface="Calibri" pitchFamily="34" charset="-122"/>
                <a:cs typeface="Calibri" pitchFamily="34" charset="-120"/>
              </a:rPr>
              <a:t>COMPONENTS</a:t>
            </a:r>
            <a:endParaRPr lang="en-US" sz="800" dirty="0"/>
          </a:p>
        </p:txBody>
      </p:sp>
      <p:sp>
        <p:nvSpPr>
          <p:cNvPr id="5" name="Text 3"/>
          <p:cNvSpPr/>
          <p:nvPr/>
        </p:nvSpPr>
        <p:spPr>
          <a:xfrm>
            <a:off x="457200" y="384048"/>
            <a:ext cx="8229600" cy="530352"/>
          </a:xfrm>
          <a:prstGeom prst="rect">
            <a:avLst/>
          </a:prstGeom>
          <a:noFill/>
          <a:ln/>
        </p:spPr>
        <p:txBody>
          <a:bodyPr wrap="square" lIns="0" tIns="0" rIns="0" bIns="0" rtlCol="0" anchor="ctr"/>
          <a:lstStyle/>
          <a:p>
            <a:pPr indent="0" marL="0">
              <a:buNone/>
            </a:pPr>
            <a:r>
              <a:rPr lang="en-US" sz="2800" b="1" dirty="0">
                <a:solidFill>
                  <a:srgbClr val="2A9D8F"/>
                </a:solidFill>
                <a:latin typeface="Calibri" pitchFamily="34" charset="0"/>
                <a:ea typeface="Calibri" pitchFamily="34" charset="-122"/>
                <a:cs typeface="Calibri" pitchFamily="34" charset="-120"/>
              </a:rPr>
              <a:t>Identifying the Booster on the Vehicle</a:t>
            </a:r>
            <a:endParaRPr lang="en-US" sz="2800" dirty="0"/>
          </a:p>
        </p:txBody>
      </p:sp>
      <p:pic>
        <p:nvPicPr>
          <p:cNvPr id="6" name="Image 0" descr="Brake booster and vacuum hose in engine bay">    </p:cNvPr>
          <p:cNvPicPr>
            <a:picLocks noChangeAspect="1"/>
          </p:cNvPicPr>
          <p:nvPr/>
        </p:nvPicPr>
        <p:blipFill>
          <a:blip r:embed="rId1"/>
          <a:stretch>
            <a:fillRect/>
          </a:stretch>
        </p:blipFill>
        <p:spPr>
          <a:xfrm>
            <a:off x="457200" y="914400"/>
            <a:ext cx="4754880" cy="3584448"/>
          </a:xfrm>
          <a:prstGeom prst="rect">
            <a:avLst/>
          </a:prstGeom>
        </p:spPr>
      </p:pic>
      <p:sp>
        <p:nvSpPr>
          <p:cNvPr id="7" name="Shape 4"/>
          <p:cNvSpPr/>
          <p:nvPr/>
        </p:nvSpPr>
        <p:spPr>
          <a:xfrm>
            <a:off x="5394960" y="914400"/>
            <a:ext cx="3520440" cy="1170432"/>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8" name="Shape 5"/>
          <p:cNvSpPr/>
          <p:nvPr/>
        </p:nvSpPr>
        <p:spPr>
          <a:xfrm>
            <a:off x="5394960" y="914400"/>
            <a:ext cx="54864" cy="1170432"/>
          </a:xfrm>
          <a:prstGeom prst="rect">
            <a:avLst/>
          </a:prstGeom>
          <a:solidFill>
            <a:srgbClr val="2A9D8F"/>
          </a:solidFill>
          <a:ln w="12700">
            <a:solidFill>
              <a:srgbClr val="2A9D8F"/>
            </a:solidFill>
            <a:prstDash val="solid"/>
          </a:ln>
        </p:spPr>
      </p:sp>
      <p:sp>
        <p:nvSpPr>
          <p:cNvPr id="9" name="Text 6"/>
          <p:cNvSpPr/>
          <p:nvPr/>
        </p:nvSpPr>
        <p:spPr>
          <a:xfrm>
            <a:off x="5522976" y="1005840"/>
            <a:ext cx="3319272" cy="256032"/>
          </a:xfrm>
          <a:prstGeom prst="rect">
            <a:avLst/>
          </a:prstGeom>
          <a:noFill/>
          <a:ln/>
        </p:spPr>
        <p:txBody>
          <a:bodyPr wrap="square" lIns="0" tIns="0" rIns="0" bIns="0" rtlCol="0" anchor="ctr"/>
          <a:lstStyle/>
          <a:p>
            <a:pPr indent="0" marL="0">
              <a:buNone/>
            </a:pPr>
            <a:r>
              <a:rPr lang="en-US" sz="1100" b="1" dirty="0">
                <a:solidFill>
                  <a:srgbClr val="2A9D8F"/>
                </a:solidFill>
                <a:latin typeface="Calibri" pitchFamily="34" charset="0"/>
                <a:ea typeface="Calibri" pitchFamily="34" charset="-122"/>
                <a:cs typeface="Calibri" pitchFamily="34" charset="-120"/>
              </a:rPr>
              <a:t>Location</a:t>
            </a:r>
            <a:endParaRPr lang="en-US" sz="1100" dirty="0"/>
          </a:p>
        </p:txBody>
      </p:sp>
      <p:sp>
        <p:nvSpPr>
          <p:cNvPr id="10" name="Text 7"/>
          <p:cNvSpPr/>
          <p:nvPr/>
        </p:nvSpPr>
        <p:spPr>
          <a:xfrm>
            <a:off x="5522976" y="1298448"/>
            <a:ext cx="3319272" cy="676656"/>
          </a:xfrm>
          <a:prstGeom prst="rect">
            <a:avLst/>
          </a:prstGeom>
          <a:noFill/>
          <a:ln/>
        </p:spPr>
        <p:txBody>
          <a:bodyPr wrap="square" lIns="0" tIns="0" rIns="0" bIns="0" rtlCol="0" anchor="t"/>
          <a:lstStyle/>
          <a:p>
            <a:pPr indent="0" marL="0">
              <a:buNone/>
            </a:pPr>
            <a:r>
              <a:rPr lang="en-US" sz="1000" dirty="0">
                <a:solidFill>
                  <a:srgbClr val="CCCCCC"/>
                </a:solidFill>
                <a:latin typeface="Calibri" pitchFamily="34" charset="0"/>
                <a:ea typeface="Calibri" pitchFamily="34" charset="-122"/>
                <a:cs typeface="Calibri" pitchFamily="34" charset="-120"/>
              </a:rPr>
              <a:t>Driver's side firewall, directly behind the master cylinder. Connected to intake manifold via vacuum hose and check valve.</a:t>
            </a:r>
            <a:endParaRPr lang="en-US" sz="1000" dirty="0"/>
          </a:p>
        </p:txBody>
      </p:sp>
      <p:sp>
        <p:nvSpPr>
          <p:cNvPr id="11" name="Shape 8"/>
          <p:cNvSpPr/>
          <p:nvPr/>
        </p:nvSpPr>
        <p:spPr>
          <a:xfrm>
            <a:off x="5394960" y="2194560"/>
            <a:ext cx="3520440" cy="1170432"/>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12" name="Shape 9"/>
          <p:cNvSpPr/>
          <p:nvPr/>
        </p:nvSpPr>
        <p:spPr>
          <a:xfrm>
            <a:off x="5394960" y="2194560"/>
            <a:ext cx="54864" cy="1170432"/>
          </a:xfrm>
          <a:prstGeom prst="rect">
            <a:avLst/>
          </a:prstGeom>
          <a:solidFill>
            <a:srgbClr val="2A9D8F"/>
          </a:solidFill>
          <a:ln w="12700">
            <a:solidFill>
              <a:srgbClr val="2A9D8F"/>
            </a:solidFill>
            <a:prstDash val="solid"/>
          </a:ln>
        </p:spPr>
      </p:sp>
      <p:sp>
        <p:nvSpPr>
          <p:cNvPr id="13" name="Text 10"/>
          <p:cNvSpPr/>
          <p:nvPr/>
        </p:nvSpPr>
        <p:spPr>
          <a:xfrm>
            <a:off x="5522976" y="2286000"/>
            <a:ext cx="3319272" cy="256032"/>
          </a:xfrm>
          <a:prstGeom prst="rect">
            <a:avLst/>
          </a:prstGeom>
          <a:noFill/>
          <a:ln/>
        </p:spPr>
        <p:txBody>
          <a:bodyPr wrap="square" lIns="0" tIns="0" rIns="0" bIns="0" rtlCol="0" anchor="ctr"/>
          <a:lstStyle/>
          <a:p>
            <a:pPr indent="0" marL="0">
              <a:buNone/>
            </a:pPr>
            <a:r>
              <a:rPr lang="en-US" sz="1100" b="1" dirty="0">
                <a:solidFill>
                  <a:srgbClr val="2A9D8F"/>
                </a:solidFill>
                <a:latin typeface="Calibri" pitchFamily="34" charset="0"/>
                <a:ea typeface="Calibri" pitchFamily="34" charset="-122"/>
                <a:cs typeface="Calibri" pitchFamily="34" charset="-120"/>
              </a:rPr>
              <a:t>Identification</a:t>
            </a:r>
            <a:endParaRPr lang="en-US" sz="1100" dirty="0"/>
          </a:p>
        </p:txBody>
      </p:sp>
      <p:sp>
        <p:nvSpPr>
          <p:cNvPr id="14" name="Text 11"/>
          <p:cNvSpPr/>
          <p:nvPr/>
        </p:nvSpPr>
        <p:spPr>
          <a:xfrm>
            <a:off x="5522976" y="2578608"/>
            <a:ext cx="3319272" cy="676656"/>
          </a:xfrm>
          <a:prstGeom prst="rect">
            <a:avLst/>
          </a:prstGeom>
          <a:noFill/>
          <a:ln/>
        </p:spPr>
        <p:txBody>
          <a:bodyPr wrap="square" lIns="0" tIns="0" rIns="0" bIns="0" rtlCol="0" anchor="t"/>
          <a:lstStyle/>
          <a:p>
            <a:pPr indent="0" marL="0">
              <a:buNone/>
            </a:pPr>
            <a:r>
              <a:rPr lang="en-US" sz="1000" dirty="0">
                <a:solidFill>
                  <a:srgbClr val="CCCCCC"/>
                </a:solidFill>
                <a:latin typeface="Calibri" pitchFamily="34" charset="0"/>
                <a:ea typeface="Calibri" pitchFamily="34" charset="-122"/>
                <a:cs typeface="Calibri" pitchFamily="34" charset="-120"/>
              </a:rPr>
              <a:t>Large round canister, 7–11 inch diameter. Vacuum hose on front side. Pedal pushrod connects to rear.</a:t>
            </a:r>
            <a:endParaRPr lang="en-US" sz="1000" dirty="0"/>
          </a:p>
        </p:txBody>
      </p:sp>
      <p:sp>
        <p:nvSpPr>
          <p:cNvPr id="15" name="Shape 12"/>
          <p:cNvSpPr/>
          <p:nvPr/>
        </p:nvSpPr>
        <p:spPr>
          <a:xfrm>
            <a:off x="5394960" y="3474720"/>
            <a:ext cx="3520440" cy="1024128"/>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16" name="Shape 13"/>
          <p:cNvSpPr/>
          <p:nvPr/>
        </p:nvSpPr>
        <p:spPr>
          <a:xfrm>
            <a:off x="5394960" y="3474720"/>
            <a:ext cx="54864" cy="1024128"/>
          </a:xfrm>
          <a:prstGeom prst="rect">
            <a:avLst/>
          </a:prstGeom>
          <a:solidFill>
            <a:srgbClr val="E9A825"/>
          </a:solidFill>
          <a:ln w="12700">
            <a:solidFill>
              <a:srgbClr val="E9A825"/>
            </a:solidFill>
            <a:prstDash val="solid"/>
          </a:ln>
        </p:spPr>
      </p:sp>
      <p:sp>
        <p:nvSpPr>
          <p:cNvPr id="17" name="Text 14"/>
          <p:cNvSpPr/>
          <p:nvPr/>
        </p:nvSpPr>
        <p:spPr>
          <a:xfrm>
            <a:off x="5522976" y="3566160"/>
            <a:ext cx="3319272" cy="256032"/>
          </a:xfrm>
          <a:prstGeom prst="rect">
            <a:avLst/>
          </a:prstGeom>
          <a:noFill/>
          <a:ln/>
        </p:spPr>
        <p:txBody>
          <a:bodyPr wrap="square" lIns="0" tIns="0" rIns="0" bIns="0" rtlCol="0" anchor="ctr"/>
          <a:lstStyle/>
          <a:p>
            <a:pPr indent="0" marL="0">
              <a:buNone/>
            </a:pPr>
            <a:r>
              <a:rPr lang="en-US" sz="1100" b="1" dirty="0">
                <a:solidFill>
                  <a:srgbClr val="E9A825"/>
                </a:solidFill>
                <a:latin typeface="Calibri" pitchFamily="34" charset="0"/>
                <a:ea typeface="Calibri" pitchFamily="34" charset="-122"/>
                <a:cs typeface="Calibri" pitchFamily="34" charset="-120"/>
              </a:rPr>
              <a:t>ShopKey First</a:t>
            </a:r>
            <a:endParaRPr lang="en-US" sz="1100" dirty="0"/>
          </a:p>
        </p:txBody>
      </p:sp>
      <p:sp>
        <p:nvSpPr>
          <p:cNvPr id="18" name="Text 15"/>
          <p:cNvSpPr/>
          <p:nvPr/>
        </p:nvSpPr>
        <p:spPr>
          <a:xfrm>
            <a:off x="5522976" y="3858768"/>
            <a:ext cx="3319272" cy="530352"/>
          </a:xfrm>
          <a:prstGeom prst="rect">
            <a:avLst/>
          </a:prstGeom>
          <a:noFill/>
          <a:ln/>
        </p:spPr>
        <p:txBody>
          <a:bodyPr wrap="square" lIns="0" tIns="0" rIns="0" bIns="0" rtlCol="0" anchor="t"/>
          <a:lstStyle/>
          <a:p>
            <a:pPr indent="0" marL="0">
              <a:buNone/>
            </a:pPr>
            <a:r>
              <a:rPr lang="en-US" sz="1000" dirty="0">
                <a:solidFill>
                  <a:srgbClr val="CCCCCC"/>
                </a:solidFill>
                <a:latin typeface="Calibri" pitchFamily="34" charset="0"/>
                <a:ea typeface="Calibri" pitchFamily="34" charset="-122"/>
                <a:cs typeface="Calibri" pitchFamily="34" charset="-120"/>
              </a:rPr>
              <a:t>Always look up booster size, mounting specs, and vacuum routing for the specific year/make/model.</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2A9D8F"/>
          </a:solidFill>
          <a:ln w="12700">
            <a:solidFill>
              <a:srgbClr val="2A9D8F"/>
            </a:solidFill>
            <a:prstDash val="solid"/>
          </a:ln>
        </p:spPr>
      </p:sp>
      <p:sp>
        <p:nvSpPr>
          <p:cNvPr id="3" name="Shape 1"/>
          <p:cNvSpPr/>
          <p:nvPr/>
        </p:nvSpPr>
        <p:spPr>
          <a:xfrm>
            <a:off x="0" y="5079492"/>
            <a:ext cx="9144000" cy="64008"/>
          </a:xfrm>
          <a:prstGeom prst="rect">
            <a:avLst/>
          </a:prstGeom>
          <a:solidFill>
            <a:srgbClr val="2A9D8F"/>
          </a:solidFill>
          <a:ln w="12700">
            <a:solidFill>
              <a:srgbClr val="2A9D8F"/>
            </a:solidFill>
            <a:prstDash val="solid"/>
          </a:ln>
        </p:spPr>
      </p:sp>
      <p:sp>
        <p:nvSpPr>
          <p:cNvPr id="4" name="Text 2"/>
          <p:cNvSpPr/>
          <p:nvPr/>
        </p:nvSpPr>
        <p:spPr>
          <a:xfrm>
            <a:off x="457200" y="118872"/>
            <a:ext cx="8229600" cy="201168"/>
          </a:xfrm>
          <a:prstGeom prst="rect">
            <a:avLst/>
          </a:prstGeom>
          <a:noFill/>
          <a:ln/>
        </p:spPr>
        <p:txBody>
          <a:bodyPr wrap="square" lIns="0" tIns="0" rIns="0" bIns="0" rtlCol="0" anchor="ctr"/>
          <a:lstStyle/>
          <a:p>
            <a:pPr indent="0" marL="0">
              <a:buNone/>
            </a:pPr>
            <a:r>
              <a:rPr lang="en-US" sz="800" b="1" spc="400" kern="0" dirty="0">
                <a:solidFill>
                  <a:srgbClr val="2A9D8F"/>
                </a:solidFill>
                <a:latin typeface="Calibri" pitchFamily="34" charset="0"/>
                <a:ea typeface="Calibri" pitchFamily="34" charset="-122"/>
                <a:cs typeface="Calibri" pitchFamily="34" charset="-120"/>
              </a:rPr>
              <a:t>ADVANCED SYSTEMS</a:t>
            </a:r>
            <a:endParaRPr lang="en-US" sz="800" dirty="0"/>
          </a:p>
        </p:txBody>
      </p:sp>
      <p:sp>
        <p:nvSpPr>
          <p:cNvPr id="5" name="Text 3"/>
          <p:cNvSpPr/>
          <p:nvPr/>
        </p:nvSpPr>
        <p:spPr>
          <a:xfrm>
            <a:off x="457200" y="384048"/>
            <a:ext cx="8229600" cy="530352"/>
          </a:xfrm>
          <a:prstGeom prst="rect">
            <a:avLst/>
          </a:prstGeom>
          <a:noFill/>
          <a:ln/>
        </p:spPr>
        <p:txBody>
          <a:bodyPr wrap="square" lIns="0" tIns="0" rIns="0" bIns="0" rtlCol="0" anchor="ctr"/>
          <a:lstStyle/>
          <a:p>
            <a:pPr indent="0" marL="0">
              <a:buNone/>
            </a:pPr>
            <a:r>
              <a:rPr lang="en-US" sz="2800" b="1" dirty="0">
                <a:solidFill>
                  <a:srgbClr val="2A9D8F"/>
                </a:solidFill>
                <a:latin typeface="Calibri" pitchFamily="34" charset="0"/>
                <a:ea typeface="Calibri" pitchFamily="34" charset="-122"/>
                <a:cs typeface="Calibri" pitchFamily="34" charset="-120"/>
              </a:rPr>
              <a:t>Brake Assist System (BAS)</a:t>
            </a:r>
            <a:endParaRPr lang="en-US" sz="2800" dirty="0"/>
          </a:p>
        </p:txBody>
      </p:sp>
      <p:pic>
        <p:nvPicPr>
          <p:cNvPr id="6" name="Image 0" descr="BAS diagram — ABS, BAS solenoid, brake pedal travel sensor">    </p:cNvPr>
          <p:cNvPicPr>
            <a:picLocks noChangeAspect="1"/>
          </p:cNvPicPr>
          <p:nvPr/>
        </p:nvPicPr>
        <p:blipFill>
          <a:blip r:embed="rId1"/>
          <a:stretch>
            <a:fillRect/>
          </a:stretch>
        </p:blipFill>
        <p:spPr>
          <a:xfrm>
            <a:off x="4846320" y="822960"/>
            <a:ext cx="4069080" cy="3511296"/>
          </a:xfrm>
          <a:prstGeom prst="rect">
            <a:avLst/>
          </a:prstGeom>
        </p:spPr>
      </p:pic>
      <p:sp>
        <p:nvSpPr>
          <p:cNvPr id="7" name="Text 4"/>
          <p:cNvSpPr/>
          <p:nvPr/>
        </p:nvSpPr>
        <p:spPr>
          <a:xfrm>
            <a:off x="457200" y="1024128"/>
            <a:ext cx="4206240" cy="3474720"/>
          </a:xfrm>
          <a:prstGeom prst="rect">
            <a:avLst/>
          </a:prstGeom>
          <a:noFill/>
          <a:ln/>
        </p:spPr>
        <p:txBody>
          <a:bodyPr wrap="square" rtlCol="0" anchor="ctr"/>
          <a:lstStyle/>
          <a:p>
            <a:pPr marL="342900" indent="-342900">
              <a:spcAft>
                <a:spcPts val="500"/>
              </a:spcAft>
              <a:buSzPct val="100000"/>
              <a:buChar char="•"/>
            </a:pPr>
            <a:r>
              <a:rPr lang="en-US" sz="1100" dirty="0">
                <a:solidFill>
                  <a:srgbClr val="CCCCCC"/>
                </a:solidFill>
                <a:latin typeface="Calibri" pitchFamily="34" charset="0"/>
                <a:ea typeface="Calibri" pitchFamily="34" charset="-122"/>
                <a:cs typeface="Calibri" pitchFamily="34" charset="-120"/>
              </a:rPr>
              <a:t>BAS detects a panic stop via the brake pedal travel sensor input.</a:t>
            </a:r>
            <a:endParaRPr lang="en-US" sz="1100" dirty="0"/>
          </a:p>
          <a:p>
            <a:pPr marL="342900" indent="-342900">
              <a:spcAft>
                <a:spcPts val="500"/>
              </a:spcAft>
              <a:buSzPct val="100000"/>
              <a:buChar char="•"/>
            </a:pPr>
            <a:r>
              <a:rPr lang="en-US" sz="1100" dirty="0">
                <a:solidFill>
                  <a:srgbClr val="CCCCCC"/>
                </a:solidFill>
                <a:latin typeface="Calibri" pitchFamily="34" charset="0"/>
                <a:ea typeface="Calibri" pitchFamily="34" charset="-122"/>
                <a:cs typeface="Calibri" pitchFamily="34" charset="-120"/>
              </a:rPr>
              <a:t>When panic stop detected, ABS module energizes the BAS solenoid.</a:t>
            </a:r>
            <a:endParaRPr lang="en-US" sz="1100" dirty="0"/>
          </a:p>
          <a:p>
            <a:pPr marL="342900" indent="-342900">
              <a:spcAft>
                <a:spcPts val="500"/>
              </a:spcAft>
              <a:buSzPct val="100000"/>
              <a:buChar char="•"/>
            </a:pPr>
            <a:r>
              <a:rPr lang="en-US" sz="1100" dirty="0">
                <a:solidFill>
                  <a:srgbClr val="CCCCCC"/>
                </a:solidFill>
                <a:latin typeface="Calibri" pitchFamily="34" charset="0"/>
                <a:ea typeface="Calibri" pitchFamily="34" charset="-122"/>
                <a:cs typeface="Calibri" pitchFamily="34" charset="-120"/>
              </a:rPr>
              <a:t>Solenoid opens an air valve — atmospheric pressure floods the rear chamber at full force.</a:t>
            </a:r>
            <a:endParaRPr lang="en-US" sz="1100" dirty="0"/>
          </a:p>
          <a:p>
            <a:pPr marL="342900" indent="-342900">
              <a:spcAft>
                <a:spcPts val="500"/>
              </a:spcAft>
              <a:buSzPct val="100000"/>
              <a:buChar char="•"/>
            </a:pPr>
            <a:r>
              <a:rPr lang="en-US" sz="1100" dirty="0">
                <a:solidFill>
                  <a:srgbClr val="CCCCCC"/>
                </a:solidFill>
                <a:latin typeface="Calibri" pitchFamily="34" charset="0"/>
                <a:ea typeface="Calibri" pitchFamily="34" charset="-122"/>
                <a:cs typeface="Calibri" pitchFamily="34" charset="-120"/>
              </a:rPr>
              <a:t>Applies maximum booster assist regardless of driver pedal effort.</a:t>
            </a:r>
            <a:endParaRPr lang="en-US" sz="1100" dirty="0"/>
          </a:p>
          <a:p>
            <a:pPr marL="342900" indent="-342900">
              <a:spcAft>
                <a:spcPts val="500"/>
              </a:spcAft>
              <a:buSzPct val="100000"/>
              <a:buChar char="•"/>
            </a:pPr>
            <a:r>
              <a:rPr lang="en-US" sz="1100" dirty="0">
                <a:solidFill>
                  <a:srgbClr val="CCCCCC"/>
                </a:solidFill>
                <a:latin typeface="Calibri" pitchFamily="34" charset="0"/>
                <a:ea typeface="Calibri" pitchFamily="34" charset="-122"/>
                <a:cs typeface="Calibri" pitchFamily="34" charset="-120"/>
              </a:rPr>
              <a:t>Result: full braking force even if pedal is applied gently in an emergency.</a:t>
            </a:r>
            <a:endParaRPr lang="en-US" sz="1100" dirty="0"/>
          </a:p>
          <a:p>
            <a:pPr marL="342900" indent="-342900">
              <a:spcAft>
                <a:spcPts val="500"/>
              </a:spcAft>
              <a:buSzPct val="100000"/>
              <a:buChar char="•"/>
            </a:pPr>
            <a:r>
              <a:rPr lang="en-US" sz="1100" dirty="0">
                <a:solidFill>
                  <a:srgbClr val="CCCCCC"/>
                </a:solidFill>
                <a:latin typeface="Calibri" pitchFamily="34" charset="0"/>
                <a:ea typeface="Calibri" pitchFamily="34" charset="-122"/>
                <a:cs typeface="Calibri" pitchFamily="34" charset="-120"/>
              </a:rPr>
              <a:t>Works together with ABS during emergency stops.</a:t>
            </a:r>
            <a:endParaRPr lang="en-US" sz="1100" dirty="0"/>
          </a:p>
        </p:txBody>
      </p:sp>
      <p:sp>
        <p:nvSpPr>
          <p:cNvPr id="8" name="Shape 5"/>
          <p:cNvSpPr/>
          <p:nvPr/>
        </p:nvSpPr>
        <p:spPr>
          <a:xfrm>
            <a:off x="457200" y="4133088"/>
            <a:ext cx="4206240" cy="713232"/>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9" name="Shape 6"/>
          <p:cNvSpPr/>
          <p:nvPr/>
        </p:nvSpPr>
        <p:spPr>
          <a:xfrm>
            <a:off x="457200" y="4133088"/>
            <a:ext cx="54864" cy="713232"/>
          </a:xfrm>
          <a:prstGeom prst="rect">
            <a:avLst/>
          </a:prstGeom>
          <a:solidFill>
            <a:srgbClr val="E9A825"/>
          </a:solidFill>
          <a:ln w="12700">
            <a:solidFill>
              <a:srgbClr val="E9A825"/>
            </a:solidFill>
            <a:prstDash val="solid"/>
          </a:ln>
        </p:spPr>
      </p:sp>
      <p:sp>
        <p:nvSpPr>
          <p:cNvPr id="10" name="Text 7"/>
          <p:cNvSpPr/>
          <p:nvPr/>
        </p:nvSpPr>
        <p:spPr>
          <a:xfrm>
            <a:off x="585216" y="4224528"/>
            <a:ext cx="4005072" cy="256032"/>
          </a:xfrm>
          <a:prstGeom prst="rect">
            <a:avLst/>
          </a:prstGeom>
          <a:noFill/>
          <a:ln/>
        </p:spPr>
        <p:txBody>
          <a:bodyPr wrap="square" lIns="0" tIns="0" rIns="0" bIns="0" rtlCol="0" anchor="ctr"/>
          <a:lstStyle/>
          <a:p>
            <a:pPr indent="0" marL="0">
              <a:buNone/>
            </a:pPr>
            <a:r>
              <a:rPr lang="en-US" sz="1100" b="1" dirty="0">
                <a:solidFill>
                  <a:srgbClr val="E9A825"/>
                </a:solidFill>
                <a:latin typeface="Calibri" pitchFamily="34" charset="0"/>
                <a:ea typeface="Calibri" pitchFamily="34" charset="-122"/>
                <a:cs typeface="Calibri" pitchFamily="34" charset="-120"/>
              </a:rPr>
              <a:t>Key Point</a:t>
            </a:r>
            <a:endParaRPr lang="en-US" sz="1100" dirty="0"/>
          </a:p>
        </p:txBody>
      </p:sp>
      <p:sp>
        <p:nvSpPr>
          <p:cNvPr id="11" name="Text 8"/>
          <p:cNvSpPr/>
          <p:nvPr/>
        </p:nvSpPr>
        <p:spPr>
          <a:xfrm>
            <a:off x="585216" y="4517136"/>
            <a:ext cx="4005072" cy="219456"/>
          </a:xfrm>
          <a:prstGeom prst="rect">
            <a:avLst/>
          </a:prstGeom>
          <a:noFill/>
          <a:ln/>
        </p:spPr>
        <p:txBody>
          <a:bodyPr wrap="square" lIns="0" tIns="0" rIns="0" bIns="0" rtlCol="0" anchor="t"/>
          <a:lstStyle/>
          <a:p>
            <a:pPr indent="0" marL="0">
              <a:buNone/>
            </a:pPr>
            <a:r>
              <a:rPr lang="en-US" sz="1000" dirty="0">
                <a:solidFill>
                  <a:srgbClr val="CCCCCC"/>
                </a:solidFill>
                <a:latin typeface="Calibri" pitchFamily="34" charset="0"/>
                <a:ea typeface="Calibri" pitchFamily="34" charset="-122"/>
                <a:cs typeface="Calibri" pitchFamily="34" charset="-120"/>
              </a:rPr>
              <a:t>BAS intervenes automatically — no additional driver input required.</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2A9D8F"/>
          </a:solidFill>
          <a:ln w="12700">
            <a:solidFill>
              <a:srgbClr val="2A9D8F"/>
            </a:solidFill>
            <a:prstDash val="solid"/>
          </a:ln>
        </p:spPr>
      </p:sp>
      <p:sp>
        <p:nvSpPr>
          <p:cNvPr id="3" name="Shape 1"/>
          <p:cNvSpPr/>
          <p:nvPr/>
        </p:nvSpPr>
        <p:spPr>
          <a:xfrm>
            <a:off x="0" y="5052060"/>
            <a:ext cx="9144000" cy="91440"/>
          </a:xfrm>
          <a:prstGeom prst="rect">
            <a:avLst/>
          </a:prstGeom>
          <a:solidFill>
            <a:srgbClr val="2A9D8F"/>
          </a:solidFill>
          <a:ln w="12700">
            <a:solidFill>
              <a:srgbClr val="2A9D8F"/>
            </a:solidFill>
            <a:prstDash val="solid"/>
          </a:ln>
        </p:spPr>
      </p:sp>
      <p:sp>
        <p:nvSpPr>
          <p:cNvPr id="4" name="Shape 2"/>
          <p:cNvSpPr/>
          <p:nvPr/>
        </p:nvSpPr>
        <p:spPr>
          <a:xfrm>
            <a:off x="548640" y="1554480"/>
            <a:ext cx="91440" cy="1463040"/>
          </a:xfrm>
          <a:prstGeom prst="rect">
            <a:avLst/>
          </a:prstGeom>
          <a:solidFill>
            <a:srgbClr val="2A9D8F"/>
          </a:solidFill>
          <a:ln w="12700">
            <a:solidFill>
              <a:srgbClr val="2A9D8F"/>
            </a:solidFill>
            <a:prstDash val="solid"/>
          </a:ln>
        </p:spPr>
      </p:sp>
      <p:sp>
        <p:nvSpPr>
          <p:cNvPr id="5" name="Text 3"/>
          <p:cNvSpPr/>
          <p:nvPr/>
        </p:nvSpPr>
        <p:spPr>
          <a:xfrm>
            <a:off x="548640" y="1143000"/>
            <a:ext cx="8229600" cy="292608"/>
          </a:xfrm>
          <a:prstGeom prst="rect">
            <a:avLst/>
          </a:prstGeom>
          <a:noFill/>
          <a:ln/>
        </p:spPr>
        <p:txBody>
          <a:bodyPr wrap="square" lIns="0" tIns="0" rIns="0" bIns="0" rtlCol="0" anchor="ctr"/>
          <a:lstStyle/>
          <a:p>
            <a:pPr indent="0" marL="0">
              <a:buNone/>
            </a:pPr>
            <a:r>
              <a:rPr lang="en-US" sz="1000" b="1" spc="500" kern="0" dirty="0">
                <a:solidFill>
                  <a:srgbClr val="2A9D8F"/>
                </a:solidFill>
                <a:latin typeface="Calibri" pitchFamily="34" charset="0"/>
                <a:ea typeface="Calibri" pitchFamily="34" charset="-122"/>
                <a:cs typeface="Calibri" pitchFamily="34" charset="-120"/>
              </a:rPr>
              <a:t>SECTION 2</a:t>
            </a:r>
            <a:endParaRPr lang="en-US" sz="1000" dirty="0"/>
          </a:p>
        </p:txBody>
      </p:sp>
      <p:sp>
        <p:nvSpPr>
          <p:cNvPr id="6" name="Text 4"/>
          <p:cNvSpPr/>
          <p:nvPr/>
        </p:nvSpPr>
        <p:spPr>
          <a:xfrm>
            <a:off x="777240" y="1554480"/>
            <a:ext cx="7863840" cy="1463040"/>
          </a:xfrm>
          <a:prstGeom prst="rect">
            <a:avLst/>
          </a:prstGeom>
          <a:noFill/>
          <a:ln/>
        </p:spPr>
        <p:txBody>
          <a:bodyPr wrap="square" lIns="0" tIns="0" rIns="0" bIns="0" rtlCol="0" anchor="ctr"/>
          <a:lstStyle/>
          <a:p>
            <a:pPr indent="0" marL="0">
              <a:buNone/>
            </a:pPr>
            <a:r>
              <a:rPr lang="en-US" sz="5000" b="1" dirty="0">
                <a:solidFill>
                  <a:srgbClr val="FFFFFF"/>
                </a:solidFill>
                <a:latin typeface="Calibri" pitchFamily="34" charset="0"/>
                <a:ea typeface="Calibri" pitchFamily="34" charset="-122"/>
                <a:cs typeface="Calibri" pitchFamily="34" charset="-120"/>
              </a:rPr>
              <a:t>Booster Testing</a:t>
            </a:r>
            <a:endParaRPr lang="en-US" sz="5000" dirty="0"/>
          </a:p>
        </p:txBody>
      </p:sp>
      <p:sp>
        <p:nvSpPr>
          <p:cNvPr id="7" name="Text 5"/>
          <p:cNvSpPr/>
          <p:nvPr/>
        </p:nvSpPr>
        <p:spPr>
          <a:xfrm>
            <a:off x="777240" y="3154680"/>
            <a:ext cx="7863840" cy="347472"/>
          </a:xfrm>
          <a:prstGeom prst="rect">
            <a:avLst/>
          </a:prstGeom>
          <a:noFill/>
          <a:ln/>
        </p:spPr>
        <p:txBody>
          <a:bodyPr wrap="square" lIns="0" tIns="0" rIns="0" bIns="0" rtlCol="0" anchor="ctr"/>
          <a:lstStyle/>
          <a:p>
            <a:pPr indent="0" marL="0">
              <a:buNone/>
            </a:pPr>
            <a:r>
              <a:rPr lang="en-US" sz="1400" dirty="0">
                <a:solidFill>
                  <a:srgbClr val="CCCCCC"/>
                </a:solidFill>
                <a:latin typeface="Calibri" pitchFamily="34" charset="0"/>
                <a:ea typeface="Calibri" pitchFamily="34" charset="-122"/>
                <a:cs typeface="Calibri" pitchFamily="34" charset="-120"/>
              </a:rPr>
              <a:t>Vacuum supply  ·  Depletion  ·  Operation check  ·  Check valve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2A9D8F"/>
          </a:solidFill>
          <a:ln w="12700">
            <a:solidFill>
              <a:srgbClr val="2A9D8F"/>
            </a:solidFill>
            <a:prstDash val="solid"/>
          </a:ln>
        </p:spPr>
      </p:sp>
      <p:sp>
        <p:nvSpPr>
          <p:cNvPr id="3" name="Shape 1"/>
          <p:cNvSpPr/>
          <p:nvPr/>
        </p:nvSpPr>
        <p:spPr>
          <a:xfrm>
            <a:off x="0" y="5079492"/>
            <a:ext cx="9144000" cy="64008"/>
          </a:xfrm>
          <a:prstGeom prst="rect">
            <a:avLst/>
          </a:prstGeom>
          <a:solidFill>
            <a:srgbClr val="2A9D8F"/>
          </a:solidFill>
          <a:ln w="12700">
            <a:solidFill>
              <a:srgbClr val="2A9D8F"/>
            </a:solidFill>
            <a:prstDash val="solid"/>
          </a:ln>
        </p:spPr>
      </p:sp>
      <p:sp>
        <p:nvSpPr>
          <p:cNvPr id="4" name="Text 2"/>
          <p:cNvSpPr/>
          <p:nvPr/>
        </p:nvSpPr>
        <p:spPr>
          <a:xfrm>
            <a:off x="457200" y="118872"/>
            <a:ext cx="8229600" cy="201168"/>
          </a:xfrm>
          <a:prstGeom prst="rect">
            <a:avLst/>
          </a:prstGeom>
          <a:noFill/>
          <a:ln/>
        </p:spPr>
        <p:txBody>
          <a:bodyPr wrap="square" lIns="0" tIns="0" rIns="0" bIns="0" rtlCol="0" anchor="ctr"/>
          <a:lstStyle/>
          <a:p>
            <a:pPr indent="0" marL="0">
              <a:buNone/>
            </a:pPr>
            <a:r>
              <a:rPr lang="en-US" sz="800" b="1" spc="400" kern="0" dirty="0">
                <a:solidFill>
                  <a:srgbClr val="2A9D8F"/>
                </a:solidFill>
                <a:latin typeface="Calibri" pitchFamily="34" charset="0"/>
                <a:ea typeface="Calibri" pitchFamily="34" charset="-122"/>
                <a:cs typeface="Calibri" pitchFamily="34" charset="-120"/>
              </a:rPr>
              <a:t>BOOSTER TESTING</a:t>
            </a:r>
            <a:endParaRPr lang="en-US" sz="800" dirty="0"/>
          </a:p>
        </p:txBody>
      </p:sp>
      <p:sp>
        <p:nvSpPr>
          <p:cNvPr id="5" name="Text 3"/>
          <p:cNvSpPr/>
          <p:nvPr/>
        </p:nvSpPr>
        <p:spPr>
          <a:xfrm>
            <a:off x="457200" y="384048"/>
            <a:ext cx="8229600" cy="530352"/>
          </a:xfrm>
          <a:prstGeom prst="rect">
            <a:avLst/>
          </a:prstGeom>
          <a:noFill/>
          <a:ln/>
        </p:spPr>
        <p:txBody>
          <a:bodyPr wrap="square" lIns="0" tIns="0" rIns="0" bIns="0" rtlCol="0" anchor="ctr"/>
          <a:lstStyle/>
          <a:p>
            <a:pPr indent="0" marL="0">
              <a:buNone/>
            </a:pPr>
            <a:r>
              <a:rPr lang="en-US" sz="2800" b="1" dirty="0">
                <a:solidFill>
                  <a:srgbClr val="2A9D8F"/>
                </a:solidFill>
                <a:latin typeface="Calibri" pitchFamily="34" charset="0"/>
                <a:ea typeface="Calibri" pitchFamily="34" charset="-122"/>
                <a:cs typeface="Calibri" pitchFamily="34" charset="-120"/>
              </a:rPr>
              <a:t>Quick Booster Operation Test</a:t>
            </a:r>
            <a:endParaRPr lang="en-US" sz="2800" dirty="0"/>
          </a:p>
        </p:txBody>
      </p:sp>
      <p:sp>
        <p:nvSpPr>
          <p:cNvPr id="6" name="Text 4"/>
          <p:cNvSpPr/>
          <p:nvPr/>
        </p:nvSpPr>
        <p:spPr>
          <a:xfrm>
            <a:off x="457200" y="987552"/>
            <a:ext cx="8229600" cy="237744"/>
          </a:xfrm>
          <a:prstGeom prst="rect">
            <a:avLst/>
          </a:prstGeom>
          <a:noFill/>
          <a:ln/>
        </p:spPr>
        <p:txBody>
          <a:bodyPr wrap="square" lIns="0" tIns="0" rIns="0" bIns="0" rtlCol="0" anchor="ctr"/>
          <a:lstStyle/>
          <a:p>
            <a:pPr indent="0" marL="0">
              <a:buNone/>
            </a:pPr>
            <a:r>
              <a:rPr lang="en-US" sz="1000" i="1" dirty="0">
                <a:solidFill>
                  <a:srgbClr val="888888"/>
                </a:solidFill>
                <a:latin typeface="Calibri" pitchFamily="34" charset="0"/>
                <a:ea typeface="Calibri" pitchFamily="34" charset="-122"/>
                <a:cs typeface="Calibri" pitchFamily="34" charset="-120"/>
              </a:rPr>
              <a:t>Confirms the booster is functioning. Engine must be warm and running.</a:t>
            </a:r>
            <a:endParaRPr lang="en-US" sz="1000" dirty="0"/>
          </a:p>
        </p:txBody>
      </p:sp>
      <p:sp>
        <p:nvSpPr>
          <p:cNvPr id="7" name="Shape 5"/>
          <p:cNvSpPr/>
          <p:nvPr/>
        </p:nvSpPr>
        <p:spPr>
          <a:xfrm>
            <a:off x="411480" y="1335024"/>
            <a:ext cx="4206240" cy="1572768"/>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8" name="Shape 6"/>
          <p:cNvSpPr/>
          <p:nvPr/>
        </p:nvSpPr>
        <p:spPr>
          <a:xfrm>
            <a:off x="411480" y="1335024"/>
            <a:ext cx="54864" cy="1572768"/>
          </a:xfrm>
          <a:prstGeom prst="rect">
            <a:avLst/>
          </a:prstGeom>
          <a:solidFill>
            <a:srgbClr val="2A9D8F"/>
          </a:solidFill>
          <a:ln w="12700">
            <a:solidFill>
              <a:srgbClr val="2A9D8F"/>
            </a:solidFill>
            <a:prstDash val="solid"/>
          </a:ln>
        </p:spPr>
      </p:sp>
      <p:sp>
        <p:nvSpPr>
          <p:cNvPr id="9" name="Shape 7"/>
          <p:cNvSpPr/>
          <p:nvPr/>
        </p:nvSpPr>
        <p:spPr>
          <a:xfrm>
            <a:off x="530352" y="1444752"/>
            <a:ext cx="347472" cy="347472"/>
          </a:xfrm>
          <a:prstGeom prst="ellipse">
            <a:avLst/>
          </a:prstGeom>
          <a:solidFill>
            <a:srgbClr val="2A9D8F"/>
          </a:solidFill>
          <a:ln w="12700">
            <a:solidFill>
              <a:srgbClr val="2A9D8F"/>
            </a:solidFill>
            <a:prstDash val="solid"/>
          </a:ln>
        </p:spPr>
      </p:sp>
      <p:sp>
        <p:nvSpPr>
          <p:cNvPr id="10" name="Text 8"/>
          <p:cNvSpPr/>
          <p:nvPr/>
        </p:nvSpPr>
        <p:spPr>
          <a:xfrm>
            <a:off x="530352" y="144475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9"/>
          <p:cNvSpPr/>
          <p:nvPr/>
        </p:nvSpPr>
        <p:spPr>
          <a:xfrm>
            <a:off x="978408" y="1426464"/>
            <a:ext cx="3547872"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Start Engine</a:t>
            </a:r>
            <a:endParaRPr lang="en-US" sz="1100" dirty="0"/>
          </a:p>
        </p:txBody>
      </p:sp>
      <p:sp>
        <p:nvSpPr>
          <p:cNvPr id="12" name="Text 10"/>
          <p:cNvSpPr/>
          <p:nvPr/>
        </p:nvSpPr>
        <p:spPr>
          <a:xfrm>
            <a:off x="978408" y="1719072"/>
            <a:ext cx="3547872" cy="1078992"/>
          </a:xfrm>
          <a:prstGeom prst="rect">
            <a:avLst/>
          </a:prstGeom>
          <a:noFill/>
          <a:ln/>
        </p:spPr>
        <p:txBody>
          <a:bodyPr wrap="square" lIns="0" tIns="0" rIns="0" bIns="0" rtlCol="0" anchor="t"/>
          <a:lstStyle/>
          <a:p>
            <a:pPr indent="0" marL="0">
              <a:buNone/>
            </a:pPr>
            <a:r>
              <a:rPr lang="en-US" sz="950" dirty="0">
                <a:solidFill>
                  <a:srgbClr val="CCCCCC"/>
                </a:solidFill>
                <a:latin typeface="Calibri" pitchFamily="34" charset="0"/>
                <a:ea typeface="Calibri" pitchFamily="34" charset="-122"/>
                <a:cs typeface="Calibri" pitchFamily="34" charset="-120"/>
              </a:rPr>
              <a:t>Run engine for at least 30 seconds to build vacuum. Engine must be at operating temperature for an accurate test.</a:t>
            </a:r>
            <a:endParaRPr lang="en-US" sz="950" dirty="0"/>
          </a:p>
        </p:txBody>
      </p:sp>
      <p:sp>
        <p:nvSpPr>
          <p:cNvPr id="13" name="Shape 11"/>
          <p:cNvSpPr/>
          <p:nvPr/>
        </p:nvSpPr>
        <p:spPr>
          <a:xfrm>
            <a:off x="4800600" y="1335024"/>
            <a:ext cx="4206240" cy="1572768"/>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14" name="Shape 12"/>
          <p:cNvSpPr/>
          <p:nvPr/>
        </p:nvSpPr>
        <p:spPr>
          <a:xfrm>
            <a:off x="4800600" y="1335024"/>
            <a:ext cx="54864" cy="1572768"/>
          </a:xfrm>
          <a:prstGeom prst="rect">
            <a:avLst/>
          </a:prstGeom>
          <a:solidFill>
            <a:srgbClr val="2A9D8F"/>
          </a:solidFill>
          <a:ln w="12700">
            <a:solidFill>
              <a:srgbClr val="2A9D8F"/>
            </a:solidFill>
            <a:prstDash val="solid"/>
          </a:ln>
        </p:spPr>
      </p:sp>
      <p:sp>
        <p:nvSpPr>
          <p:cNvPr id="15" name="Shape 13"/>
          <p:cNvSpPr/>
          <p:nvPr/>
        </p:nvSpPr>
        <p:spPr>
          <a:xfrm>
            <a:off x="4919472" y="1444752"/>
            <a:ext cx="347472" cy="347472"/>
          </a:xfrm>
          <a:prstGeom prst="ellipse">
            <a:avLst/>
          </a:prstGeom>
          <a:solidFill>
            <a:srgbClr val="2A9D8F"/>
          </a:solidFill>
          <a:ln w="12700">
            <a:solidFill>
              <a:srgbClr val="2A9D8F"/>
            </a:solidFill>
            <a:prstDash val="solid"/>
          </a:ln>
        </p:spPr>
      </p:sp>
      <p:sp>
        <p:nvSpPr>
          <p:cNvPr id="16" name="Text 14"/>
          <p:cNvSpPr/>
          <p:nvPr/>
        </p:nvSpPr>
        <p:spPr>
          <a:xfrm>
            <a:off x="4919472" y="144475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5"/>
          <p:cNvSpPr/>
          <p:nvPr/>
        </p:nvSpPr>
        <p:spPr>
          <a:xfrm>
            <a:off x="5367528" y="1426464"/>
            <a:ext cx="3547872"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Pump to Deplete</a:t>
            </a:r>
            <a:endParaRPr lang="en-US" sz="1100" dirty="0"/>
          </a:p>
        </p:txBody>
      </p:sp>
      <p:sp>
        <p:nvSpPr>
          <p:cNvPr id="18" name="Text 16"/>
          <p:cNvSpPr/>
          <p:nvPr/>
        </p:nvSpPr>
        <p:spPr>
          <a:xfrm>
            <a:off x="5367528" y="1719072"/>
            <a:ext cx="3547872" cy="1078992"/>
          </a:xfrm>
          <a:prstGeom prst="rect">
            <a:avLst/>
          </a:prstGeom>
          <a:noFill/>
          <a:ln/>
        </p:spPr>
        <p:txBody>
          <a:bodyPr wrap="square" lIns="0" tIns="0" rIns="0" bIns="0" rtlCol="0" anchor="t"/>
          <a:lstStyle/>
          <a:p>
            <a:pPr indent="0" marL="0">
              <a:buNone/>
            </a:pPr>
            <a:r>
              <a:rPr lang="en-US" sz="950" dirty="0">
                <a:solidFill>
                  <a:srgbClr val="CCCCCC"/>
                </a:solidFill>
                <a:latin typeface="Calibri" pitchFamily="34" charset="0"/>
                <a:ea typeface="Calibri" pitchFamily="34" charset="-122"/>
                <a:cs typeface="Calibri" pitchFamily="34" charset="-120"/>
              </a:rPr>
              <a:t>Engine OFF — pump brake pedal 5–7 times until the pedal feels hard and resistance is firm. Vacuum is now depleted.</a:t>
            </a:r>
            <a:endParaRPr lang="en-US" sz="950" dirty="0"/>
          </a:p>
        </p:txBody>
      </p:sp>
      <p:sp>
        <p:nvSpPr>
          <p:cNvPr id="19" name="Shape 17"/>
          <p:cNvSpPr/>
          <p:nvPr/>
        </p:nvSpPr>
        <p:spPr>
          <a:xfrm>
            <a:off x="411480" y="3054096"/>
            <a:ext cx="4206240" cy="1572768"/>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20" name="Shape 18"/>
          <p:cNvSpPr/>
          <p:nvPr/>
        </p:nvSpPr>
        <p:spPr>
          <a:xfrm>
            <a:off x="411480" y="3054096"/>
            <a:ext cx="54864" cy="1572768"/>
          </a:xfrm>
          <a:prstGeom prst="rect">
            <a:avLst/>
          </a:prstGeom>
          <a:solidFill>
            <a:srgbClr val="E9A825"/>
          </a:solidFill>
          <a:ln w="12700">
            <a:solidFill>
              <a:srgbClr val="E9A825"/>
            </a:solidFill>
            <a:prstDash val="solid"/>
          </a:ln>
        </p:spPr>
      </p:sp>
      <p:sp>
        <p:nvSpPr>
          <p:cNvPr id="21" name="Shape 19"/>
          <p:cNvSpPr/>
          <p:nvPr/>
        </p:nvSpPr>
        <p:spPr>
          <a:xfrm>
            <a:off x="530352" y="3163824"/>
            <a:ext cx="347472" cy="347472"/>
          </a:xfrm>
          <a:prstGeom prst="ellipse">
            <a:avLst/>
          </a:prstGeom>
          <a:solidFill>
            <a:srgbClr val="E9A825"/>
          </a:solidFill>
          <a:ln w="12700">
            <a:solidFill>
              <a:srgbClr val="E9A825"/>
            </a:solidFill>
            <a:prstDash val="solid"/>
          </a:ln>
        </p:spPr>
      </p:sp>
      <p:sp>
        <p:nvSpPr>
          <p:cNvPr id="22" name="Text 20"/>
          <p:cNvSpPr/>
          <p:nvPr/>
        </p:nvSpPr>
        <p:spPr>
          <a:xfrm>
            <a:off x="530352" y="3163824"/>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3" name="Text 21"/>
          <p:cNvSpPr/>
          <p:nvPr/>
        </p:nvSpPr>
        <p:spPr>
          <a:xfrm>
            <a:off x="978408" y="3145536"/>
            <a:ext cx="3547872"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Hold Steady Pressure</a:t>
            </a:r>
            <a:endParaRPr lang="en-US" sz="1100" dirty="0"/>
          </a:p>
        </p:txBody>
      </p:sp>
      <p:sp>
        <p:nvSpPr>
          <p:cNvPr id="24" name="Text 22"/>
          <p:cNvSpPr/>
          <p:nvPr/>
        </p:nvSpPr>
        <p:spPr>
          <a:xfrm>
            <a:off x="978408" y="3438144"/>
            <a:ext cx="3547872" cy="1078992"/>
          </a:xfrm>
          <a:prstGeom prst="rect">
            <a:avLst/>
          </a:prstGeom>
          <a:noFill/>
          <a:ln/>
        </p:spPr>
        <p:txBody>
          <a:bodyPr wrap="square" lIns="0" tIns="0" rIns="0" bIns="0" rtlCol="0" anchor="t"/>
          <a:lstStyle/>
          <a:p>
            <a:pPr indent="0" marL="0">
              <a:buNone/>
            </a:pPr>
            <a:r>
              <a:rPr lang="en-US" sz="950" dirty="0">
                <a:solidFill>
                  <a:srgbClr val="CCCCCC"/>
                </a:solidFill>
                <a:latin typeface="Calibri" pitchFamily="34" charset="0"/>
                <a:ea typeface="Calibri" pitchFamily="34" charset="-122"/>
                <a:cs typeface="Calibri" pitchFamily="34" charset="-120"/>
              </a:rPr>
              <a:t>Apply firm, steady foot pressure to the brake pedal. Maintain constant pressure — do not release.</a:t>
            </a:r>
            <a:endParaRPr lang="en-US" sz="950" dirty="0"/>
          </a:p>
        </p:txBody>
      </p:sp>
      <p:sp>
        <p:nvSpPr>
          <p:cNvPr id="25" name="Shape 23"/>
          <p:cNvSpPr/>
          <p:nvPr/>
        </p:nvSpPr>
        <p:spPr>
          <a:xfrm>
            <a:off x="4800600" y="3054096"/>
            <a:ext cx="4206240" cy="1572768"/>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26" name="Shape 24"/>
          <p:cNvSpPr/>
          <p:nvPr/>
        </p:nvSpPr>
        <p:spPr>
          <a:xfrm>
            <a:off x="4800600" y="3054096"/>
            <a:ext cx="54864" cy="1572768"/>
          </a:xfrm>
          <a:prstGeom prst="rect">
            <a:avLst/>
          </a:prstGeom>
          <a:solidFill>
            <a:srgbClr val="E9A825"/>
          </a:solidFill>
          <a:ln w="12700">
            <a:solidFill>
              <a:srgbClr val="E9A825"/>
            </a:solidFill>
            <a:prstDash val="solid"/>
          </a:ln>
        </p:spPr>
      </p:sp>
      <p:sp>
        <p:nvSpPr>
          <p:cNvPr id="27" name="Shape 25"/>
          <p:cNvSpPr/>
          <p:nvPr/>
        </p:nvSpPr>
        <p:spPr>
          <a:xfrm>
            <a:off x="4919472" y="3163824"/>
            <a:ext cx="347472" cy="347472"/>
          </a:xfrm>
          <a:prstGeom prst="ellipse">
            <a:avLst/>
          </a:prstGeom>
          <a:solidFill>
            <a:srgbClr val="E9A825"/>
          </a:solidFill>
          <a:ln w="12700">
            <a:solidFill>
              <a:srgbClr val="E9A825"/>
            </a:solidFill>
            <a:prstDash val="solid"/>
          </a:ln>
        </p:spPr>
      </p:sp>
      <p:sp>
        <p:nvSpPr>
          <p:cNvPr id="28" name="Text 26"/>
          <p:cNvSpPr/>
          <p:nvPr/>
        </p:nvSpPr>
        <p:spPr>
          <a:xfrm>
            <a:off x="4919472" y="3163824"/>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9" name="Text 27"/>
          <p:cNvSpPr/>
          <p:nvPr/>
        </p:nvSpPr>
        <p:spPr>
          <a:xfrm>
            <a:off x="5367528" y="3145536"/>
            <a:ext cx="3547872"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Start Engine — Observe Pedal</a:t>
            </a:r>
            <a:endParaRPr lang="en-US" sz="1100" dirty="0"/>
          </a:p>
        </p:txBody>
      </p:sp>
      <p:sp>
        <p:nvSpPr>
          <p:cNvPr id="30" name="Text 28"/>
          <p:cNvSpPr/>
          <p:nvPr/>
        </p:nvSpPr>
        <p:spPr>
          <a:xfrm>
            <a:off x="5367528" y="3438144"/>
            <a:ext cx="3547872" cy="1078992"/>
          </a:xfrm>
          <a:prstGeom prst="rect">
            <a:avLst/>
          </a:prstGeom>
          <a:noFill/>
          <a:ln/>
        </p:spPr>
        <p:txBody>
          <a:bodyPr wrap="square" lIns="0" tIns="0" rIns="0" bIns="0" rtlCol="0" anchor="t"/>
          <a:lstStyle/>
          <a:p>
            <a:pPr indent="0" marL="0">
              <a:buNone/>
            </a:pPr>
            <a:r>
              <a:rPr lang="en-US" sz="950" dirty="0">
                <a:solidFill>
                  <a:srgbClr val="CCCCCC"/>
                </a:solidFill>
                <a:latin typeface="Calibri" pitchFamily="34" charset="0"/>
                <a:ea typeface="Calibri" pitchFamily="34" charset="-122"/>
                <a:cs typeface="Calibri" pitchFamily="34" charset="-120"/>
              </a:rPr>
              <a:t>Start engine while holding pedal pressure. A working booster will cause the pedal to noticeably drop/sink as vacuum builds.</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2A9D8F"/>
          </a:solidFill>
          <a:ln w="12700">
            <a:solidFill>
              <a:srgbClr val="2A9D8F"/>
            </a:solidFill>
            <a:prstDash val="solid"/>
          </a:ln>
        </p:spPr>
      </p:sp>
      <p:sp>
        <p:nvSpPr>
          <p:cNvPr id="3" name="Shape 1"/>
          <p:cNvSpPr/>
          <p:nvPr/>
        </p:nvSpPr>
        <p:spPr>
          <a:xfrm>
            <a:off x="0" y="5079492"/>
            <a:ext cx="9144000" cy="64008"/>
          </a:xfrm>
          <a:prstGeom prst="rect">
            <a:avLst/>
          </a:prstGeom>
          <a:solidFill>
            <a:srgbClr val="2A9D8F"/>
          </a:solidFill>
          <a:ln w="12700">
            <a:solidFill>
              <a:srgbClr val="2A9D8F"/>
            </a:solidFill>
            <a:prstDash val="solid"/>
          </a:ln>
        </p:spPr>
      </p:sp>
      <p:sp>
        <p:nvSpPr>
          <p:cNvPr id="4" name="Text 2"/>
          <p:cNvSpPr/>
          <p:nvPr/>
        </p:nvSpPr>
        <p:spPr>
          <a:xfrm>
            <a:off x="457200" y="118872"/>
            <a:ext cx="8229600" cy="201168"/>
          </a:xfrm>
          <a:prstGeom prst="rect">
            <a:avLst/>
          </a:prstGeom>
          <a:noFill/>
          <a:ln/>
        </p:spPr>
        <p:txBody>
          <a:bodyPr wrap="square" lIns="0" tIns="0" rIns="0" bIns="0" rtlCol="0" anchor="ctr"/>
          <a:lstStyle/>
          <a:p>
            <a:pPr indent="0" marL="0">
              <a:buNone/>
            </a:pPr>
            <a:r>
              <a:rPr lang="en-US" sz="800" b="1" spc="400" kern="0" dirty="0">
                <a:solidFill>
                  <a:srgbClr val="2A9D8F"/>
                </a:solidFill>
                <a:latin typeface="Calibri" pitchFamily="34" charset="0"/>
                <a:ea typeface="Calibri" pitchFamily="34" charset="-122"/>
                <a:cs typeface="Calibri" pitchFamily="34" charset="-120"/>
              </a:rPr>
              <a:t>BOOSTER TESTING</a:t>
            </a:r>
            <a:endParaRPr lang="en-US" sz="800" dirty="0"/>
          </a:p>
        </p:txBody>
      </p:sp>
      <p:sp>
        <p:nvSpPr>
          <p:cNvPr id="5" name="Text 3"/>
          <p:cNvSpPr/>
          <p:nvPr/>
        </p:nvSpPr>
        <p:spPr>
          <a:xfrm>
            <a:off x="457200" y="384048"/>
            <a:ext cx="8229600" cy="530352"/>
          </a:xfrm>
          <a:prstGeom prst="rect">
            <a:avLst/>
          </a:prstGeom>
          <a:noFill/>
          <a:ln/>
        </p:spPr>
        <p:txBody>
          <a:bodyPr wrap="square" lIns="0" tIns="0" rIns="0" bIns="0" rtlCol="0" anchor="ctr"/>
          <a:lstStyle/>
          <a:p>
            <a:pPr indent="0" marL="0">
              <a:buNone/>
            </a:pPr>
            <a:r>
              <a:rPr lang="en-US" sz="2800" b="1" dirty="0">
                <a:solidFill>
                  <a:srgbClr val="2A9D8F"/>
                </a:solidFill>
                <a:latin typeface="Calibri" pitchFamily="34" charset="0"/>
                <a:ea typeface="Calibri" pitchFamily="34" charset="-122"/>
                <a:cs typeface="Calibri" pitchFamily="34" charset="-120"/>
              </a:rPr>
              <a:t>Vacuum Booster Leak Test</a:t>
            </a:r>
            <a:endParaRPr lang="en-US" sz="2800" dirty="0"/>
          </a:p>
        </p:txBody>
      </p:sp>
      <p:sp>
        <p:nvSpPr>
          <p:cNvPr id="6" name="Text 4"/>
          <p:cNvSpPr/>
          <p:nvPr/>
        </p:nvSpPr>
        <p:spPr>
          <a:xfrm>
            <a:off x="457200" y="987552"/>
            <a:ext cx="8229600" cy="237744"/>
          </a:xfrm>
          <a:prstGeom prst="rect">
            <a:avLst/>
          </a:prstGeom>
          <a:noFill/>
          <a:ln/>
        </p:spPr>
        <p:txBody>
          <a:bodyPr wrap="square" lIns="0" tIns="0" rIns="0" bIns="0" rtlCol="0" anchor="ctr"/>
          <a:lstStyle/>
          <a:p>
            <a:pPr indent="0" marL="0">
              <a:buNone/>
            </a:pPr>
            <a:r>
              <a:rPr lang="en-US" sz="1000" i="1" dirty="0">
                <a:solidFill>
                  <a:srgbClr val="888888"/>
                </a:solidFill>
                <a:latin typeface="Calibri" pitchFamily="34" charset="0"/>
                <a:ea typeface="Calibri" pitchFamily="34" charset="-122"/>
                <a:cs typeface="Calibri" pitchFamily="34" charset="-120"/>
              </a:rPr>
              <a:t>Tests the integrity of the booster diaphragm and check valve. Engine OFF.</a:t>
            </a:r>
            <a:endParaRPr lang="en-US" sz="1000" dirty="0"/>
          </a:p>
        </p:txBody>
      </p:sp>
      <p:sp>
        <p:nvSpPr>
          <p:cNvPr id="7" name="Shape 5"/>
          <p:cNvSpPr/>
          <p:nvPr/>
        </p:nvSpPr>
        <p:spPr>
          <a:xfrm>
            <a:off x="411480" y="1335024"/>
            <a:ext cx="8321040" cy="1170432"/>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8" name="Shape 6"/>
          <p:cNvSpPr/>
          <p:nvPr/>
        </p:nvSpPr>
        <p:spPr>
          <a:xfrm>
            <a:off x="411480" y="1335024"/>
            <a:ext cx="54864" cy="1170432"/>
          </a:xfrm>
          <a:prstGeom prst="rect">
            <a:avLst/>
          </a:prstGeom>
          <a:solidFill>
            <a:srgbClr val="2A9D8F"/>
          </a:solidFill>
          <a:ln w="12700">
            <a:solidFill>
              <a:srgbClr val="2A9D8F"/>
            </a:solidFill>
            <a:prstDash val="solid"/>
          </a:ln>
        </p:spPr>
      </p:sp>
      <p:sp>
        <p:nvSpPr>
          <p:cNvPr id="9" name="Shape 7"/>
          <p:cNvSpPr/>
          <p:nvPr/>
        </p:nvSpPr>
        <p:spPr>
          <a:xfrm>
            <a:off x="530352" y="1444752"/>
            <a:ext cx="347472" cy="347472"/>
          </a:xfrm>
          <a:prstGeom prst="ellipse">
            <a:avLst/>
          </a:prstGeom>
          <a:solidFill>
            <a:srgbClr val="2A9D8F"/>
          </a:solidFill>
          <a:ln w="12700">
            <a:solidFill>
              <a:srgbClr val="2A9D8F"/>
            </a:solidFill>
            <a:prstDash val="solid"/>
          </a:ln>
        </p:spPr>
      </p:sp>
      <p:sp>
        <p:nvSpPr>
          <p:cNvPr id="10" name="Text 8"/>
          <p:cNvSpPr/>
          <p:nvPr/>
        </p:nvSpPr>
        <p:spPr>
          <a:xfrm>
            <a:off x="530352" y="144475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9"/>
          <p:cNvSpPr/>
          <p:nvPr/>
        </p:nvSpPr>
        <p:spPr>
          <a:xfrm>
            <a:off x="978408" y="1426464"/>
            <a:ext cx="7662672"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Operate the Engine — Shut Off</a:t>
            </a:r>
            <a:endParaRPr lang="en-US" sz="1100" dirty="0"/>
          </a:p>
        </p:txBody>
      </p:sp>
      <p:sp>
        <p:nvSpPr>
          <p:cNvPr id="12" name="Text 10"/>
          <p:cNvSpPr/>
          <p:nvPr/>
        </p:nvSpPr>
        <p:spPr>
          <a:xfrm>
            <a:off x="978408" y="1719072"/>
            <a:ext cx="7662672" cy="676656"/>
          </a:xfrm>
          <a:prstGeom prst="rect">
            <a:avLst/>
          </a:prstGeom>
          <a:noFill/>
          <a:ln/>
        </p:spPr>
        <p:txBody>
          <a:bodyPr wrap="square" lIns="0" tIns="0" rIns="0" bIns="0" rtlCol="0" anchor="t"/>
          <a:lstStyle/>
          <a:p>
            <a:pPr indent="0" marL="0">
              <a:buNone/>
            </a:pPr>
            <a:r>
              <a:rPr lang="en-US" sz="950" dirty="0">
                <a:solidFill>
                  <a:srgbClr val="CCCCCC"/>
                </a:solidFill>
                <a:latin typeface="Calibri" pitchFamily="34" charset="0"/>
                <a:ea typeface="Calibri" pitchFamily="34" charset="-122"/>
                <a:cs typeface="Calibri" pitchFamily="34" charset="-120"/>
              </a:rPr>
              <a:t>Run engine for 30+ seconds to fully charge the booster with vacuum. Then shut the engine off.</a:t>
            </a:r>
            <a:endParaRPr lang="en-US" sz="950" dirty="0"/>
          </a:p>
        </p:txBody>
      </p:sp>
      <p:sp>
        <p:nvSpPr>
          <p:cNvPr id="13" name="Shape 11"/>
          <p:cNvSpPr/>
          <p:nvPr/>
        </p:nvSpPr>
        <p:spPr>
          <a:xfrm>
            <a:off x="411480" y="2615184"/>
            <a:ext cx="8321040" cy="1170432"/>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14" name="Shape 12"/>
          <p:cNvSpPr/>
          <p:nvPr/>
        </p:nvSpPr>
        <p:spPr>
          <a:xfrm>
            <a:off x="411480" y="2615184"/>
            <a:ext cx="54864" cy="1170432"/>
          </a:xfrm>
          <a:prstGeom prst="rect">
            <a:avLst/>
          </a:prstGeom>
          <a:solidFill>
            <a:srgbClr val="2A9D8F"/>
          </a:solidFill>
          <a:ln w="12700">
            <a:solidFill>
              <a:srgbClr val="2A9D8F"/>
            </a:solidFill>
            <a:prstDash val="solid"/>
          </a:ln>
        </p:spPr>
      </p:sp>
      <p:sp>
        <p:nvSpPr>
          <p:cNvPr id="15" name="Shape 13"/>
          <p:cNvSpPr/>
          <p:nvPr/>
        </p:nvSpPr>
        <p:spPr>
          <a:xfrm>
            <a:off x="530352" y="2724912"/>
            <a:ext cx="347472" cy="347472"/>
          </a:xfrm>
          <a:prstGeom prst="ellipse">
            <a:avLst/>
          </a:prstGeom>
          <a:solidFill>
            <a:srgbClr val="2A9D8F"/>
          </a:solidFill>
          <a:ln w="12700">
            <a:solidFill>
              <a:srgbClr val="2A9D8F"/>
            </a:solidFill>
            <a:prstDash val="solid"/>
          </a:ln>
        </p:spPr>
      </p:sp>
      <p:sp>
        <p:nvSpPr>
          <p:cNvPr id="16" name="Text 14"/>
          <p:cNvSpPr/>
          <p:nvPr/>
        </p:nvSpPr>
        <p:spPr>
          <a:xfrm>
            <a:off x="530352" y="272491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5"/>
          <p:cNvSpPr/>
          <p:nvPr/>
        </p:nvSpPr>
        <p:spPr>
          <a:xfrm>
            <a:off x="978408" y="2706624"/>
            <a:ext cx="7662672"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Wait One Minute</a:t>
            </a:r>
            <a:endParaRPr lang="en-US" sz="1100" dirty="0"/>
          </a:p>
        </p:txBody>
      </p:sp>
      <p:sp>
        <p:nvSpPr>
          <p:cNvPr id="18" name="Text 16"/>
          <p:cNvSpPr/>
          <p:nvPr/>
        </p:nvSpPr>
        <p:spPr>
          <a:xfrm>
            <a:off x="978408" y="2999232"/>
            <a:ext cx="7662672" cy="676656"/>
          </a:xfrm>
          <a:prstGeom prst="rect">
            <a:avLst/>
          </a:prstGeom>
          <a:noFill/>
          <a:ln/>
        </p:spPr>
        <p:txBody>
          <a:bodyPr wrap="square" lIns="0" tIns="0" rIns="0" bIns="0" rtlCol="0" anchor="t"/>
          <a:lstStyle/>
          <a:p>
            <a:pPr indent="0" marL="0">
              <a:buNone/>
            </a:pPr>
            <a:r>
              <a:rPr lang="en-US" sz="950" dirty="0">
                <a:solidFill>
                  <a:srgbClr val="CCCCCC"/>
                </a:solidFill>
                <a:latin typeface="Calibri" pitchFamily="34" charset="0"/>
                <a:ea typeface="Calibri" pitchFamily="34" charset="-122"/>
                <a:cs typeface="Calibri" pitchFamily="34" charset="-120"/>
              </a:rPr>
              <a:t>Do not touch the pedal. Let the booster sit with stored vacuum for one full minute. The check valve should hold the vacuum during this time.</a:t>
            </a:r>
            <a:endParaRPr lang="en-US" sz="950" dirty="0"/>
          </a:p>
        </p:txBody>
      </p:sp>
      <p:sp>
        <p:nvSpPr>
          <p:cNvPr id="19" name="Shape 17"/>
          <p:cNvSpPr/>
          <p:nvPr/>
        </p:nvSpPr>
        <p:spPr>
          <a:xfrm>
            <a:off x="411480" y="3895344"/>
            <a:ext cx="8321040" cy="987552"/>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20" name="Shape 18"/>
          <p:cNvSpPr/>
          <p:nvPr/>
        </p:nvSpPr>
        <p:spPr>
          <a:xfrm>
            <a:off x="411480" y="3895344"/>
            <a:ext cx="54864" cy="987552"/>
          </a:xfrm>
          <a:prstGeom prst="rect">
            <a:avLst/>
          </a:prstGeom>
          <a:solidFill>
            <a:srgbClr val="E9A825"/>
          </a:solidFill>
          <a:ln w="12700">
            <a:solidFill>
              <a:srgbClr val="E9A825"/>
            </a:solidFill>
            <a:prstDash val="solid"/>
          </a:ln>
        </p:spPr>
      </p:sp>
      <p:sp>
        <p:nvSpPr>
          <p:cNvPr id="21" name="Shape 19"/>
          <p:cNvSpPr/>
          <p:nvPr/>
        </p:nvSpPr>
        <p:spPr>
          <a:xfrm>
            <a:off x="530352" y="4005072"/>
            <a:ext cx="347472" cy="347472"/>
          </a:xfrm>
          <a:prstGeom prst="ellipse">
            <a:avLst/>
          </a:prstGeom>
          <a:solidFill>
            <a:srgbClr val="E9A825"/>
          </a:solidFill>
          <a:ln w="12700">
            <a:solidFill>
              <a:srgbClr val="E9A825"/>
            </a:solidFill>
            <a:prstDash val="solid"/>
          </a:ln>
        </p:spPr>
      </p:sp>
      <p:sp>
        <p:nvSpPr>
          <p:cNvPr id="22" name="Text 20"/>
          <p:cNvSpPr/>
          <p:nvPr/>
        </p:nvSpPr>
        <p:spPr>
          <a:xfrm>
            <a:off x="530352" y="400507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3" name="Text 21"/>
          <p:cNvSpPr/>
          <p:nvPr/>
        </p:nvSpPr>
        <p:spPr>
          <a:xfrm>
            <a:off x="978408" y="3986784"/>
            <a:ext cx="7662672"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Depress Pedal — Count Assisted Applications</a:t>
            </a:r>
            <a:endParaRPr lang="en-US" sz="1100" dirty="0"/>
          </a:p>
        </p:txBody>
      </p:sp>
      <p:sp>
        <p:nvSpPr>
          <p:cNvPr id="24" name="Text 22"/>
          <p:cNvSpPr/>
          <p:nvPr/>
        </p:nvSpPr>
        <p:spPr>
          <a:xfrm>
            <a:off x="978408" y="4279392"/>
            <a:ext cx="7662672" cy="493776"/>
          </a:xfrm>
          <a:prstGeom prst="rect">
            <a:avLst/>
          </a:prstGeom>
          <a:noFill/>
          <a:ln/>
        </p:spPr>
        <p:txBody>
          <a:bodyPr wrap="square" lIns="0" tIns="0" rIns="0" bIns="0" rtlCol="0" anchor="t"/>
          <a:lstStyle/>
          <a:p>
            <a:pPr indent="0" marL="0">
              <a:buNone/>
            </a:pPr>
            <a:r>
              <a:rPr lang="en-US" sz="950" dirty="0">
                <a:solidFill>
                  <a:srgbClr val="CCCCCC"/>
                </a:solidFill>
                <a:latin typeface="Calibri" pitchFamily="34" charset="0"/>
                <a:ea typeface="Calibri" pitchFamily="34" charset="-122"/>
                <a:cs typeface="Calibri" pitchFamily="34" charset="-120"/>
              </a:rPr>
              <a:t>Press brake pedal fully and release several times. You should get at least 2 full power-assisted applications. If not: check valve or booster is leaking.</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2A9D8F"/>
          </a:solidFill>
          <a:ln w="12700">
            <a:solidFill>
              <a:srgbClr val="2A9D8F"/>
            </a:solidFill>
            <a:prstDash val="solid"/>
          </a:ln>
        </p:spPr>
      </p:sp>
      <p:sp>
        <p:nvSpPr>
          <p:cNvPr id="3" name="Shape 1"/>
          <p:cNvSpPr/>
          <p:nvPr/>
        </p:nvSpPr>
        <p:spPr>
          <a:xfrm>
            <a:off x="0" y="5079492"/>
            <a:ext cx="9144000" cy="64008"/>
          </a:xfrm>
          <a:prstGeom prst="rect">
            <a:avLst/>
          </a:prstGeom>
          <a:solidFill>
            <a:srgbClr val="2A9D8F"/>
          </a:solidFill>
          <a:ln w="12700">
            <a:solidFill>
              <a:srgbClr val="2A9D8F"/>
            </a:solidFill>
            <a:prstDash val="solid"/>
          </a:ln>
        </p:spPr>
      </p:sp>
      <p:sp>
        <p:nvSpPr>
          <p:cNvPr id="4" name="Text 2"/>
          <p:cNvSpPr/>
          <p:nvPr/>
        </p:nvSpPr>
        <p:spPr>
          <a:xfrm>
            <a:off x="457200" y="118872"/>
            <a:ext cx="8229600" cy="201168"/>
          </a:xfrm>
          <a:prstGeom prst="rect">
            <a:avLst/>
          </a:prstGeom>
          <a:noFill/>
          <a:ln/>
        </p:spPr>
        <p:txBody>
          <a:bodyPr wrap="square" lIns="0" tIns="0" rIns="0" bIns="0" rtlCol="0" anchor="ctr"/>
          <a:lstStyle/>
          <a:p>
            <a:pPr indent="0" marL="0">
              <a:buNone/>
            </a:pPr>
            <a:r>
              <a:rPr lang="en-US" sz="800" b="1" spc="400" kern="0" dirty="0">
                <a:solidFill>
                  <a:srgbClr val="2A9D8F"/>
                </a:solidFill>
                <a:latin typeface="Calibri" pitchFamily="34" charset="0"/>
                <a:ea typeface="Calibri" pitchFamily="34" charset="-122"/>
                <a:cs typeface="Calibri" pitchFamily="34" charset="-120"/>
              </a:rPr>
              <a:t>BOOSTER TESTING</a:t>
            </a:r>
            <a:endParaRPr lang="en-US" sz="800" dirty="0"/>
          </a:p>
        </p:txBody>
      </p:sp>
      <p:sp>
        <p:nvSpPr>
          <p:cNvPr id="5" name="Text 3"/>
          <p:cNvSpPr/>
          <p:nvPr/>
        </p:nvSpPr>
        <p:spPr>
          <a:xfrm>
            <a:off x="457200" y="384048"/>
            <a:ext cx="8229600" cy="530352"/>
          </a:xfrm>
          <a:prstGeom prst="rect">
            <a:avLst/>
          </a:prstGeom>
          <a:noFill/>
          <a:ln/>
        </p:spPr>
        <p:txBody>
          <a:bodyPr wrap="square" lIns="0" tIns="0" rIns="0" bIns="0" rtlCol="0" anchor="ctr"/>
          <a:lstStyle/>
          <a:p>
            <a:pPr indent="0" marL="0">
              <a:buNone/>
            </a:pPr>
            <a:r>
              <a:rPr lang="en-US" sz="2800" b="1" dirty="0">
                <a:solidFill>
                  <a:srgbClr val="2A9D8F"/>
                </a:solidFill>
                <a:latin typeface="Calibri" pitchFamily="34" charset="0"/>
                <a:ea typeface="Calibri" pitchFamily="34" charset="-122"/>
                <a:cs typeface="Calibri" pitchFamily="34" charset="-120"/>
              </a:rPr>
              <a:t>Hydraulic System Leak Test</a:t>
            </a:r>
            <a:endParaRPr lang="en-US" sz="2800" dirty="0"/>
          </a:p>
        </p:txBody>
      </p:sp>
      <p:sp>
        <p:nvSpPr>
          <p:cNvPr id="6" name="Text 4"/>
          <p:cNvSpPr/>
          <p:nvPr/>
        </p:nvSpPr>
        <p:spPr>
          <a:xfrm>
            <a:off x="457200" y="987552"/>
            <a:ext cx="8229600" cy="237744"/>
          </a:xfrm>
          <a:prstGeom prst="rect">
            <a:avLst/>
          </a:prstGeom>
          <a:noFill/>
          <a:ln/>
        </p:spPr>
        <p:txBody>
          <a:bodyPr wrap="square" lIns="0" tIns="0" rIns="0" bIns="0" rtlCol="0" anchor="ctr"/>
          <a:lstStyle/>
          <a:p>
            <a:pPr indent="0" marL="0">
              <a:buNone/>
            </a:pPr>
            <a:r>
              <a:rPr lang="en-US" sz="1000" i="1" dirty="0">
                <a:solidFill>
                  <a:srgbClr val="888888"/>
                </a:solidFill>
                <a:latin typeface="Calibri" pitchFamily="34" charset="0"/>
                <a:ea typeface="Calibri" pitchFamily="34" charset="-122"/>
                <a:cs typeface="Calibri" pitchFamily="34" charset="-120"/>
              </a:rPr>
              <a:t>Distinguishes a hydraulic leak from a booster problem. Engine running.</a:t>
            </a:r>
            <a:endParaRPr lang="en-US" sz="1000" dirty="0"/>
          </a:p>
        </p:txBody>
      </p:sp>
      <p:sp>
        <p:nvSpPr>
          <p:cNvPr id="7" name="Shape 5"/>
          <p:cNvSpPr/>
          <p:nvPr/>
        </p:nvSpPr>
        <p:spPr>
          <a:xfrm>
            <a:off x="411480" y="1335024"/>
            <a:ext cx="2633472" cy="3547872"/>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8" name="Shape 6"/>
          <p:cNvSpPr/>
          <p:nvPr/>
        </p:nvSpPr>
        <p:spPr>
          <a:xfrm>
            <a:off x="411480" y="1335024"/>
            <a:ext cx="54864" cy="3547872"/>
          </a:xfrm>
          <a:prstGeom prst="rect">
            <a:avLst/>
          </a:prstGeom>
          <a:solidFill>
            <a:srgbClr val="2A9D8F"/>
          </a:solidFill>
          <a:ln w="12700">
            <a:solidFill>
              <a:srgbClr val="2A9D8F"/>
            </a:solidFill>
            <a:prstDash val="solid"/>
          </a:ln>
        </p:spPr>
      </p:sp>
      <p:sp>
        <p:nvSpPr>
          <p:cNvPr id="9" name="Text 7"/>
          <p:cNvSpPr/>
          <p:nvPr/>
        </p:nvSpPr>
        <p:spPr>
          <a:xfrm>
            <a:off x="539496" y="1426464"/>
            <a:ext cx="914400" cy="640080"/>
          </a:xfrm>
          <a:prstGeom prst="rect">
            <a:avLst/>
          </a:prstGeom>
          <a:noFill/>
          <a:ln/>
        </p:spPr>
        <p:txBody>
          <a:bodyPr wrap="square" lIns="0" tIns="0" rIns="0" bIns="0" rtlCol="0" anchor="ctr"/>
          <a:lstStyle/>
          <a:p>
            <a:pPr indent="0" marL="0">
              <a:buNone/>
            </a:pPr>
            <a:r>
              <a:rPr lang="en-US" sz="3600" b="1" dirty="0">
                <a:solidFill>
                  <a:srgbClr val="2A9D8F"/>
                </a:solidFill>
                <a:latin typeface="Calibri" pitchFamily="34" charset="0"/>
                <a:ea typeface="Calibri" pitchFamily="34" charset="-122"/>
                <a:cs typeface="Calibri" pitchFamily="34" charset="-120"/>
              </a:rPr>
              <a:t>01</a:t>
            </a:r>
            <a:endParaRPr lang="en-US" sz="3600" dirty="0"/>
          </a:p>
        </p:txBody>
      </p:sp>
      <p:sp>
        <p:nvSpPr>
          <p:cNvPr id="10" name="Text 8"/>
          <p:cNvSpPr/>
          <p:nvPr/>
        </p:nvSpPr>
        <p:spPr>
          <a:xfrm>
            <a:off x="539496" y="2139696"/>
            <a:ext cx="237744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Depress and Release</a:t>
            </a:r>
            <a:endParaRPr lang="en-US" sz="1100" dirty="0"/>
          </a:p>
        </p:txBody>
      </p:sp>
      <p:sp>
        <p:nvSpPr>
          <p:cNvPr id="11" name="Text 9"/>
          <p:cNvSpPr/>
          <p:nvPr/>
        </p:nvSpPr>
        <p:spPr>
          <a:xfrm>
            <a:off x="539496" y="2468880"/>
            <a:ext cx="2377440" cy="2194560"/>
          </a:xfrm>
          <a:prstGeom prst="rect">
            <a:avLst/>
          </a:prstGeom>
          <a:noFill/>
          <a:ln/>
        </p:spPr>
        <p:txBody>
          <a:bodyPr wrap="square" lIns="0" tIns="0" rIns="0" bIns="0" rtlCol="0" anchor="t"/>
          <a:lstStyle/>
          <a:p>
            <a:pPr indent="0" marL="0">
              <a:buNone/>
            </a:pPr>
            <a:r>
              <a:rPr lang="en-US" sz="1000" dirty="0">
                <a:solidFill>
                  <a:srgbClr val="CCCCCC"/>
                </a:solidFill>
                <a:latin typeface="Calibri" pitchFamily="34" charset="0"/>
                <a:ea typeface="Calibri" pitchFamily="34" charset="-122"/>
                <a:cs typeface="Calibri" pitchFamily="34" charset="-120"/>
              </a:rPr>
              <a:t>Press and release the brakes several times with engine running to deplete any residual vacuum assist.</a:t>
            </a:r>
            <a:endParaRPr lang="en-US" sz="1000" dirty="0"/>
          </a:p>
        </p:txBody>
      </p:sp>
      <p:sp>
        <p:nvSpPr>
          <p:cNvPr id="12" name="Shape 10"/>
          <p:cNvSpPr/>
          <p:nvPr/>
        </p:nvSpPr>
        <p:spPr>
          <a:xfrm>
            <a:off x="3218688" y="1335024"/>
            <a:ext cx="2633472" cy="3547872"/>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13" name="Shape 11"/>
          <p:cNvSpPr/>
          <p:nvPr/>
        </p:nvSpPr>
        <p:spPr>
          <a:xfrm>
            <a:off x="3218688" y="1335024"/>
            <a:ext cx="54864" cy="3547872"/>
          </a:xfrm>
          <a:prstGeom prst="rect">
            <a:avLst/>
          </a:prstGeom>
          <a:solidFill>
            <a:srgbClr val="E9A825"/>
          </a:solidFill>
          <a:ln w="12700">
            <a:solidFill>
              <a:srgbClr val="E9A825"/>
            </a:solidFill>
            <a:prstDash val="solid"/>
          </a:ln>
        </p:spPr>
      </p:sp>
      <p:sp>
        <p:nvSpPr>
          <p:cNvPr id="14" name="Text 12"/>
          <p:cNvSpPr/>
          <p:nvPr/>
        </p:nvSpPr>
        <p:spPr>
          <a:xfrm>
            <a:off x="3346704" y="1426464"/>
            <a:ext cx="914400" cy="640080"/>
          </a:xfrm>
          <a:prstGeom prst="rect">
            <a:avLst/>
          </a:prstGeom>
          <a:noFill/>
          <a:ln/>
        </p:spPr>
        <p:txBody>
          <a:bodyPr wrap="square" lIns="0" tIns="0" rIns="0" bIns="0" rtlCol="0" anchor="ctr"/>
          <a:lstStyle/>
          <a:p>
            <a:pPr indent="0" marL="0">
              <a:buNone/>
            </a:pPr>
            <a:r>
              <a:rPr lang="en-US" sz="3600" b="1" dirty="0">
                <a:solidFill>
                  <a:srgbClr val="E9A825"/>
                </a:solidFill>
                <a:latin typeface="Calibri" pitchFamily="34" charset="0"/>
                <a:ea typeface="Calibri" pitchFamily="34" charset="-122"/>
                <a:cs typeface="Calibri" pitchFamily="34" charset="-120"/>
              </a:rPr>
              <a:t>02</a:t>
            </a:r>
            <a:endParaRPr lang="en-US" sz="3600" dirty="0"/>
          </a:p>
        </p:txBody>
      </p:sp>
      <p:sp>
        <p:nvSpPr>
          <p:cNvPr id="15" name="Text 13"/>
          <p:cNvSpPr/>
          <p:nvPr/>
        </p:nvSpPr>
        <p:spPr>
          <a:xfrm>
            <a:off x="3346704" y="2139696"/>
            <a:ext cx="237744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Depress and Hold</a:t>
            </a:r>
            <a:endParaRPr lang="en-US" sz="1100" dirty="0"/>
          </a:p>
        </p:txBody>
      </p:sp>
      <p:sp>
        <p:nvSpPr>
          <p:cNvPr id="16" name="Text 14"/>
          <p:cNvSpPr/>
          <p:nvPr/>
        </p:nvSpPr>
        <p:spPr>
          <a:xfrm>
            <a:off x="3346704" y="2468880"/>
            <a:ext cx="2377440" cy="2194560"/>
          </a:xfrm>
          <a:prstGeom prst="rect">
            <a:avLst/>
          </a:prstGeom>
          <a:noFill/>
          <a:ln/>
        </p:spPr>
        <p:txBody>
          <a:bodyPr wrap="square" lIns="0" tIns="0" rIns="0" bIns="0" rtlCol="0" anchor="t"/>
          <a:lstStyle/>
          <a:p>
            <a:pPr indent="0" marL="0">
              <a:buNone/>
            </a:pPr>
            <a:r>
              <a:rPr lang="en-US" sz="1000" dirty="0">
                <a:solidFill>
                  <a:srgbClr val="CCCCCC"/>
                </a:solidFill>
                <a:latin typeface="Calibri" pitchFamily="34" charset="0"/>
                <a:ea typeface="Calibri" pitchFamily="34" charset="-122"/>
                <a:cs typeface="Calibri" pitchFamily="34" charset="-120"/>
              </a:rPr>
              <a:t>Press pedal with medium force (20–35 lbs). Hold pedal position without pumping. Hold for 30 seconds.</a:t>
            </a:r>
            <a:endParaRPr lang="en-US" sz="1000" dirty="0"/>
          </a:p>
        </p:txBody>
      </p:sp>
      <p:sp>
        <p:nvSpPr>
          <p:cNvPr id="17" name="Shape 15"/>
          <p:cNvSpPr/>
          <p:nvPr/>
        </p:nvSpPr>
        <p:spPr>
          <a:xfrm>
            <a:off x="6016752" y="1335024"/>
            <a:ext cx="2633472" cy="3547872"/>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18" name="Shape 16"/>
          <p:cNvSpPr/>
          <p:nvPr/>
        </p:nvSpPr>
        <p:spPr>
          <a:xfrm>
            <a:off x="6016752" y="1335024"/>
            <a:ext cx="54864" cy="3547872"/>
          </a:xfrm>
          <a:prstGeom prst="rect">
            <a:avLst/>
          </a:prstGeom>
          <a:solidFill>
            <a:srgbClr val="CC0000"/>
          </a:solidFill>
          <a:ln w="12700">
            <a:solidFill>
              <a:srgbClr val="CC0000"/>
            </a:solidFill>
            <a:prstDash val="solid"/>
          </a:ln>
        </p:spPr>
      </p:sp>
      <p:sp>
        <p:nvSpPr>
          <p:cNvPr id="19" name="Text 17"/>
          <p:cNvSpPr/>
          <p:nvPr/>
        </p:nvSpPr>
        <p:spPr>
          <a:xfrm>
            <a:off x="6144768" y="1426464"/>
            <a:ext cx="914400" cy="640080"/>
          </a:xfrm>
          <a:prstGeom prst="rect">
            <a:avLst/>
          </a:prstGeom>
          <a:noFill/>
          <a:ln/>
        </p:spPr>
        <p:txBody>
          <a:bodyPr wrap="square" lIns="0" tIns="0" rIns="0" bIns="0" rtlCol="0" anchor="ctr"/>
          <a:lstStyle/>
          <a:p>
            <a:pPr indent="0" marL="0">
              <a:buNone/>
            </a:pPr>
            <a:r>
              <a:rPr lang="en-US" sz="3600" b="1" dirty="0">
                <a:solidFill>
                  <a:srgbClr val="CC0000"/>
                </a:solidFill>
                <a:latin typeface="Calibri" pitchFamily="34" charset="0"/>
                <a:ea typeface="Calibri" pitchFamily="34" charset="-122"/>
                <a:cs typeface="Calibri" pitchFamily="34" charset="-120"/>
              </a:rPr>
              <a:t>03</a:t>
            </a:r>
            <a:endParaRPr lang="en-US" sz="3600" dirty="0"/>
          </a:p>
        </p:txBody>
      </p:sp>
      <p:sp>
        <p:nvSpPr>
          <p:cNvPr id="20" name="Text 18"/>
          <p:cNvSpPr/>
          <p:nvPr/>
        </p:nvSpPr>
        <p:spPr>
          <a:xfrm>
            <a:off x="6144768" y="2139696"/>
            <a:ext cx="237744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Observe — Should Not Sink</a:t>
            </a:r>
            <a:endParaRPr lang="en-US" sz="1100" dirty="0"/>
          </a:p>
        </p:txBody>
      </p:sp>
      <p:sp>
        <p:nvSpPr>
          <p:cNvPr id="21" name="Text 19"/>
          <p:cNvSpPr/>
          <p:nvPr/>
        </p:nvSpPr>
        <p:spPr>
          <a:xfrm>
            <a:off x="6144768" y="2468880"/>
            <a:ext cx="2377440" cy="2194560"/>
          </a:xfrm>
          <a:prstGeom prst="rect">
            <a:avLst/>
          </a:prstGeom>
          <a:noFill/>
          <a:ln/>
        </p:spPr>
        <p:txBody>
          <a:bodyPr wrap="square" lIns="0" tIns="0" rIns="0" bIns="0" rtlCol="0" anchor="t"/>
          <a:lstStyle/>
          <a:p>
            <a:pPr indent="0" marL="0">
              <a:buNone/>
            </a:pPr>
            <a:r>
              <a:rPr lang="en-US" sz="1000" dirty="0">
                <a:solidFill>
                  <a:srgbClr val="CCCCCC"/>
                </a:solidFill>
                <a:latin typeface="Calibri" pitchFamily="34" charset="0"/>
                <a:ea typeface="Calibri" pitchFamily="34" charset="-122"/>
                <a:cs typeface="Calibri" pitchFamily="34" charset="-120"/>
              </a:rPr>
              <a:t>Pedal should NOT sink toward the floor. If it slowly sinks while held: suspect a hydraulic leak — master cylinder, caliper, line, or wheel cylinder.</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2A9D8F"/>
          </a:solidFill>
          <a:ln w="12700">
            <a:solidFill>
              <a:srgbClr val="2A9D8F"/>
            </a:solidFill>
            <a:prstDash val="solid"/>
          </a:ln>
        </p:spPr>
      </p:sp>
      <p:sp>
        <p:nvSpPr>
          <p:cNvPr id="3" name="Shape 1"/>
          <p:cNvSpPr/>
          <p:nvPr/>
        </p:nvSpPr>
        <p:spPr>
          <a:xfrm>
            <a:off x="0" y="5079492"/>
            <a:ext cx="9144000" cy="64008"/>
          </a:xfrm>
          <a:prstGeom prst="rect">
            <a:avLst/>
          </a:prstGeom>
          <a:solidFill>
            <a:srgbClr val="2A9D8F"/>
          </a:solidFill>
          <a:ln w="12700">
            <a:solidFill>
              <a:srgbClr val="2A9D8F"/>
            </a:solidFill>
            <a:prstDash val="solid"/>
          </a:ln>
        </p:spPr>
      </p:sp>
      <p:sp>
        <p:nvSpPr>
          <p:cNvPr id="4" name="Text 2"/>
          <p:cNvSpPr/>
          <p:nvPr/>
        </p:nvSpPr>
        <p:spPr>
          <a:xfrm>
            <a:off x="457200" y="118872"/>
            <a:ext cx="8229600" cy="201168"/>
          </a:xfrm>
          <a:prstGeom prst="rect">
            <a:avLst/>
          </a:prstGeom>
          <a:noFill/>
          <a:ln/>
        </p:spPr>
        <p:txBody>
          <a:bodyPr wrap="square" lIns="0" tIns="0" rIns="0" bIns="0" rtlCol="0" anchor="ctr"/>
          <a:lstStyle/>
          <a:p>
            <a:pPr indent="0" marL="0">
              <a:buNone/>
            </a:pPr>
            <a:r>
              <a:rPr lang="en-US" sz="800" b="1" spc="400" kern="0" dirty="0">
                <a:solidFill>
                  <a:srgbClr val="2A9D8F"/>
                </a:solidFill>
                <a:latin typeface="Calibri" pitchFamily="34" charset="0"/>
                <a:ea typeface="Calibri" pitchFamily="34" charset="-122"/>
                <a:cs typeface="Calibri" pitchFamily="34" charset="-120"/>
              </a:rPr>
              <a:t>VACUUM TESTING — TEST 1</a:t>
            </a:r>
            <a:endParaRPr lang="en-US" sz="800" dirty="0"/>
          </a:p>
        </p:txBody>
      </p:sp>
      <p:sp>
        <p:nvSpPr>
          <p:cNvPr id="5" name="Text 3"/>
          <p:cNvSpPr/>
          <p:nvPr/>
        </p:nvSpPr>
        <p:spPr>
          <a:xfrm>
            <a:off x="457200" y="384048"/>
            <a:ext cx="8229600" cy="530352"/>
          </a:xfrm>
          <a:prstGeom prst="rect">
            <a:avLst/>
          </a:prstGeom>
          <a:noFill/>
          <a:ln/>
        </p:spPr>
        <p:txBody>
          <a:bodyPr wrap="square" lIns="0" tIns="0" rIns="0" bIns="0" rtlCol="0" anchor="ctr"/>
          <a:lstStyle/>
          <a:p>
            <a:pPr indent="0" marL="0">
              <a:buNone/>
            </a:pPr>
            <a:r>
              <a:rPr lang="en-US" sz="2800" b="1" dirty="0">
                <a:solidFill>
                  <a:srgbClr val="2A9D8F"/>
                </a:solidFill>
                <a:latin typeface="Calibri" pitchFamily="34" charset="0"/>
                <a:ea typeface="Calibri" pitchFamily="34" charset="-122"/>
                <a:cs typeface="Calibri" pitchFamily="34" charset="-120"/>
              </a:rPr>
              <a:t>Vacuum Supply Test</a:t>
            </a:r>
            <a:endParaRPr lang="en-US" sz="2800" dirty="0"/>
          </a:p>
        </p:txBody>
      </p:sp>
      <p:sp>
        <p:nvSpPr>
          <p:cNvPr id="6" name="Text 4"/>
          <p:cNvSpPr/>
          <p:nvPr/>
        </p:nvSpPr>
        <p:spPr>
          <a:xfrm>
            <a:off x="457200" y="987552"/>
            <a:ext cx="8229600" cy="237744"/>
          </a:xfrm>
          <a:prstGeom prst="rect">
            <a:avLst/>
          </a:prstGeom>
          <a:noFill/>
          <a:ln/>
        </p:spPr>
        <p:txBody>
          <a:bodyPr wrap="square" lIns="0" tIns="0" rIns="0" bIns="0" rtlCol="0" anchor="ctr"/>
          <a:lstStyle/>
          <a:p>
            <a:pPr indent="0" marL="0">
              <a:buNone/>
            </a:pPr>
            <a:r>
              <a:rPr lang="en-US" sz="1000" i="1" dirty="0">
                <a:solidFill>
                  <a:srgbClr val="888888"/>
                </a:solidFill>
                <a:latin typeface="Calibri" pitchFamily="34" charset="0"/>
                <a:ea typeface="Calibri" pitchFamily="34" charset="-122"/>
                <a:cs typeface="Calibri" pitchFamily="34" charset="-120"/>
              </a:rPr>
              <a:t>Confirms the engine is producing enough vacuum to operate the booster. Engine must be running and warm.</a:t>
            </a:r>
            <a:endParaRPr lang="en-US" sz="1000" dirty="0"/>
          </a:p>
        </p:txBody>
      </p:sp>
      <p:sp>
        <p:nvSpPr>
          <p:cNvPr id="7" name="Shape 5"/>
          <p:cNvSpPr/>
          <p:nvPr/>
        </p:nvSpPr>
        <p:spPr>
          <a:xfrm>
            <a:off x="411480" y="1335024"/>
            <a:ext cx="4206240" cy="1499616"/>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8" name="Shape 6"/>
          <p:cNvSpPr/>
          <p:nvPr/>
        </p:nvSpPr>
        <p:spPr>
          <a:xfrm>
            <a:off x="411480" y="1335024"/>
            <a:ext cx="54864" cy="1499616"/>
          </a:xfrm>
          <a:prstGeom prst="rect">
            <a:avLst/>
          </a:prstGeom>
          <a:solidFill>
            <a:srgbClr val="2A9D8F"/>
          </a:solidFill>
          <a:ln w="12700">
            <a:solidFill>
              <a:srgbClr val="2A9D8F"/>
            </a:solidFill>
            <a:prstDash val="solid"/>
          </a:ln>
        </p:spPr>
      </p:sp>
      <p:sp>
        <p:nvSpPr>
          <p:cNvPr id="9" name="Shape 7"/>
          <p:cNvSpPr/>
          <p:nvPr/>
        </p:nvSpPr>
        <p:spPr>
          <a:xfrm>
            <a:off x="530352" y="1444752"/>
            <a:ext cx="347472" cy="347472"/>
          </a:xfrm>
          <a:prstGeom prst="ellipse">
            <a:avLst/>
          </a:prstGeom>
          <a:solidFill>
            <a:srgbClr val="2A9D8F"/>
          </a:solidFill>
          <a:ln w="12700">
            <a:solidFill>
              <a:srgbClr val="2A9D8F"/>
            </a:solidFill>
            <a:prstDash val="solid"/>
          </a:ln>
        </p:spPr>
      </p:sp>
      <p:sp>
        <p:nvSpPr>
          <p:cNvPr id="10" name="Text 8"/>
          <p:cNvSpPr/>
          <p:nvPr/>
        </p:nvSpPr>
        <p:spPr>
          <a:xfrm>
            <a:off x="530352" y="144475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9"/>
          <p:cNvSpPr/>
          <p:nvPr/>
        </p:nvSpPr>
        <p:spPr>
          <a:xfrm>
            <a:off x="978408" y="1426464"/>
            <a:ext cx="3547872"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Connect Gauge</a:t>
            </a:r>
            <a:endParaRPr lang="en-US" sz="1100" dirty="0"/>
          </a:p>
        </p:txBody>
      </p:sp>
      <p:sp>
        <p:nvSpPr>
          <p:cNvPr id="12" name="Text 10"/>
          <p:cNvSpPr/>
          <p:nvPr/>
        </p:nvSpPr>
        <p:spPr>
          <a:xfrm>
            <a:off x="978408" y="1719072"/>
            <a:ext cx="3547872" cy="1005840"/>
          </a:xfrm>
          <a:prstGeom prst="rect">
            <a:avLst/>
          </a:prstGeom>
          <a:noFill/>
          <a:ln/>
        </p:spPr>
        <p:txBody>
          <a:bodyPr wrap="square" lIns="0" tIns="0" rIns="0" bIns="0" rtlCol="0" anchor="t"/>
          <a:lstStyle/>
          <a:p>
            <a:pPr indent="0" marL="0">
              <a:buNone/>
            </a:pPr>
            <a:r>
              <a:rPr lang="en-US" sz="950" dirty="0">
                <a:solidFill>
                  <a:srgbClr val="CCCCCC"/>
                </a:solidFill>
                <a:latin typeface="Calibri" pitchFamily="34" charset="0"/>
                <a:ea typeface="Calibri" pitchFamily="34" charset="-122"/>
                <a:cs typeface="Calibri" pitchFamily="34" charset="-120"/>
              </a:rPr>
              <a:t>Attach vacuum gauge to the vacuum supply hose at the booster check valve port or booster inlet.</a:t>
            </a:r>
            <a:endParaRPr lang="en-US" sz="950" dirty="0"/>
          </a:p>
        </p:txBody>
      </p:sp>
      <p:sp>
        <p:nvSpPr>
          <p:cNvPr id="13" name="Shape 11"/>
          <p:cNvSpPr/>
          <p:nvPr/>
        </p:nvSpPr>
        <p:spPr>
          <a:xfrm>
            <a:off x="4800600" y="1335024"/>
            <a:ext cx="4206240" cy="1499616"/>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14" name="Shape 12"/>
          <p:cNvSpPr/>
          <p:nvPr/>
        </p:nvSpPr>
        <p:spPr>
          <a:xfrm>
            <a:off x="4800600" y="1335024"/>
            <a:ext cx="54864" cy="1499616"/>
          </a:xfrm>
          <a:prstGeom prst="rect">
            <a:avLst/>
          </a:prstGeom>
          <a:solidFill>
            <a:srgbClr val="2A9D8F"/>
          </a:solidFill>
          <a:ln w="12700">
            <a:solidFill>
              <a:srgbClr val="2A9D8F"/>
            </a:solidFill>
            <a:prstDash val="solid"/>
          </a:ln>
        </p:spPr>
      </p:sp>
      <p:sp>
        <p:nvSpPr>
          <p:cNvPr id="15" name="Shape 13"/>
          <p:cNvSpPr/>
          <p:nvPr/>
        </p:nvSpPr>
        <p:spPr>
          <a:xfrm>
            <a:off x="4919472" y="1444752"/>
            <a:ext cx="347472" cy="347472"/>
          </a:xfrm>
          <a:prstGeom prst="ellipse">
            <a:avLst/>
          </a:prstGeom>
          <a:solidFill>
            <a:srgbClr val="2A9D8F"/>
          </a:solidFill>
          <a:ln w="12700">
            <a:solidFill>
              <a:srgbClr val="2A9D8F"/>
            </a:solidFill>
            <a:prstDash val="solid"/>
          </a:ln>
        </p:spPr>
      </p:sp>
      <p:sp>
        <p:nvSpPr>
          <p:cNvPr id="16" name="Text 14"/>
          <p:cNvSpPr/>
          <p:nvPr/>
        </p:nvSpPr>
        <p:spPr>
          <a:xfrm>
            <a:off x="4919472" y="144475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5"/>
          <p:cNvSpPr/>
          <p:nvPr/>
        </p:nvSpPr>
        <p:spPr>
          <a:xfrm>
            <a:off x="5367528" y="1426464"/>
            <a:ext cx="3547872"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Warm Engine</a:t>
            </a:r>
            <a:endParaRPr lang="en-US" sz="1100" dirty="0"/>
          </a:p>
        </p:txBody>
      </p:sp>
      <p:sp>
        <p:nvSpPr>
          <p:cNvPr id="18" name="Text 16"/>
          <p:cNvSpPr/>
          <p:nvPr/>
        </p:nvSpPr>
        <p:spPr>
          <a:xfrm>
            <a:off x="5367528" y="1719072"/>
            <a:ext cx="3547872" cy="1005840"/>
          </a:xfrm>
          <a:prstGeom prst="rect">
            <a:avLst/>
          </a:prstGeom>
          <a:noFill/>
          <a:ln/>
        </p:spPr>
        <p:txBody>
          <a:bodyPr wrap="square" lIns="0" tIns="0" rIns="0" bIns="0" rtlCol="0" anchor="t"/>
          <a:lstStyle/>
          <a:p>
            <a:pPr indent="0" marL="0">
              <a:buNone/>
            </a:pPr>
            <a:r>
              <a:rPr lang="en-US" sz="950" dirty="0">
                <a:solidFill>
                  <a:srgbClr val="CCCCCC"/>
                </a:solidFill>
                <a:latin typeface="Calibri" pitchFamily="34" charset="0"/>
                <a:ea typeface="Calibri" pitchFamily="34" charset="-122"/>
                <a:cs typeface="Calibri" pitchFamily="34" charset="-120"/>
              </a:rPr>
              <a:t>Run engine to operating temperature. Let idle stabilize before recording any readings.</a:t>
            </a:r>
            <a:endParaRPr lang="en-US" sz="950" dirty="0"/>
          </a:p>
        </p:txBody>
      </p:sp>
      <p:sp>
        <p:nvSpPr>
          <p:cNvPr id="19" name="Shape 17"/>
          <p:cNvSpPr/>
          <p:nvPr/>
        </p:nvSpPr>
        <p:spPr>
          <a:xfrm>
            <a:off x="411480" y="2944368"/>
            <a:ext cx="4206240" cy="1499616"/>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20" name="Shape 18"/>
          <p:cNvSpPr/>
          <p:nvPr/>
        </p:nvSpPr>
        <p:spPr>
          <a:xfrm>
            <a:off x="411480" y="2944368"/>
            <a:ext cx="54864" cy="1499616"/>
          </a:xfrm>
          <a:prstGeom prst="rect">
            <a:avLst/>
          </a:prstGeom>
          <a:solidFill>
            <a:srgbClr val="E9A825"/>
          </a:solidFill>
          <a:ln w="12700">
            <a:solidFill>
              <a:srgbClr val="E9A825"/>
            </a:solidFill>
            <a:prstDash val="solid"/>
          </a:ln>
        </p:spPr>
      </p:sp>
      <p:sp>
        <p:nvSpPr>
          <p:cNvPr id="21" name="Shape 19"/>
          <p:cNvSpPr/>
          <p:nvPr/>
        </p:nvSpPr>
        <p:spPr>
          <a:xfrm>
            <a:off x="530352" y="3054096"/>
            <a:ext cx="347472" cy="347472"/>
          </a:xfrm>
          <a:prstGeom prst="ellipse">
            <a:avLst/>
          </a:prstGeom>
          <a:solidFill>
            <a:srgbClr val="E9A825"/>
          </a:solidFill>
          <a:ln w="12700">
            <a:solidFill>
              <a:srgbClr val="E9A825"/>
            </a:solidFill>
            <a:prstDash val="solid"/>
          </a:ln>
        </p:spPr>
      </p:sp>
      <p:sp>
        <p:nvSpPr>
          <p:cNvPr id="22" name="Text 20"/>
          <p:cNvSpPr/>
          <p:nvPr/>
        </p:nvSpPr>
        <p:spPr>
          <a:xfrm>
            <a:off x="530352" y="3054096"/>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3" name="Text 21"/>
          <p:cNvSpPr/>
          <p:nvPr/>
        </p:nvSpPr>
        <p:spPr>
          <a:xfrm>
            <a:off x="978408" y="3035808"/>
            <a:ext cx="3547872"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Record at Idle</a:t>
            </a:r>
            <a:endParaRPr lang="en-US" sz="1100" dirty="0"/>
          </a:p>
        </p:txBody>
      </p:sp>
      <p:sp>
        <p:nvSpPr>
          <p:cNvPr id="24" name="Text 22"/>
          <p:cNvSpPr/>
          <p:nvPr/>
        </p:nvSpPr>
        <p:spPr>
          <a:xfrm>
            <a:off x="978408" y="3328416"/>
            <a:ext cx="3547872" cy="1005840"/>
          </a:xfrm>
          <a:prstGeom prst="rect">
            <a:avLst/>
          </a:prstGeom>
          <a:noFill/>
          <a:ln/>
        </p:spPr>
        <p:txBody>
          <a:bodyPr wrap="square" lIns="0" tIns="0" rIns="0" bIns="0" rtlCol="0" anchor="t"/>
          <a:lstStyle/>
          <a:p>
            <a:pPr indent="0" marL="0">
              <a:buNone/>
            </a:pPr>
            <a:r>
              <a:rPr lang="en-US" sz="950" dirty="0">
                <a:solidFill>
                  <a:srgbClr val="CCCCCC"/>
                </a:solidFill>
                <a:latin typeface="Calibri" pitchFamily="34" charset="0"/>
                <a:ea typeface="Calibri" pitchFamily="34" charset="-122"/>
                <a:cs typeface="Calibri" pitchFamily="34" charset="-120"/>
              </a:rPr>
              <a:t>Read gauge at idle. Record in lab sheet. Minimum 15 in. Hg to operate. Healthy: 18–22 in. Hg.</a:t>
            </a:r>
            <a:endParaRPr lang="en-US" sz="950" dirty="0"/>
          </a:p>
        </p:txBody>
      </p:sp>
      <p:sp>
        <p:nvSpPr>
          <p:cNvPr id="25" name="Shape 23"/>
          <p:cNvSpPr/>
          <p:nvPr/>
        </p:nvSpPr>
        <p:spPr>
          <a:xfrm>
            <a:off x="4800600" y="2944368"/>
            <a:ext cx="4206240" cy="1499616"/>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26" name="Shape 24"/>
          <p:cNvSpPr/>
          <p:nvPr/>
        </p:nvSpPr>
        <p:spPr>
          <a:xfrm>
            <a:off x="4800600" y="2944368"/>
            <a:ext cx="54864" cy="1499616"/>
          </a:xfrm>
          <a:prstGeom prst="rect">
            <a:avLst/>
          </a:prstGeom>
          <a:solidFill>
            <a:srgbClr val="E9A825"/>
          </a:solidFill>
          <a:ln w="12700">
            <a:solidFill>
              <a:srgbClr val="E9A825"/>
            </a:solidFill>
            <a:prstDash val="solid"/>
          </a:ln>
        </p:spPr>
      </p:sp>
      <p:sp>
        <p:nvSpPr>
          <p:cNvPr id="27" name="Shape 25"/>
          <p:cNvSpPr/>
          <p:nvPr/>
        </p:nvSpPr>
        <p:spPr>
          <a:xfrm>
            <a:off x="4919472" y="3054096"/>
            <a:ext cx="347472" cy="347472"/>
          </a:xfrm>
          <a:prstGeom prst="ellipse">
            <a:avLst/>
          </a:prstGeom>
          <a:solidFill>
            <a:srgbClr val="E9A825"/>
          </a:solidFill>
          <a:ln w="12700">
            <a:solidFill>
              <a:srgbClr val="E9A825"/>
            </a:solidFill>
            <a:prstDash val="solid"/>
          </a:ln>
        </p:spPr>
      </p:sp>
      <p:sp>
        <p:nvSpPr>
          <p:cNvPr id="28" name="Text 26"/>
          <p:cNvSpPr/>
          <p:nvPr/>
        </p:nvSpPr>
        <p:spPr>
          <a:xfrm>
            <a:off x="4919472" y="3054096"/>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9" name="Text 27"/>
          <p:cNvSpPr/>
          <p:nvPr/>
        </p:nvSpPr>
        <p:spPr>
          <a:xfrm>
            <a:off x="5367528" y="3035808"/>
            <a:ext cx="3547872"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Record at 2,000 RPM</a:t>
            </a:r>
            <a:endParaRPr lang="en-US" sz="1100" dirty="0"/>
          </a:p>
        </p:txBody>
      </p:sp>
      <p:sp>
        <p:nvSpPr>
          <p:cNvPr id="30" name="Text 28"/>
          <p:cNvSpPr/>
          <p:nvPr/>
        </p:nvSpPr>
        <p:spPr>
          <a:xfrm>
            <a:off x="5367528" y="3328416"/>
            <a:ext cx="3547872" cy="1005840"/>
          </a:xfrm>
          <a:prstGeom prst="rect">
            <a:avLst/>
          </a:prstGeom>
          <a:noFill/>
          <a:ln/>
        </p:spPr>
        <p:txBody>
          <a:bodyPr wrap="square" lIns="0" tIns="0" rIns="0" bIns="0" rtlCol="0" anchor="t"/>
          <a:lstStyle/>
          <a:p>
            <a:pPr indent="0" marL="0">
              <a:buNone/>
            </a:pPr>
            <a:r>
              <a:rPr lang="en-US" sz="950" dirty="0">
                <a:solidFill>
                  <a:srgbClr val="CCCCCC"/>
                </a:solidFill>
                <a:latin typeface="Calibri" pitchFamily="34" charset="0"/>
                <a:ea typeface="Calibri" pitchFamily="34" charset="-122"/>
                <a:cs typeface="Calibri" pitchFamily="34" charset="-120"/>
              </a:rPr>
              <a:t>Rev engine to 2,000 RPM and hold steady. Vacuum should equal or increase vs. idle reading.</a:t>
            </a:r>
            <a:endParaRPr lang="en-US" sz="950" dirty="0"/>
          </a:p>
        </p:txBody>
      </p:sp>
      <p:sp>
        <p:nvSpPr>
          <p:cNvPr id="31" name="Shape 29"/>
          <p:cNvSpPr/>
          <p:nvPr/>
        </p:nvSpPr>
        <p:spPr>
          <a:xfrm>
            <a:off x="411480" y="4553712"/>
            <a:ext cx="8321040" cy="274320"/>
          </a:xfrm>
          <a:prstGeom prst="rect">
            <a:avLst/>
          </a:prstGeom>
          <a:solidFill>
            <a:srgbClr val="2A9D8F"/>
          </a:solidFill>
          <a:ln w="12700">
            <a:solidFill>
              <a:srgbClr val="2A9D8F"/>
            </a:solidFill>
            <a:prstDash val="solid"/>
          </a:ln>
        </p:spPr>
      </p:sp>
      <p:sp>
        <p:nvSpPr>
          <p:cNvPr id="32" name="Text 30"/>
          <p:cNvSpPr/>
          <p:nvPr/>
        </p:nvSpPr>
        <p:spPr>
          <a:xfrm>
            <a:off x="484632" y="4553712"/>
            <a:ext cx="2286000" cy="27432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READING</a:t>
            </a:r>
            <a:endParaRPr lang="en-US" sz="900" dirty="0"/>
          </a:p>
        </p:txBody>
      </p:sp>
      <p:sp>
        <p:nvSpPr>
          <p:cNvPr id="33" name="Text 31"/>
          <p:cNvSpPr/>
          <p:nvPr/>
        </p:nvSpPr>
        <p:spPr>
          <a:xfrm>
            <a:off x="2770632" y="4553712"/>
            <a:ext cx="2286000" cy="27432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RESULT</a:t>
            </a:r>
            <a:endParaRPr lang="en-US" sz="900" dirty="0"/>
          </a:p>
        </p:txBody>
      </p:sp>
      <p:sp>
        <p:nvSpPr>
          <p:cNvPr id="34" name="Text 32"/>
          <p:cNvSpPr/>
          <p:nvPr/>
        </p:nvSpPr>
        <p:spPr>
          <a:xfrm>
            <a:off x="5056632" y="4553712"/>
            <a:ext cx="3749040" cy="27432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ACTION</a:t>
            </a:r>
            <a:endParaRPr lang="en-US" sz="900" dirty="0"/>
          </a:p>
        </p:txBody>
      </p:sp>
      <p:sp>
        <p:nvSpPr>
          <p:cNvPr id="35" name="Shape 33"/>
          <p:cNvSpPr/>
          <p:nvPr/>
        </p:nvSpPr>
        <p:spPr>
          <a:xfrm>
            <a:off x="411480" y="4846320"/>
            <a:ext cx="8321040" cy="256032"/>
          </a:xfrm>
          <a:prstGeom prst="rect">
            <a:avLst/>
          </a:prstGeom>
          <a:solidFill>
            <a:srgbClr val="1A1A1A"/>
          </a:solidFill>
          <a:ln w="3810">
            <a:solidFill>
              <a:srgbClr val="333333"/>
            </a:solidFill>
            <a:prstDash val="solid"/>
          </a:ln>
        </p:spPr>
      </p:sp>
      <p:sp>
        <p:nvSpPr>
          <p:cNvPr id="36" name="Text 34"/>
          <p:cNvSpPr/>
          <p:nvPr/>
        </p:nvSpPr>
        <p:spPr>
          <a:xfrm>
            <a:off x="484632" y="4846320"/>
            <a:ext cx="2286000" cy="256032"/>
          </a:xfrm>
          <a:prstGeom prst="rect">
            <a:avLst/>
          </a:prstGeom>
          <a:noFill/>
          <a:ln/>
        </p:spPr>
        <p:txBody>
          <a:bodyPr wrap="square" lIns="0" tIns="0" rIns="0" bIns="0" rtlCol="0" anchor="ctr"/>
          <a:lstStyle/>
          <a:p>
            <a:pPr indent="0" marL="0">
              <a:buNone/>
            </a:pPr>
            <a:r>
              <a:rPr lang="en-US" sz="900" dirty="0">
                <a:solidFill>
                  <a:srgbClr val="2A9D8F"/>
                </a:solidFill>
                <a:latin typeface="Calibri" pitchFamily="34" charset="0"/>
                <a:ea typeface="Calibri" pitchFamily="34" charset="-122"/>
                <a:cs typeface="Calibri" pitchFamily="34" charset="-120"/>
              </a:rPr>
              <a:t>18–22 in. Hg</a:t>
            </a:r>
            <a:endParaRPr lang="en-US" sz="900" dirty="0"/>
          </a:p>
        </p:txBody>
      </p:sp>
      <p:sp>
        <p:nvSpPr>
          <p:cNvPr id="37" name="Text 35"/>
          <p:cNvSpPr/>
          <p:nvPr/>
        </p:nvSpPr>
        <p:spPr>
          <a:xfrm>
            <a:off x="2770632" y="4846320"/>
            <a:ext cx="2286000" cy="256032"/>
          </a:xfrm>
          <a:prstGeom prst="rect">
            <a:avLst/>
          </a:prstGeom>
          <a:noFill/>
          <a:ln/>
        </p:spPr>
        <p:txBody>
          <a:bodyPr wrap="square" lIns="0" tIns="0" rIns="0" bIns="0" rtlCol="0" anchor="ctr"/>
          <a:lstStyle/>
          <a:p>
            <a:pPr indent="0" marL="0">
              <a:buNone/>
            </a:pPr>
            <a:r>
              <a:rPr lang="en-US" sz="900" dirty="0">
                <a:solidFill>
                  <a:srgbClr val="2A9D8F"/>
                </a:solidFill>
                <a:latin typeface="Calibri" pitchFamily="34" charset="0"/>
                <a:ea typeface="Calibri" pitchFamily="34" charset="-122"/>
                <a:cs typeface="Calibri" pitchFamily="34" charset="-120"/>
              </a:rPr>
              <a:t>Healthy</a:t>
            </a:r>
            <a:endParaRPr lang="en-US" sz="900" dirty="0"/>
          </a:p>
        </p:txBody>
      </p:sp>
      <p:sp>
        <p:nvSpPr>
          <p:cNvPr id="38" name="Text 36"/>
          <p:cNvSpPr/>
          <p:nvPr/>
        </p:nvSpPr>
        <p:spPr>
          <a:xfrm>
            <a:off x="5056632" y="4846320"/>
            <a:ext cx="3749040" cy="256032"/>
          </a:xfrm>
          <a:prstGeom prst="rect">
            <a:avLst/>
          </a:prstGeom>
          <a:noFill/>
          <a:ln/>
        </p:spPr>
        <p:txBody>
          <a:bodyPr wrap="square" lIns="0" tIns="0" rIns="0" bIns="0" rtlCol="0" anchor="ctr"/>
          <a:lstStyle/>
          <a:p>
            <a:pPr indent="0" marL="0">
              <a:buNone/>
            </a:pPr>
            <a:r>
              <a:rPr lang="en-US" sz="900" dirty="0">
                <a:solidFill>
                  <a:srgbClr val="CCCCCC"/>
                </a:solidFill>
                <a:latin typeface="Calibri" pitchFamily="34" charset="0"/>
                <a:ea typeface="Calibri" pitchFamily="34" charset="-122"/>
                <a:cs typeface="Calibri" pitchFamily="34" charset="-120"/>
              </a:rPr>
              <a:t>Proceed with testing</a:t>
            </a:r>
            <a:endParaRPr lang="en-US" sz="900" dirty="0"/>
          </a:p>
        </p:txBody>
      </p:sp>
      <p:sp>
        <p:nvSpPr>
          <p:cNvPr id="39" name="Shape 37"/>
          <p:cNvSpPr/>
          <p:nvPr/>
        </p:nvSpPr>
        <p:spPr>
          <a:xfrm>
            <a:off x="411480" y="5120640"/>
            <a:ext cx="8321040" cy="256032"/>
          </a:xfrm>
          <a:prstGeom prst="rect">
            <a:avLst/>
          </a:prstGeom>
          <a:solidFill>
            <a:srgbClr val="222222"/>
          </a:solidFill>
          <a:ln w="3810">
            <a:solidFill>
              <a:srgbClr val="333333"/>
            </a:solidFill>
            <a:prstDash val="solid"/>
          </a:ln>
        </p:spPr>
      </p:sp>
      <p:sp>
        <p:nvSpPr>
          <p:cNvPr id="40" name="Text 38"/>
          <p:cNvSpPr/>
          <p:nvPr/>
        </p:nvSpPr>
        <p:spPr>
          <a:xfrm>
            <a:off x="484632" y="5120640"/>
            <a:ext cx="2286000" cy="256032"/>
          </a:xfrm>
          <a:prstGeom prst="rect">
            <a:avLst/>
          </a:prstGeom>
          <a:noFill/>
          <a:ln/>
        </p:spPr>
        <p:txBody>
          <a:bodyPr wrap="square" lIns="0" tIns="0" rIns="0" bIns="0" rtlCol="0" anchor="ctr"/>
          <a:lstStyle/>
          <a:p>
            <a:pPr indent="0" marL="0">
              <a:buNone/>
            </a:pPr>
            <a:r>
              <a:rPr lang="en-US" sz="900" dirty="0">
                <a:solidFill>
                  <a:srgbClr val="E9A825"/>
                </a:solidFill>
                <a:latin typeface="Calibri" pitchFamily="34" charset="0"/>
                <a:ea typeface="Calibri" pitchFamily="34" charset="-122"/>
                <a:cs typeface="Calibri" pitchFamily="34" charset="-120"/>
              </a:rPr>
              <a:t>15–17 in. Hg</a:t>
            </a:r>
            <a:endParaRPr lang="en-US" sz="900" dirty="0"/>
          </a:p>
        </p:txBody>
      </p:sp>
      <p:sp>
        <p:nvSpPr>
          <p:cNvPr id="41" name="Text 39"/>
          <p:cNvSpPr/>
          <p:nvPr/>
        </p:nvSpPr>
        <p:spPr>
          <a:xfrm>
            <a:off x="2770632" y="5120640"/>
            <a:ext cx="2286000" cy="256032"/>
          </a:xfrm>
          <a:prstGeom prst="rect">
            <a:avLst/>
          </a:prstGeom>
          <a:noFill/>
          <a:ln/>
        </p:spPr>
        <p:txBody>
          <a:bodyPr wrap="square" lIns="0" tIns="0" rIns="0" bIns="0" rtlCol="0" anchor="ctr"/>
          <a:lstStyle/>
          <a:p>
            <a:pPr indent="0" marL="0">
              <a:buNone/>
            </a:pPr>
            <a:r>
              <a:rPr lang="en-US" sz="900" dirty="0">
                <a:solidFill>
                  <a:srgbClr val="E9A825"/>
                </a:solidFill>
                <a:latin typeface="Calibri" pitchFamily="34" charset="0"/>
                <a:ea typeface="Calibri" pitchFamily="34" charset="-122"/>
                <a:cs typeface="Calibri" pitchFamily="34" charset="-120"/>
              </a:rPr>
              <a:t>Marginal</a:t>
            </a:r>
            <a:endParaRPr lang="en-US" sz="900" dirty="0"/>
          </a:p>
        </p:txBody>
      </p:sp>
      <p:sp>
        <p:nvSpPr>
          <p:cNvPr id="42" name="Text 40"/>
          <p:cNvSpPr/>
          <p:nvPr/>
        </p:nvSpPr>
        <p:spPr>
          <a:xfrm>
            <a:off x="5056632" y="5120640"/>
            <a:ext cx="3749040" cy="256032"/>
          </a:xfrm>
          <a:prstGeom prst="rect">
            <a:avLst/>
          </a:prstGeom>
          <a:noFill/>
          <a:ln/>
        </p:spPr>
        <p:txBody>
          <a:bodyPr wrap="square" lIns="0" tIns="0" rIns="0" bIns="0" rtlCol="0" anchor="ctr"/>
          <a:lstStyle/>
          <a:p>
            <a:pPr indent="0" marL="0">
              <a:buNone/>
            </a:pPr>
            <a:r>
              <a:rPr lang="en-US" sz="900" dirty="0">
                <a:solidFill>
                  <a:srgbClr val="CCCCCC"/>
                </a:solidFill>
                <a:latin typeface="Calibri" pitchFamily="34" charset="0"/>
                <a:ea typeface="Calibri" pitchFamily="34" charset="-122"/>
                <a:cs typeface="Calibri" pitchFamily="34" charset="-120"/>
              </a:rPr>
              <a:t>Inspect hoses and engine vacuum — do not pass without follow-up</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2A9D8F"/>
          </a:solidFill>
          <a:ln w="12700">
            <a:solidFill>
              <a:srgbClr val="2A9D8F"/>
            </a:solidFill>
            <a:prstDash val="solid"/>
          </a:ln>
        </p:spPr>
      </p:sp>
      <p:sp>
        <p:nvSpPr>
          <p:cNvPr id="3" name="Shape 1"/>
          <p:cNvSpPr/>
          <p:nvPr/>
        </p:nvSpPr>
        <p:spPr>
          <a:xfrm>
            <a:off x="0" y="5079492"/>
            <a:ext cx="9144000" cy="64008"/>
          </a:xfrm>
          <a:prstGeom prst="rect">
            <a:avLst/>
          </a:prstGeom>
          <a:solidFill>
            <a:srgbClr val="2A9D8F"/>
          </a:solidFill>
          <a:ln w="12700">
            <a:solidFill>
              <a:srgbClr val="2A9D8F"/>
            </a:solidFill>
            <a:prstDash val="solid"/>
          </a:ln>
        </p:spPr>
      </p:sp>
      <p:sp>
        <p:nvSpPr>
          <p:cNvPr id="4" name="Text 2"/>
          <p:cNvSpPr/>
          <p:nvPr/>
        </p:nvSpPr>
        <p:spPr>
          <a:xfrm>
            <a:off x="457200" y="118872"/>
            <a:ext cx="8229600" cy="201168"/>
          </a:xfrm>
          <a:prstGeom prst="rect">
            <a:avLst/>
          </a:prstGeom>
          <a:noFill/>
          <a:ln/>
        </p:spPr>
        <p:txBody>
          <a:bodyPr wrap="square" lIns="0" tIns="0" rIns="0" bIns="0" rtlCol="0" anchor="ctr"/>
          <a:lstStyle/>
          <a:p>
            <a:pPr indent="0" marL="0">
              <a:buNone/>
            </a:pPr>
            <a:r>
              <a:rPr lang="en-US" sz="800" b="1" spc="400" kern="0" dirty="0">
                <a:solidFill>
                  <a:srgbClr val="2A9D8F"/>
                </a:solidFill>
                <a:latin typeface="Calibri" pitchFamily="34" charset="0"/>
                <a:ea typeface="Calibri" pitchFamily="34" charset="-122"/>
                <a:cs typeface="Calibri" pitchFamily="34" charset="-120"/>
              </a:rPr>
              <a:t>VACUUM TESTING — TEST 2</a:t>
            </a:r>
            <a:endParaRPr lang="en-US" sz="800" dirty="0"/>
          </a:p>
        </p:txBody>
      </p:sp>
      <p:sp>
        <p:nvSpPr>
          <p:cNvPr id="5" name="Text 3"/>
          <p:cNvSpPr/>
          <p:nvPr/>
        </p:nvSpPr>
        <p:spPr>
          <a:xfrm>
            <a:off x="457200" y="384048"/>
            <a:ext cx="8229600" cy="530352"/>
          </a:xfrm>
          <a:prstGeom prst="rect">
            <a:avLst/>
          </a:prstGeom>
          <a:noFill/>
          <a:ln/>
        </p:spPr>
        <p:txBody>
          <a:bodyPr wrap="square" lIns="0" tIns="0" rIns="0" bIns="0" rtlCol="0" anchor="ctr"/>
          <a:lstStyle/>
          <a:p>
            <a:pPr indent="0" marL="0">
              <a:buNone/>
            </a:pPr>
            <a:r>
              <a:rPr lang="en-US" sz="2800" b="1" dirty="0">
                <a:solidFill>
                  <a:srgbClr val="2A9D8F"/>
                </a:solidFill>
                <a:latin typeface="Calibri" pitchFamily="34" charset="0"/>
                <a:ea typeface="Calibri" pitchFamily="34" charset="-122"/>
                <a:cs typeface="Calibri" pitchFamily="34" charset="-120"/>
              </a:rPr>
              <a:t>Vacuum Depletion Test</a:t>
            </a:r>
            <a:endParaRPr lang="en-US" sz="2800" dirty="0"/>
          </a:p>
        </p:txBody>
      </p:sp>
      <p:sp>
        <p:nvSpPr>
          <p:cNvPr id="6" name="Text 4"/>
          <p:cNvSpPr/>
          <p:nvPr/>
        </p:nvSpPr>
        <p:spPr>
          <a:xfrm>
            <a:off x="457200" y="987552"/>
            <a:ext cx="8229600" cy="237744"/>
          </a:xfrm>
          <a:prstGeom prst="rect">
            <a:avLst/>
          </a:prstGeom>
          <a:noFill/>
          <a:ln/>
        </p:spPr>
        <p:txBody>
          <a:bodyPr wrap="square" lIns="0" tIns="0" rIns="0" bIns="0" rtlCol="0" anchor="ctr"/>
          <a:lstStyle/>
          <a:p>
            <a:pPr indent="0" marL="0">
              <a:buNone/>
            </a:pPr>
            <a:r>
              <a:rPr lang="en-US" sz="1000" i="1" dirty="0">
                <a:solidFill>
                  <a:srgbClr val="888888"/>
                </a:solidFill>
                <a:latin typeface="Calibri" pitchFamily="34" charset="0"/>
                <a:ea typeface="Calibri" pitchFamily="34" charset="-122"/>
                <a:cs typeface="Calibri" pitchFamily="34" charset="-120"/>
              </a:rPr>
              <a:t>Tests stored vacuum reserve and check valve integrity. Engine OFF. Connect gauge between check valve and booster.</a:t>
            </a:r>
            <a:endParaRPr lang="en-US" sz="1000" dirty="0"/>
          </a:p>
        </p:txBody>
      </p:sp>
      <p:sp>
        <p:nvSpPr>
          <p:cNvPr id="7" name="Shape 5"/>
          <p:cNvSpPr/>
          <p:nvPr/>
        </p:nvSpPr>
        <p:spPr>
          <a:xfrm>
            <a:off x="411480" y="1316736"/>
            <a:ext cx="4892040" cy="914400"/>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8" name="Shape 6"/>
          <p:cNvSpPr/>
          <p:nvPr/>
        </p:nvSpPr>
        <p:spPr>
          <a:xfrm>
            <a:off x="411480" y="1316736"/>
            <a:ext cx="54864" cy="914400"/>
          </a:xfrm>
          <a:prstGeom prst="rect">
            <a:avLst/>
          </a:prstGeom>
          <a:solidFill>
            <a:srgbClr val="2A9D8F"/>
          </a:solidFill>
          <a:ln w="12700">
            <a:solidFill>
              <a:srgbClr val="2A9D8F"/>
            </a:solidFill>
            <a:prstDash val="solid"/>
          </a:ln>
        </p:spPr>
      </p:sp>
      <p:sp>
        <p:nvSpPr>
          <p:cNvPr id="9" name="Shape 7"/>
          <p:cNvSpPr/>
          <p:nvPr/>
        </p:nvSpPr>
        <p:spPr>
          <a:xfrm>
            <a:off x="530352" y="1426464"/>
            <a:ext cx="347472" cy="347472"/>
          </a:xfrm>
          <a:prstGeom prst="ellipse">
            <a:avLst/>
          </a:prstGeom>
          <a:solidFill>
            <a:srgbClr val="2A9D8F"/>
          </a:solidFill>
          <a:ln w="12700">
            <a:solidFill>
              <a:srgbClr val="2A9D8F"/>
            </a:solidFill>
            <a:prstDash val="solid"/>
          </a:ln>
        </p:spPr>
      </p:sp>
      <p:sp>
        <p:nvSpPr>
          <p:cNvPr id="10" name="Text 8"/>
          <p:cNvSpPr/>
          <p:nvPr/>
        </p:nvSpPr>
        <p:spPr>
          <a:xfrm>
            <a:off x="530352" y="1426464"/>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9"/>
          <p:cNvSpPr/>
          <p:nvPr/>
        </p:nvSpPr>
        <p:spPr>
          <a:xfrm>
            <a:off x="978408" y="1408176"/>
            <a:ext cx="4233672"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Engine OFF</a:t>
            </a:r>
            <a:endParaRPr lang="en-US" sz="1100" dirty="0"/>
          </a:p>
        </p:txBody>
      </p:sp>
      <p:sp>
        <p:nvSpPr>
          <p:cNvPr id="12" name="Text 10"/>
          <p:cNvSpPr/>
          <p:nvPr/>
        </p:nvSpPr>
        <p:spPr>
          <a:xfrm>
            <a:off x="978408" y="1700784"/>
            <a:ext cx="4233672" cy="420624"/>
          </a:xfrm>
          <a:prstGeom prst="rect">
            <a:avLst/>
          </a:prstGeom>
          <a:noFill/>
          <a:ln/>
        </p:spPr>
        <p:txBody>
          <a:bodyPr wrap="square" lIns="0" tIns="0" rIns="0" bIns="0" rtlCol="0" anchor="t"/>
          <a:lstStyle/>
          <a:p>
            <a:pPr indent="0" marL="0">
              <a:buNone/>
            </a:pPr>
            <a:r>
              <a:rPr lang="en-US" sz="950" dirty="0">
                <a:solidFill>
                  <a:srgbClr val="CCCCCC"/>
                </a:solidFill>
                <a:latin typeface="Calibri" pitchFamily="34" charset="0"/>
                <a:ea typeface="Calibri" pitchFamily="34" charset="-122"/>
                <a:cs typeface="Calibri" pitchFamily="34" charset="-120"/>
              </a:rPr>
              <a:t>Turn off engine. Check valve should hold residual vacuum inside the booster.</a:t>
            </a:r>
            <a:endParaRPr lang="en-US" sz="950" dirty="0"/>
          </a:p>
        </p:txBody>
      </p:sp>
      <p:sp>
        <p:nvSpPr>
          <p:cNvPr id="13" name="Shape 11"/>
          <p:cNvSpPr/>
          <p:nvPr/>
        </p:nvSpPr>
        <p:spPr>
          <a:xfrm>
            <a:off x="411480" y="2304288"/>
            <a:ext cx="4892040" cy="914400"/>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14" name="Shape 12"/>
          <p:cNvSpPr/>
          <p:nvPr/>
        </p:nvSpPr>
        <p:spPr>
          <a:xfrm>
            <a:off x="411480" y="2304288"/>
            <a:ext cx="54864" cy="914400"/>
          </a:xfrm>
          <a:prstGeom prst="rect">
            <a:avLst/>
          </a:prstGeom>
          <a:solidFill>
            <a:srgbClr val="2A9D8F"/>
          </a:solidFill>
          <a:ln w="12700">
            <a:solidFill>
              <a:srgbClr val="2A9D8F"/>
            </a:solidFill>
            <a:prstDash val="solid"/>
          </a:ln>
        </p:spPr>
      </p:sp>
      <p:sp>
        <p:nvSpPr>
          <p:cNvPr id="15" name="Shape 13"/>
          <p:cNvSpPr/>
          <p:nvPr/>
        </p:nvSpPr>
        <p:spPr>
          <a:xfrm>
            <a:off x="530352" y="2414016"/>
            <a:ext cx="347472" cy="347472"/>
          </a:xfrm>
          <a:prstGeom prst="ellipse">
            <a:avLst/>
          </a:prstGeom>
          <a:solidFill>
            <a:srgbClr val="2A9D8F"/>
          </a:solidFill>
          <a:ln w="12700">
            <a:solidFill>
              <a:srgbClr val="2A9D8F"/>
            </a:solidFill>
            <a:prstDash val="solid"/>
          </a:ln>
        </p:spPr>
      </p:sp>
      <p:sp>
        <p:nvSpPr>
          <p:cNvPr id="16" name="Text 14"/>
          <p:cNvSpPr/>
          <p:nvPr/>
        </p:nvSpPr>
        <p:spPr>
          <a:xfrm>
            <a:off x="530352" y="2414016"/>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5"/>
          <p:cNvSpPr/>
          <p:nvPr/>
        </p:nvSpPr>
        <p:spPr>
          <a:xfrm>
            <a:off x="978408" y="2395728"/>
            <a:ext cx="4233672"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Connect Gauge</a:t>
            </a:r>
            <a:endParaRPr lang="en-US" sz="1100" dirty="0"/>
          </a:p>
        </p:txBody>
      </p:sp>
      <p:sp>
        <p:nvSpPr>
          <p:cNvPr id="18" name="Text 16"/>
          <p:cNvSpPr/>
          <p:nvPr/>
        </p:nvSpPr>
        <p:spPr>
          <a:xfrm>
            <a:off x="978408" y="2688336"/>
            <a:ext cx="4233672" cy="420624"/>
          </a:xfrm>
          <a:prstGeom prst="rect">
            <a:avLst/>
          </a:prstGeom>
          <a:noFill/>
          <a:ln/>
        </p:spPr>
        <p:txBody>
          <a:bodyPr wrap="square" lIns="0" tIns="0" rIns="0" bIns="0" rtlCol="0" anchor="t"/>
          <a:lstStyle/>
          <a:p>
            <a:pPr indent="0" marL="0">
              <a:buNone/>
            </a:pPr>
            <a:r>
              <a:rPr lang="en-US" sz="950" dirty="0">
                <a:solidFill>
                  <a:srgbClr val="CCCCCC"/>
                </a:solidFill>
                <a:latin typeface="Calibri" pitchFamily="34" charset="0"/>
                <a:ea typeface="Calibri" pitchFamily="34" charset="-122"/>
                <a:cs typeface="Calibri" pitchFamily="34" charset="-120"/>
              </a:rPr>
              <a:t>Attach vacuum gauge downstream of the check valve — between valve and booster inlet.</a:t>
            </a:r>
            <a:endParaRPr lang="en-US" sz="950" dirty="0"/>
          </a:p>
        </p:txBody>
      </p:sp>
      <p:sp>
        <p:nvSpPr>
          <p:cNvPr id="19" name="Shape 17"/>
          <p:cNvSpPr/>
          <p:nvPr/>
        </p:nvSpPr>
        <p:spPr>
          <a:xfrm>
            <a:off x="411480" y="3291840"/>
            <a:ext cx="4892040" cy="914400"/>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20" name="Shape 18"/>
          <p:cNvSpPr/>
          <p:nvPr/>
        </p:nvSpPr>
        <p:spPr>
          <a:xfrm>
            <a:off x="411480" y="3291840"/>
            <a:ext cx="54864" cy="914400"/>
          </a:xfrm>
          <a:prstGeom prst="rect">
            <a:avLst/>
          </a:prstGeom>
          <a:solidFill>
            <a:srgbClr val="E9A825"/>
          </a:solidFill>
          <a:ln w="12700">
            <a:solidFill>
              <a:srgbClr val="E9A825"/>
            </a:solidFill>
            <a:prstDash val="solid"/>
          </a:ln>
        </p:spPr>
      </p:sp>
      <p:sp>
        <p:nvSpPr>
          <p:cNvPr id="21" name="Shape 19"/>
          <p:cNvSpPr/>
          <p:nvPr/>
        </p:nvSpPr>
        <p:spPr>
          <a:xfrm>
            <a:off x="530352" y="3401568"/>
            <a:ext cx="347472" cy="347472"/>
          </a:xfrm>
          <a:prstGeom prst="ellipse">
            <a:avLst/>
          </a:prstGeom>
          <a:solidFill>
            <a:srgbClr val="E9A825"/>
          </a:solidFill>
          <a:ln w="12700">
            <a:solidFill>
              <a:srgbClr val="E9A825"/>
            </a:solidFill>
            <a:prstDash val="solid"/>
          </a:ln>
        </p:spPr>
      </p:sp>
      <p:sp>
        <p:nvSpPr>
          <p:cNvPr id="22" name="Text 20"/>
          <p:cNvSpPr/>
          <p:nvPr/>
        </p:nvSpPr>
        <p:spPr>
          <a:xfrm>
            <a:off x="530352" y="3401568"/>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3" name="Text 21"/>
          <p:cNvSpPr/>
          <p:nvPr/>
        </p:nvSpPr>
        <p:spPr>
          <a:xfrm>
            <a:off x="978408" y="3383280"/>
            <a:ext cx="4233672"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Press 3 Times</a:t>
            </a:r>
            <a:endParaRPr lang="en-US" sz="1100" dirty="0"/>
          </a:p>
        </p:txBody>
      </p:sp>
      <p:sp>
        <p:nvSpPr>
          <p:cNvPr id="24" name="Text 22"/>
          <p:cNvSpPr/>
          <p:nvPr/>
        </p:nvSpPr>
        <p:spPr>
          <a:xfrm>
            <a:off x="978408" y="3675888"/>
            <a:ext cx="4233672" cy="420624"/>
          </a:xfrm>
          <a:prstGeom prst="rect">
            <a:avLst/>
          </a:prstGeom>
          <a:noFill/>
          <a:ln/>
        </p:spPr>
        <p:txBody>
          <a:bodyPr wrap="square" lIns="0" tIns="0" rIns="0" bIns="0" rtlCol="0" anchor="t"/>
          <a:lstStyle/>
          <a:p>
            <a:pPr indent="0" marL="0">
              <a:buNone/>
            </a:pPr>
            <a:r>
              <a:rPr lang="en-US" sz="950" dirty="0">
                <a:solidFill>
                  <a:srgbClr val="CCCCCC"/>
                </a:solidFill>
                <a:latin typeface="Calibri" pitchFamily="34" charset="0"/>
                <a:ea typeface="Calibri" pitchFamily="34" charset="-122"/>
                <a:cs typeface="Calibri" pitchFamily="34" charset="-120"/>
              </a:rPr>
              <a:t>Push brake pedal fully three times. Record gauge reading after each press in the table.</a:t>
            </a:r>
            <a:endParaRPr lang="en-US" sz="950" dirty="0"/>
          </a:p>
        </p:txBody>
      </p:sp>
      <p:sp>
        <p:nvSpPr>
          <p:cNvPr id="25" name="Shape 23"/>
          <p:cNvSpPr/>
          <p:nvPr/>
        </p:nvSpPr>
        <p:spPr>
          <a:xfrm>
            <a:off x="5468112" y="1316736"/>
            <a:ext cx="3291840" cy="310896"/>
          </a:xfrm>
          <a:prstGeom prst="rect">
            <a:avLst/>
          </a:prstGeom>
          <a:solidFill>
            <a:srgbClr val="2A9D8F"/>
          </a:solidFill>
          <a:ln w="12700">
            <a:solidFill>
              <a:srgbClr val="2A9D8F"/>
            </a:solidFill>
            <a:prstDash val="solid"/>
          </a:ln>
        </p:spPr>
      </p:sp>
      <p:sp>
        <p:nvSpPr>
          <p:cNvPr id="26" name="Text 24"/>
          <p:cNvSpPr/>
          <p:nvPr/>
        </p:nvSpPr>
        <p:spPr>
          <a:xfrm>
            <a:off x="5522976" y="1316736"/>
            <a:ext cx="1463040" cy="310896"/>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APPLICATION</a:t>
            </a:r>
            <a:endParaRPr lang="en-US" sz="900" dirty="0"/>
          </a:p>
        </p:txBody>
      </p:sp>
      <p:sp>
        <p:nvSpPr>
          <p:cNvPr id="27" name="Text 25"/>
          <p:cNvSpPr/>
          <p:nvPr/>
        </p:nvSpPr>
        <p:spPr>
          <a:xfrm>
            <a:off x="6986016" y="1316736"/>
            <a:ext cx="1097280" cy="310896"/>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READING</a:t>
            </a:r>
            <a:endParaRPr lang="en-US" sz="900" dirty="0"/>
          </a:p>
        </p:txBody>
      </p:sp>
      <p:sp>
        <p:nvSpPr>
          <p:cNvPr id="28" name="Text 26"/>
          <p:cNvSpPr/>
          <p:nvPr/>
        </p:nvSpPr>
        <p:spPr>
          <a:xfrm>
            <a:off x="8083296" y="1316736"/>
            <a:ext cx="731520" cy="310896"/>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IN. HG</a:t>
            </a:r>
            <a:endParaRPr lang="en-US" sz="900" dirty="0"/>
          </a:p>
        </p:txBody>
      </p:sp>
      <p:sp>
        <p:nvSpPr>
          <p:cNvPr id="29" name="Shape 27"/>
          <p:cNvSpPr/>
          <p:nvPr/>
        </p:nvSpPr>
        <p:spPr>
          <a:xfrm>
            <a:off x="5468112" y="1645920"/>
            <a:ext cx="3291840" cy="402336"/>
          </a:xfrm>
          <a:prstGeom prst="rect">
            <a:avLst/>
          </a:prstGeom>
          <a:solidFill>
            <a:srgbClr val="2A2A2A"/>
          </a:solidFill>
          <a:ln w="3810">
            <a:solidFill>
              <a:srgbClr val="333333"/>
            </a:solidFill>
            <a:prstDash val="solid"/>
          </a:ln>
        </p:spPr>
      </p:sp>
      <p:sp>
        <p:nvSpPr>
          <p:cNvPr id="30" name="Text 28"/>
          <p:cNvSpPr/>
          <p:nvPr/>
        </p:nvSpPr>
        <p:spPr>
          <a:xfrm>
            <a:off x="5522976" y="1645920"/>
            <a:ext cx="1408176" cy="402336"/>
          </a:xfrm>
          <a:prstGeom prst="rect">
            <a:avLst/>
          </a:prstGeom>
          <a:noFill/>
          <a:ln/>
        </p:spPr>
        <p:txBody>
          <a:bodyPr wrap="square" lIns="0" tIns="0" rIns="0" bIns="0" rtlCol="0" anchor="ctr"/>
          <a:lstStyle/>
          <a:p>
            <a:pPr indent="0" marL="0">
              <a:buNone/>
            </a:pPr>
            <a:r>
              <a:rPr lang="en-US" sz="950" dirty="0">
                <a:solidFill>
                  <a:srgbClr val="CCCCCC"/>
                </a:solidFill>
                <a:latin typeface="Calibri" pitchFamily="34" charset="0"/>
                <a:ea typeface="Calibri" pitchFamily="34" charset="-122"/>
                <a:cs typeface="Calibri" pitchFamily="34" charset="-120"/>
              </a:rPr>
              <a:t>Pedal Application 1</a:t>
            </a:r>
            <a:endParaRPr lang="en-US" sz="950" dirty="0"/>
          </a:p>
        </p:txBody>
      </p:sp>
      <p:sp>
        <p:nvSpPr>
          <p:cNvPr id="31" name="Text 29"/>
          <p:cNvSpPr/>
          <p:nvPr/>
        </p:nvSpPr>
        <p:spPr>
          <a:xfrm>
            <a:off x="6949440" y="1645920"/>
            <a:ext cx="1042416" cy="402336"/>
          </a:xfrm>
          <a:prstGeom prst="rect">
            <a:avLst/>
          </a:prstGeom>
          <a:noFill/>
          <a:ln/>
        </p:spPr>
        <p:txBody>
          <a:bodyPr wrap="square" lIns="0" tIns="0" rIns="0" bIns="0" rtlCol="0" anchor="ctr"/>
          <a:lstStyle/>
          <a:p>
            <a:pPr indent="0" marL="0">
              <a:buNone/>
            </a:pPr>
            <a:r>
              <a:rPr lang="en-US" sz="900" i="1" dirty="0">
                <a:solidFill>
                  <a:srgbClr val="888888"/>
                </a:solidFill>
                <a:latin typeface="Calibri" pitchFamily="34" charset="0"/>
                <a:ea typeface="Calibri" pitchFamily="34" charset="-122"/>
                <a:cs typeface="Calibri" pitchFamily="34" charset="-120"/>
              </a:rPr>
              <a:t>Record reading</a:t>
            </a:r>
            <a:endParaRPr lang="en-US" sz="900" dirty="0"/>
          </a:p>
        </p:txBody>
      </p:sp>
      <p:sp>
        <p:nvSpPr>
          <p:cNvPr id="32" name="Text 30"/>
          <p:cNvSpPr/>
          <p:nvPr/>
        </p:nvSpPr>
        <p:spPr>
          <a:xfrm>
            <a:off x="8010144" y="1645920"/>
            <a:ext cx="713232" cy="402336"/>
          </a:xfrm>
          <a:prstGeom prst="rect">
            <a:avLst/>
          </a:prstGeom>
          <a:noFill/>
          <a:ln/>
        </p:spPr>
        <p:txBody>
          <a:bodyPr wrap="square" lIns="0" tIns="0" rIns="0" bIns="0" rtlCol="0" anchor="ctr"/>
          <a:lstStyle/>
          <a:p>
            <a:pPr indent="0" marL="0">
              <a:buNone/>
            </a:pPr>
            <a:r>
              <a:rPr lang="en-US" sz="900" dirty="0">
                <a:solidFill>
                  <a:srgbClr val="888888"/>
                </a:solidFill>
                <a:latin typeface="Calibri" pitchFamily="34" charset="0"/>
                <a:ea typeface="Calibri" pitchFamily="34" charset="-122"/>
                <a:cs typeface="Calibri" pitchFamily="34" charset="-120"/>
              </a:rPr>
              <a:t>in. Hg</a:t>
            </a:r>
            <a:endParaRPr lang="en-US" sz="900" dirty="0"/>
          </a:p>
        </p:txBody>
      </p:sp>
      <p:sp>
        <p:nvSpPr>
          <p:cNvPr id="33" name="Shape 31"/>
          <p:cNvSpPr/>
          <p:nvPr/>
        </p:nvSpPr>
        <p:spPr>
          <a:xfrm>
            <a:off x="5468112" y="2066544"/>
            <a:ext cx="3291840" cy="402336"/>
          </a:xfrm>
          <a:prstGeom prst="rect">
            <a:avLst/>
          </a:prstGeom>
          <a:solidFill>
            <a:srgbClr val="222222"/>
          </a:solidFill>
          <a:ln w="3810">
            <a:solidFill>
              <a:srgbClr val="333333"/>
            </a:solidFill>
            <a:prstDash val="solid"/>
          </a:ln>
        </p:spPr>
      </p:sp>
      <p:sp>
        <p:nvSpPr>
          <p:cNvPr id="34" name="Text 32"/>
          <p:cNvSpPr/>
          <p:nvPr/>
        </p:nvSpPr>
        <p:spPr>
          <a:xfrm>
            <a:off x="5522976" y="2066544"/>
            <a:ext cx="1408176" cy="402336"/>
          </a:xfrm>
          <a:prstGeom prst="rect">
            <a:avLst/>
          </a:prstGeom>
          <a:noFill/>
          <a:ln/>
        </p:spPr>
        <p:txBody>
          <a:bodyPr wrap="square" lIns="0" tIns="0" rIns="0" bIns="0" rtlCol="0" anchor="ctr"/>
          <a:lstStyle/>
          <a:p>
            <a:pPr indent="0" marL="0">
              <a:buNone/>
            </a:pPr>
            <a:r>
              <a:rPr lang="en-US" sz="950" dirty="0">
                <a:solidFill>
                  <a:srgbClr val="CCCCCC"/>
                </a:solidFill>
                <a:latin typeface="Calibri" pitchFamily="34" charset="0"/>
                <a:ea typeface="Calibri" pitchFamily="34" charset="-122"/>
                <a:cs typeface="Calibri" pitchFamily="34" charset="-120"/>
              </a:rPr>
              <a:t>Pedal Application 2</a:t>
            </a:r>
            <a:endParaRPr lang="en-US" sz="950" dirty="0"/>
          </a:p>
        </p:txBody>
      </p:sp>
      <p:sp>
        <p:nvSpPr>
          <p:cNvPr id="35" name="Text 33"/>
          <p:cNvSpPr/>
          <p:nvPr/>
        </p:nvSpPr>
        <p:spPr>
          <a:xfrm>
            <a:off x="6949440" y="2066544"/>
            <a:ext cx="1042416" cy="402336"/>
          </a:xfrm>
          <a:prstGeom prst="rect">
            <a:avLst/>
          </a:prstGeom>
          <a:noFill/>
          <a:ln/>
        </p:spPr>
        <p:txBody>
          <a:bodyPr wrap="square" lIns="0" tIns="0" rIns="0" bIns="0" rtlCol="0" anchor="ctr"/>
          <a:lstStyle/>
          <a:p>
            <a:pPr indent="0" marL="0">
              <a:buNone/>
            </a:pPr>
            <a:r>
              <a:rPr lang="en-US" sz="900" i="1" dirty="0">
                <a:solidFill>
                  <a:srgbClr val="888888"/>
                </a:solidFill>
                <a:latin typeface="Calibri" pitchFamily="34" charset="0"/>
                <a:ea typeface="Calibri" pitchFamily="34" charset="-122"/>
                <a:cs typeface="Calibri" pitchFamily="34" charset="-120"/>
              </a:rPr>
              <a:t>Record reading</a:t>
            </a:r>
            <a:endParaRPr lang="en-US" sz="900" dirty="0"/>
          </a:p>
        </p:txBody>
      </p:sp>
      <p:sp>
        <p:nvSpPr>
          <p:cNvPr id="36" name="Text 34"/>
          <p:cNvSpPr/>
          <p:nvPr/>
        </p:nvSpPr>
        <p:spPr>
          <a:xfrm>
            <a:off x="8010144" y="2066544"/>
            <a:ext cx="713232" cy="402336"/>
          </a:xfrm>
          <a:prstGeom prst="rect">
            <a:avLst/>
          </a:prstGeom>
          <a:noFill/>
          <a:ln/>
        </p:spPr>
        <p:txBody>
          <a:bodyPr wrap="square" lIns="0" tIns="0" rIns="0" bIns="0" rtlCol="0" anchor="ctr"/>
          <a:lstStyle/>
          <a:p>
            <a:pPr indent="0" marL="0">
              <a:buNone/>
            </a:pPr>
            <a:r>
              <a:rPr lang="en-US" sz="900" dirty="0">
                <a:solidFill>
                  <a:srgbClr val="888888"/>
                </a:solidFill>
                <a:latin typeface="Calibri" pitchFamily="34" charset="0"/>
                <a:ea typeface="Calibri" pitchFamily="34" charset="-122"/>
                <a:cs typeface="Calibri" pitchFamily="34" charset="-120"/>
              </a:rPr>
              <a:t>in. Hg</a:t>
            </a:r>
            <a:endParaRPr lang="en-US" sz="900" dirty="0"/>
          </a:p>
        </p:txBody>
      </p:sp>
      <p:sp>
        <p:nvSpPr>
          <p:cNvPr id="37" name="Shape 35"/>
          <p:cNvSpPr/>
          <p:nvPr/>
        </p:nvSpPr>
        <p:spPr>
          <a:xfrm>
            <a:off x="5468112" y="2487168"/>
            <a:ext cx="3291840" cy="402336"/>
          </a:xfrm>
          <a:prstGeom prst="rect">
            <a:avLst/>
          </a:prstGeom>
          <a:solidFill>
            <a:srgbClr val="2A2A2A"/>
          </a:solidFill>
          <a:ln w="3810">
            <a:solidFill>
              <a:srgbClr val="333333"/>
            </a:solidFill>
            <a:prstDash val="solid"/>
          </a:ln>
        </p:spPr>
      </p:sp>
      <p:sp>
        <p:nvSpPr>
          <p:cNvPr id="38" name="Text 36"/>
          <p:cNvSpPr/>
          <p:nvPr/>
        </p:nvSpPr>
        <p:spPr>
          <a:xfrm>
            <a:off x="5522976" y="2487168"/>
            <a:ext cx="1408176" cy="402336"/>
          </a:xfrm>
          <a:prstGeom prst="rect">
            <a:avLst/>
          </a:prstGeom>
          <a:noFill/>
          <a:ln/>
        </p:spPr>
        <p:txBody>
          <a:bodyPr wrap="square" lIns="0" tIns="0" rIns="0" bIns="0" rtlCol="0" anchor="ctr"/>
          <a:lstStyle/>
          <a:p>
            <a:pPr indent="0" marL="0">
              <a:buNone/>
            </a:pPr>
            <a:r>
              <a:rPr lang="en-US" sz="950" dirty="0">
                <a:solidFill>
                  <a:srgbClr val="CCCCCC"/>
                </a:solidFill>
                <a:latin typeface="Calibri" pitchFamily="34" charset="0"/>
                <a:ea typeface="Calibri" pitchFamily="34" charset="-122"/>
                <a:cs typeface="Calibri" pitchFamily="34" charset="-120"/>
              </a:rPr>
              <a:t>Pedal Application 3</a:t>
            </a:r>
            <a:endParaRPr lang="en-US" sz="950" dirty="0"/>
          </a:p>
        </p:txBody>
      </p:sp>
      <p:sp>
        <p:nvSpPr>
          <p:cNvPr id="39" name="Text 37"/>
          <p:cNvSpPr/>
          <p:nvPr/>
        </p:nvSpPr>
        <p:spPr>
          <a:xfrm>
            <a:off x="6949440" y="2487168"/>
            <a:ext cx="1042416" cy="402336"/>
          </a:xfrm>
          <a:prstGeom prst="rect">
            <a:avLst/>
          </a:prstGeom>
          <a:noFill/>
          <a:ln/>
        </p:spPr>
        <p:txBody>
          <a:bodyPr wrap="square" lIns="0" tIns="0" rIns="0" bIns="0" rtlCol="0" anchor="ctr"/>
          <a:lstStyle/>
          <a:p>
            <a:pPr indent="0" marL="0">
              <a:buNone/>
            </a:pPr>
            <a:r>
              <a:rPr lang="en-US" sz="900" i="1" dirty="0">
                <a:solidFill>
                  <a:srgbClr val="888888"/>
                </a:solidFill>
                <a:latin typeface="Calibri" pitchFamily="34" charset="0"/>
                <a:ea typeface="Calibri" pitchFamily="34" charset="-122"/>
                <a:cs typeface="Calibri" pitchFamily="34" charset="-120"/>
              </a:rPr>
              <a:t>Record reading</a:t>
            </a:r>
            <a:endParaRPr lang="en-US" sz="900" dirty="0"/>
          </a:p>
        </p:txBody>
      </p:sp>
      <p:sp>
        <p:nvSpPr>
          <p:cNvPr id="40" name="Text 38"/>
          <p:cNvSpPr/>
          <p:nvPr/>
        </p:nvSpPr>
        <p:spPr>
          <a:xfrm>
            <a:off x="8010144" y="2487168"/>
            <a:ext cx="713232" cy="402336"/>
          </a:xfrm>
          <a:prstGeom prst="rect">
            <a:avLst/>
          </a:prstGeom>
          <a:noFill/>
          <a:ln/>
        </p:spPr>
        <p:txBody>
          <a:bodyPr wrap="square" lIns="0" tIns="0" rIns="0" bIns="0" rtlCol="0" anchor="ctr"/>
          <a:lstStyle/>
          <a:p>
            <a:pPr indent="0" marL="0">
              <a:buNone/>
            </a:pPr>
            <a:r>
              <a:rPr lang="en-US" sz="900" dirty="0">
                <a:solidFill>
                  <a:srgbClr val="888888"/>
                </a:solidFill>
                <a:latin typeface="Calibri" pitchFamily="34" charset="0"/>
                <a:ea typeface="Calibri" pitchFamily="34" charset="-122"/>
                <a:cs typeface="Calibri" pitchFamily="34" charset="-120"/>
              </a:rPr>
              <a:t>in. Hg</a:t>
            </a:r>
            <a:endParaRPr lang="en-US" sz="900" dirty="0"/>
          </a:p>
        </p:txBody>
      </p:sp>
      <p:sp>
        <p:nvSpPr>
          <p:cNvPr id="41" name="Shape 39"/>
          <p:cNvSpPr/>
          <p:nvPr/>
        </p:nvSpPr>
        <p:spPr>
          <a:xfrm>
            <a:off x="5468112" y="2944368"/>
            <a:ext cx="3291840" cy="841248"/>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42" name="Shape 40"/>
          <p:cNvSpPr/>
          <p:nvPr/>
        </p:nvSpPr>
        <p:spPr>
          <a:xfrm>
            <a:off x="5468112" y="2944368"/>
            <a:ext cx="54864" cy="841248"/>
          </a:xfrm>
          <a:prstGeom prst="rect">
            <a:avLst/>
          </a:prstGeom>
          <a:solidFill>
            <a:srgbClr val="2A9D8F"/>
          </a:solidFill>
          <a:ln w="12700">
            <a:solidFill>
              <a:srgbClr val="2A9D8F"/>
            </a:solidFill>
            <a:prstDash val="solid"/>
          </a:ln>
        </p:spPr>
      </p:sp>
      <p:sp>
        <p:nvSpPr>
          <p:cNvPr id="43" name="Text 41"/>
          <p:cNvSpPr/>
          <p:nvPr/>
        </p:nvSpPr>
        <p:spPr>
          <a:xfrm>
            <a:off x="5596128" y="3035808"/>
            <a:ext cx="3090672" cy="256032"/>
          </a:xfrm>
          <a:prstGeom prst="rect">
            <a:avLst/>
          </a:prstGeom>
          <a:noFill/>
          <a:ln/>
        </p:spPr>
        <p:txBody>
          <a:bodyPr wrap="square" lIns="0" tIns="0" rIns="0" bIns="0" rtlCol="0" anchor="ctr"/>
          <a:lstStyle/>
          <a:p>
            <a:pPr indent="0" marL="0">
              <a:buNone/>
            </a:pPr>
            <a:r>
              <a:rPr lang="en-US" sz="1100" b="1" dirty="0">
                <a:solidFill>
                  <a:srgbClr val="2A9D8F"/>
                </a:solidFill>
                <a:latin typeface="Calibri" pitchFamily="34" charset="0"/>
                <a:ea typeface="Calibri" pitchFamily="34" charset="-122"/>
                <a:cs typeface="Calibri" pitchFamily="34" charset="-120"/>
              </a:rPr>
              <a:t>Expected Result</a:t>
            </a:r>
            <a:endParaRPr lang="en-US" sz="1100" dirty="0"/>
          </a:p>
        </p:txBody>
      </p:sp>
      <p:sp>
        <p:nvSpPr>
          <p:cNvPr id="44" name="Text 42"/>
          <p:cNvSpPr/>
          <p:nvPr/>
        </p:nvSpPr>
        <p:spPr>
          <a:xfrm>
            <a:off x="5596128" y="3328416"/>
            <a:ext cx="3090672" cy="347472"/>
          </a:xfrm>
          <a:prstGeom prst="rect">
            <a:avLst/>
          </a:prstGeom>
          <a:noFill/>
          <a:ln/>
        </p:spPr>
        <p:txBody>
          <a:bodyPr wrap="square" lIns="0" tIns="0" rIns="0" bIns="0" rtlCol="0" anchor="t"/>
          <a:lstStyle/>
          <a:p>
            <a:pPr indent="0" marL="0">
              <a:buNone/>
            </a:pPr>
            <a:r>
              <a:rPr lang="en-US" sz="1000" dirty="0">
                <a:solidFill>
                  <a:srgbClr val="CCCCCC"/>
                </a:solidFill>
                <a:latin typeface="Calibri" pitchFamily="34" charset="0"/>
                <a:ea typeface="Calibri" pitchFamily="34" charset="-122"/>
                <a:cs typeface="Calibri" pitchFamily="34" charset="-120"/>
              </a:rPr>
              <a:t>At least 2 full power-assisted applications. Rapid depletion = check valve or booster failure.</a:t>
            </a:r>
            <a:endParaRPr lang="en-US" sz="1000" dirty="0"/>
          </a:p>
        </p:txBody>
      </p:sp>
      <p:sp>
        <p:nvSpPr>
          <p:cNvPr id="45" name="Shape 43"/>
          <p:cNvSpPr/>
          <p:nvPr/>
        </p:nvSpPr>
        <p:spPr>
          <a:xfrm>
            <a:off x="411480" y="3913632"/>
            <a:ext cx="8321040" cy="274320"/>
          </a:xfrm>
          <a:prstGeom prst="rect">
            <a:avLst/>
          </a:prstGeom>
          <a:solidFill>
            <a:srgbClr val="2A9D8F"/>
          </a:solidFill>
          <a:ln w="12700">
            <a:solidFill>
              <a:srgbClr val="2A9D8F"/>
            </a:solidFill>
            <a:prstDash val="solid"/>
          </a:ln>
        </p:spPr>
      </p:sp>
      <p:sp>
        <p:nvSpPr>
          <p:cNvPr id="46" name="Text 44"/>
          <p:cNvSpPr/>
          <p:nvPr/>
        </p:nvSpPr>
        <p:spPr>
          <a:xfrm>
            <a:off x="484632" y="3913632"/>
            <a:ext cx="8229600" cy="27432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INTERPRETING DEPLETION RESULTS</a:t>
            </a:r>
            <a:endParaRPr lang="en-US" sz="900" dirty="0"/>
          </a:p>
        </p:txBody>
      </p:sp>
      <p:sp>
        <p:nvSpPr>
          <p:cNvPr id="47" name="Shape 45"/>
          <p:cNvSpPr/>
          <p:nvPr/>
        </p:nvSpPr>
        <p:spPr>
          <a:xfrm>
            <a:off x="411480" y="4206240"/>
            <a:ext cx="2029968" cy="621792"/>
          </a:xfrm>
          <a:prstGeom prst="rect">
            <a:avLst/>
          </a:prstGeom>
          <a:solidFill>
            <a:srgbClr val="2A2A2A"/>
          </a:solidFill>
          <a:ln w="3810">
            <a:solidFill>
              <a:srgbClr val="333333"/>
            </a:solidFill>
            <a:prstDash val="solid"/>
          </a:ln>
        </p:spPr>
      </p:sp>
      <p:sp>
        <p:nvSpPr>
          <p:cNvPr id="48" name="Text 46"/>
          <p:cNvSpPr/>
          <p:nvPr/>
        </p:nvSpPr>
        <p:spPr>
          <a:xfrm>
            <a:off x="466344" y="4224528"/>
            <a:ext cx="1920240" cy="219456"/>
          </a:xfrm>
          <a:prstGeom prst="rect">
            <a:avLst/>
          </a:prstGeom>
          <a:noFill/>
          <a:ln/>
        </p:spPr>
        <p:txBody>
          <a:bodyPr wrap="square" lIns="0" tIns="0" rIns="0" bIns="0" rtlCol="0" anchor="ctr"/>
          <a:lstStyle/>
          <a:p>
            <a:pPr indent="0" marL="0">
              <a:buNone/>
            </a:pPr>
            <a:r>
              <a:rPr lang="en-US" sz="900" b="1" dirty="0">
                <a:solidFill>
                  <a:srgbClr val="2A9D8F"/>
                </a:solidFill>
                <a:latin typeface="Calibri" pitchFamily="34" charset="0"/>
                <a:ea typeface="Calibri" pitchFamily="34" charset="-122"/>
                <a:cs typeface="Calibri" pitchFamily="34" charset="-120"/>
              </a:rPr>
              <a:t>3 assisted apps</a:t>
            </a:r>
            <a:endParaRPr lang="en-US" sz="900" dirty="0"/>
          </a:p>
        </p:txBody>
      </p:sp>
      <p:sp>
        <p:nvSpPr>
          <p:cNvPr id="49" name="Text 47"/>
          <p:cNvSpPr/>
          <p:nvPr/>
        </p:nvSpPr>
        <p:spPr>
          <a:xfrm>
            <a:off x="466344" y="4443984"/>
            <a:ext cx="1920240" cy="347472"/>
          </a:xfrm>
          <a:prstGeom prst="rect">
            <a:avLst/>
          </a:prstGeom>
          <a:noFill/>
          <a:ln/>
        </p:spPr>
        <p:txBody>
          <a:bodyPr wrap="square" lIns="0" tIns="0" rIns="0" bIns="0" rtlCol="0" anchor="t"/>
          <a:lstStyle/>
          <a:p>
            <a:pPr indent="0" marL="0">
              <a:buNone/>
            </a:pPr>
            <a:r>
              <a:rPr lang="en-US" sz="800" dirty="0">
                <a:solidFill>
                  <a:srgbClr val="CCCCCC"/>
                </a:solidFill>
                <a:latin typeface="Calibri" pitchFamily="34" charset="0"/>
                <a:ea typeface="Calibri" pitchFamily="34" charset="-122"/>
                <a:cs typeface="Calibri" pitchFamily="34" charset="-120"/>
              </a:rPr>
              <a:t>Excellent reserve — check valve holding well</a:t>
            </a:r>
            <a:endParaRPr lang="en-US" sz="800" dirty="0"/>
          </a:p>
        </p:txBody>
      </p:sp>
      <p:sp>
        <p:nvSpPr>
          <p:cNvPr id="50" name="Shape 48"/>
          <p:cNvSpPr/>
          <p:nvPr/>
        </p:nvSpPr>
        <p:spPr>
          <a:xfrm>
            <a:off x="2487168" y="4206240"/>
            <a:ext cx="2029968" cy="621792"/>
          </a:xfrm>
          <a:prstGeom prst="rect">
            <a:avLst/>
          </a:prstGeom>
          <a:solidFill>
            <a:srgbClr val="2A2A2A"/>
          </a:solidFill>
          <a:ln w="3810">
            <a:solidFill>
              <a:srgbClr val="333333"/>
            </a:solidFill>
            <a:prstDash val="solid"/>
          </a:ln>
        </p:spPr>
      </p:sp>
      <p:sp>
        <p:nvSpPr>
          <p:cNvPr id="51" name="Text 49"/>
          <p:cNvSpPr/>
          <p:nvPr/>
        </p:nvSpPr>
        <p:spPr>
          <a:xfrm>
            <a:off x="2542032" y="4224528"/>
            <a:ext cx="1920240" cy="219456"/>
          </a:xfrm>
          <a:prstGeom prst="rect">
            <a:avLst/>
          </a:prstGeom>
          <a:noFill/>
          <a:ln/>
        </p:spPr>
        <p:txBody>
          <a:bodyPr wrap="square" lIns="0" tIns="0" rIns="0" bIns="0" rtlCol="0" anchor="ctr"/>
          <a:lstStyle/>
          <a:p>
            <a:pPr indent="0" marL="0">
              <a:buNone/>
            </a:pPr>
            <a:r>
              <a:rPr lang="en-US" sz="900" b="1" dirty="0">
                <a:solidFill>
                  <a:srgbClr val="2A9D8F"/>
                </a:solidFill>
                <a:latin typeface="Calibri" pitchFamily="34" charset="0"/>
                <a:ea typeface="Calibri" pitchFamily="34" charset="-122"/>
                <a:cs typeface="Calibri" pitchFamily="34" charset="-120"/>
              </a:rPr>
              <a:t>2 assisted apps</a:t>
            </a:r>
            <a:endParaRPr lang="en-US" sz="900" dirty="0"/>
          </a:p>
        </p:txBody>
      </p:sp>
      <p:sp>
        <p:nvSpPr>
          <p:cNvPr id="52" name="Text 50"/>
          <p:cNvSpPr/>
          <p:nvPr/>
        </p:nvSpPr>
        <p:spPr>
          <a:xfrm>
            <a:off x="2542032" y="4443984"/>
            <a:ext cx="1920240" cy="347472"/>
          </a:xfrm>
          <a:prstGeom prst="rect">
            <a:avLst/>
          </a:prstGeom>
          <a:noFill/>
          <a:ln/>
        </p:spPr>
        <p:txBody>
          <a:bodyPr wrap="square" lIns="0" tIns="0" rIns="0" bIns="0" rtlCol="0" anchor="t"/>
          <a:lstStyle/>
          <a:p>
            <a:pPr indent="0" marL="0">
              <a:buNone/>
            </a:pPr>
            <a:r>
              <a:rPr lang="en-US" sz="800" dirty="0">
                <a:solidFill>
                  <a:srgbClr val="CCCCCC"/>
                </a:solidFill>
                <a:latin typeface="Calibri" pitchFamily="34" charset="0"/>
                <a:ea typeface="Calibri" pitchFamily="34" charset="-122"/>
                <a:cs typeface="Calibri" pitchFamily="34" charset="-120"/>
              </a:rPr>
              <a:t>Acceptable — meets minimum specification</a:t>
            </a:r>
            <a:endParaRPr lang="en-US" sz="800" dirty="0"/>
          </a:p>
        </p:txBody>
      </p:sp>
      <p:sp>
        <p:nvSpPr>
          <p:cNvPr id="53" name="Shape 51"/>
          <p:cNvSpPr/>
          <p:nvPr/>
        </p:nvSpPr>
        <p:spPr>
          <a:xfrm>
            <a:off x="4562856" y="4206240"/>
            <a:ext cx="2029968" cy="621792"/>
          </a:xfrm>
          <a:prstGeom prst="rect">
            <a:avLst/>
          </a:prstGeom>
          <a:solidFill>
            <a:srgbClr val="2A2A2A"/>
          </a:solidFill>
          <a:ln w="3810">
            <a:solidFill>
              <a:srgbClr val="333333"/>
            </a:solidFill>
            <a:prstDash val="solid"/>
          </a:ln>
        </p:spPr>
      </p:sp>
      <p:sp>
        <p:nvSpPr>
          <p:cNvPr id="54" name="Text 52"/>
          <p:cNvSpPr/>
          <p:nvPr/>
        </p:nvSpPr>
        <p:spPr>
          <a:xfrm>
            <a:off x="4617720" y="4224528"/>
            <a:ext cx="1920240" cy="219456"/>
          </a:xfrm>
          <a:prstGeom prst="rect">
            <a:avLst/>
          </a:prstGeom>
          <a:noFill/>
          <a:ln/>
        </p:spPr>
        <p:txBody>
          <a:bodyPr wrap="square" lIns="0" tIns="0" rIns="0" bIns="0" rtlCol="0" anchor="ctr"/>
          <a:lstStyle/>
          <a:p>
            <a:pPr indent="0" marL="0">
              <a:buNone/>
            </a:pPr>
            <a:r>
              <a:rPr lang="en-US" sz="900" b="1" dirty="0">
                <a:solidFill>
                  <a:srgbClr val="E9A825"/>
                </a:solidFill>
                <a:latin typeface="Calibri" pitchFamily="34" charset="0"/>
                <a:ea typeface="Calibri" pitchFamily="34" charset="-122"/>
                <a:cs typeface="Calibri" pitchFamily="34" charset="-120"/>
              </a:rPr>
              <a:t>1 or fewer apps</a:t>
            </a:r>
            <a:endParaRPr lang="en-US" sz="900" dirty="0"/>
          </a:p>
        </p:txBody>
      </p:sp>
      <p:sp>
        <p:nvSpPr>
          <p:cNvPr id="55" name="Text 53"/>
          <p:cNvSpPr/>
          <p:nvPr/>
        </p:nvSpPr>
        <p:spPr>
          <a:xfrm>
            <a:off x="4617720" y="4443984"/>
            <a:ext cx="1920240" cy="347472"/>
          </a:xfrm>
          <a:prstGeom prst="rect">
            <a:avLst/>
          </a:prstGeom>
          <a:noFill/>
          <a:ln/>
        </p:spPr>
        <p:txBody>
          <a:bodyPr wrap="square" lIns="0" tIns="0" rIns="0" bIns="0" rtlCol="0" anchor="t"/>
          <a:lstStyle/>
          <a:p>
            <a:pPr indent="0" marL="0">
              <a:buNone/>
            </a:pPr>
            <a:r>
              <a:rPr lang="en-US" sz="800" dirty="0">
                <a:solidFill>
                  <a:srgbClr val="CCCCCC"/>
                </a:solidFill>
                <a:latin typeface="Calibri" pitchFamily="34" charset="0"/>
                <a:ea typeface="Calibri" pitchFamily="34" charset="-122"/>
                <a:cs typeface="Calibri" pitchFamily="34" charset="-120"/>
              </a:rPr>
              <a:t>Inspect check valve — test both components</a:t>
            </a:r>
            <a:endParaRPr lang="en-US" sz="800" dirty="0"/>
          </a:p>
        </p:txBody>
      </p:sp>
      <p:sp>
        <p:nvSpPr>
          <p:cNvPr id="56" name="Shape 54"/>
          <p:cNvSpPr/>
          <p:nvPr/>
        </p:nvSpPr>
        <p:spPr>
          <a:xfrm>
            <a:off x="6638544" y="4206240"/>
            <a:ext cx="2029968" cy="621792"/>
          </a:xfrm>
          <a:prstGeom prst="rect">
            <a:avLst/>
          </a:prstGeom>
          <a:solidFill>
            <a:srgbClr val="2A2A2A"/>
          </a:solidFill>
          <a:ln w="3810">
            <a:solidFill>
              <a:srgbClr val="333333"/>
            </a:solidFill>
            <a:prstDash val="solid"/>
          </a:ln>
        </p:spPr>
      </p:sp>
      <p:sp>
        <p:nvSpPr>
          <p:cNvPr id="57" name="Text 55"/>
          <p:cNvSpPr/>
          <p:nvPr/>
        </p:nvSpPr>
        <p:spPr>
          <a:xfrm>
            <a:off x="6693408" y="4224528"/>
            <a:ext cx="1920240" cy="219456"/>
          </a:xfrm>
          <a:prstGeom prst="rect">
            <a:avLst/>
          </a:prstGeom>
          <a:noFill/>
          <a:ln/>
        </p:spPr>
        <p:txBody>
          <a:bodyPr wrap="square" lIns="0" tIns="0" rIns="0" bIns="0" rtlCol="0" anchor="ctr"/>
          <a:lstStyle/>
          <a:p>
            <a:pPr indent="0" marL="0">
              <a:buNone/>
            </a:pPr>
            <a:r>
              <a:rPr lang="en-US" sz="900" b="1" dirty="0">
                <a:solidFill>
                  <a:srgbClr val="CC0000"/>
                </a:solidFill>
                <a:latin typeface="Calibri" pitchFamily="34" charset="0"/>
                <a:ea typeface="Calibri" pitchFamily="34" charset="-122"/>
                <a:cs typeface="Calibri" pitchFamily="34" charset="-120"/>
              </a:rPr>
              <a:t>0 apps / no reserve</a:t>
            </a:r>
            <a:endParaRPr lang="en-US" sz="900" dirty="0"/>
          </a:p>
        </p:txBody>
      </p:sp>
      <p:sp>
        <p:nvSpPr>
          <p:cNvPr id="58" name="Text 56"/>
          <p:cNvSpPr/>
          <p:nvPr/>
        </p:nvSpPr>
        <p:spPr>
          <a:xfrm>
            <a:off x="6693408" y="4443984"/>
            <a:ext cx="1920240" cy="347472"/>
          </a:xfrm>
          <a:prstGeom prst="rect">
            <a:avLst/>
          </a:prstGeom>
          <a:noFill/>
          <a:ln/>
        </p:spPr>
        <p:txBody>
          <a:bodyPr wrap="square" lIns="0" tIns="0" rIns="0" bIns="0" rtlCol="0" anchor="t"/>
          <a:lstStyle/>
          <a:p>
            <a:pPr indent="0" marL="0">
              <a:buNone/>
            </a:pPr>
            <a:r>
              <a:rPr lang="en-US" sz="800" dirty="0">
                <a:solidFill>
                  <a:srgbClr val="CCCCCC"/>
                </a:solidFill>
                <a:latin typeface="Calibri" pitchFamily="34" charset="0"/>
                <a:ea typeface="Calibri" pitchFamily="34" charset="-122"/>
                <a:cs typeface="Calibri" pitchFamily="34" charset="-120"/>
              </a:rPr>
              <a:t>Booster or check valve failed — must repair</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2A9D8F"/>
          </a:solidFill>
          <a:ln w="12700">
            <a:solidFill>
              <a:srgbClr val="2A9D8F"/>
            </a:solidFill>
            <a:prstDash val="solid"/>
          </a:ln>
        </p:spPr>
      </p:sp>
      <p:sp>
        <p:nvSpPr>
          <p:cNvPr id="3" name="Shape 1"/>
          <p:cNvSpPr/>
          <p:nvPr/>
        </p:nvSpPr>
        <p:spPr>
          <a:xfrm>
            <a:off x="0" y="5079492"/>
            <a:ext cx="9144000" cy="64008"/>
          </a:xfrm>
          <a:prstGeom prst="rect">
            <a:avLst/>
          </a:prstGeom>
          <a:solidFill>
            <a:srgbClr val="2A9D8F"/>
          </a:solidFill>
          <a:ln w="12700">
            <a:solidFill>
              <a:srgbClr val="2A9D8F"/>
            </a:solidFill>
            <a:prstDash val="solid"/>
          </a:ln>
        </p:spPr>
      </p:sp>
      <p:sp>
        <p:nvSpPr>
          <p:cNvPr id="4" name="Text 2"/>
          <p:cNvSpPr/>
          <p:nvPr/>
        </p:nvSpPr>
        <p:spPr>
          <a:xfrm>
            <a:off x="457200" y="118872"/>
            <a:ext cx="8229600" cy="201168"/>
          </a:xfrm>
          <a:prstGeom prst="rect">
            <a:avLst/>
          </a:prstGeom>
          <a:noFill/>
          <a:ln/>
        </p:spPr>
        <p:txBody>
          <a:bodyPr wrap="square" lIns="0" tIns="0" rIns="0" bIns="0" rtlCol="0" anchor="ctr"/>
          <a:lstStyle/>
          <a:p>
            <a:pPr indent="0" marL="0">
              <a:buNone/>
            </a:pPr>
            <a:r>
              <a:rPr lang="en-US" sz="800" b="1" spc="400" kern="0" dirty="0">
                <a:solidFill>
                  <a:srgbClr val="2A9D8F"/>
                </a:solidFill>
                <a:latin typeface="Calibri" pitchFamily="34" charset="0"/>
                <a:ea typeface="Calibri" pitchFamily="34" charset="-122"/>
                <a:cs typeface="Calibri" pitchFamily="34" charset="-120"/>
              </a:rPr>
              <a:t>VACUUM TESTING — TEST 3</a:t>
            </a:r>
            <a:endParaRPr lang="en-US" sz="800" dirty="0"/>
          </a:p>
        </p:txBody>
      </p:sp>
      <p:sp>
        <p:nvSpPr>
          <p:cNvPr id="5" name="Text 3"/>
          <p:cNvSpPr/>
          <p:nvPr/>
        </p:nvSpPr>
        <p:spPr>
          <a:xfrm>
            <a:off x="457200" y="384048"/>
            <a:ext cx="8229600" cy="530352"/>
          </a:xfrm>
          <a:prstGeom prst="rect">
            <a:avLst/>
          </a:prstGeom>
          <a:noFill/>
          <a:ln/>
        </p:spPr>
        <p:txBody>
          <a:bodyPr wrap="square" lIns="0" tIns="0" rIns="0" bIns="0" rtlCol="0" anchor="ctr"/>
          <a:lstStyle/>
          <a:p>
            <a:pPr indent="0" marL="0">
              <a:buNone/>
            </a:pPr>
            <a:r>
              <a:rPr lang="en-US" sz="2800" b="1" dirty="0">
                <a:solidFill>
                  <a:srgbClr val="2A9D8F"/>
                </a:solidFill>
                <a:latin typeface="Calibri" pitchFamily="34" charset="0"/>
                <a:ea typeface="Calibri" pitchFamily="34" charset="-122"/>
                <a:cs typeface="Calibri" pitchFamily="34" charset="-120"/>
              </a:rPr>
              <a:t>Check Valve Inspection and Blow-Through Test</a:t>
            </a:r>
            <a:endParaRPr lang="en-US" sz="2800" dirty="0"/>
          </a:p>
        </p:txBody>
      </p:sp>
      <p:sp>
        <p:nvSpPr>
          <p:cNvPr id="6" name="Text 4"/>
          <p:cNvSpPr/>
          <p:nvPr/>
        </p:nvSpPr>
        <p:spPr>
          <a:xfrm>
            <a:off x="457200" y="987552"/>
            <a:ext cx="8229600" cy="237744"/>
          </a:xfrm>
          <a:prstGeom prst="rect">
            <a:avLst/>
          </a:prstGeom>
          <a:noFill/>
          <a:ln/>
        </p:spPr>
        <p:txBody>
          <a:bodyPr wrap="square" lIns="0" tIns="0" rIns="0" bIns="0" rtlCol="0" anchor="ctr"/>
          <a:lstStyle/>
          <a:p>
            <a:pPr indent="0" marL="0">
              <a:buNone/>
            </a:pPr>
            <a:r>
              <a:rPr lang="en-US" sz="1000" i="1" dirty="0">
                <a:solidFill>
                  <a:srgbClr val="888888"/>
                </a:solidFill>
                <a:latin typeface="Calibri" pitchFamily="34" charset="0"/>
                <a:ea typeface="Calibri" pitchFamily="34" charset="-122"/>
                <a:cs typeface="Calibri" pitchFamily="34" charset="-120"/>
              </a:rPr>
              <a:t>The one-way check valve stores vacuum in the booster. Remove and test before replacing the booster.</a:t>
            </a:r>
            <a:endParaRPr lang="en-US" sz="1000" dirty="0"/>
          </a:p>
        </p:txBody>
      </p:sp>
      <p:sp>
        <p:nvSpPr>
          <p:cNvPr id="7" name="Shape 5"/>
          <p:cNvSpPr/>
          <p:nvPr/>
        </p:nvSpPr>
        <p:spPr>
          <a:xfrm>
            <a:off x="411480" y="1316736"/>
            <a:ext cx="4206240" cy="1481328"/>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8" name="Shape 6"/>
          <p:cNvSpPr/>
          <p:nvPr/>
        </p:nvSpPr>
        <p:spPr>
          <a:xfrm>
            <a:off x="411480" y="1316736"/>
            <a:ext cx="54864" cy="1481328"/>
          </a:xfrm>
          <a:prstGeom prst="rect">
            <a:avLst/>
          </a:prstGeom>
          <a:solidFill>
            <a:srgbClr val="2A9D8F"/>
          </a:solidFill>
          <a:ln w="12700">
            <a:solidFill>
              <a:srgbClr val="2A9D8F"/>
            </a:solidFill>
            <a:prstDash val="solid"/>
          </a:ln>
        </p:spPr>
      </p:sp>
      <p:sp>
        <p:nvSpPr>
          <p:cNvPr id="9" name="Shape 7"/>
          <p:cNvSpPr/>
          <p:nvPr/>
        </p:nvSpPr>
        <p:spPr>
          <a:xfrm>
            <a:off x="530352" y="1426464"/>
            <a:ext cx="347472" cy="347472"/>
          </a:xfrm>
          <a:prstGeom prst="ellipse">
            <a:avLst/>
          </a:prstGeom>
          <a:solidFill>
            <a:srgbClr val="2A9D8F"/>
          </a:solidFill>
          <a:ln w="12700">
            <a:solidFill>
              <a:srgbClr val="2A9D8F"/>
            </a:solidFill>
            <a:prstDash val="solid"/>
          </a:ln>
        </p:spPr>
      </p:sp>
      <p:sp>
        <p:nvSpPr>
          <p:cNvPr id="10" name="Text 8"/>
          <p:cNvSpPr/>
          <p:nvPr/>
        </p:nvSpPr>
        <p:spPr>
          <a:xfrm>
            <a:off x="530352" y="1426464"/>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9"/>
          <p:cNvSpPr/>
          <p:nvPr/>
        </p:nvSpPr>
        <p:spPr>
          <a:xfrm>
            <a:off x="978408" y="1408176"/>
            <a:ext cx="3547872"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Remove and Inspect</a:t>
            </a:r>
            <a:endParaRPr lang="en-US" sz="1100" dirty="0"/>
          </a:p>
        </p:txBody>
      </p:sp>
      <p:sp>
        <p:nvSpPr>
          <p:cNvPr id="12" name="Text 10"/>
          <p:cNvSpPr/>
          <p:nvPr/>
        </p:nvSpPr>
        <p:spPr>
          <a:xfrm>
            <a:off x="978408" y="1700784"/>
            <a:ext cx="3547872" cy="987552"/>
          </a:xfrm>
          <a:prstGeom prst="rect">
            <a:avLst/>
          </a:prstGeom>
          <a:noFill/>
          <a:ln/>
        </p:spPr>
        <p:txBody>
          <a:bodyPr wrap="square" lIns="0" tIns="0" rIns="0" bIns="0" rtlCol="0" anchor="t"/>
          <a:lstStyle/>
          <a:p>
            <a:pPr indent="0" marL="0">
              <a:buNone/>
            </a:pPr>
            <a:r>
              <a:rPr lang="en-US" sz="950" dirty="0">
                <a:solidFill>
                  <a:srgbClr val="CCCCCC"/>
                </a:solidFill>
                <a:latin typeface="Calibri" pitchFamily="34" charset="0"/>
                <a:ea typeface="Calibri" pitchFamily="34" charset="-122"/>
                <a:cs typeface="Calibri" pitchFamily="34" charset="-120"/>
              </a:rPr>
              <a:t>Twist or pull valve from the booster grommet. Check for cracks, soft rubber, distortion, or debris in the seat.</a:t>
            </a:r>
            <a:endParaRPr lang="en-US" sz="950" dirty="0"/>
          </a:p>
        </p:txBody>
      </p:sp>
      <p:sp>
        <p:nvSpPr>
          <p:cNvPr id="13" name="Shape 11"/>
          <p:cNvSpPr/>
          <p:nvPr/>
        </p:nvSpPr>
        <p:spPr>
          <a:xfrm>
            <a:off x="4800600" y="1316736"/>
            <a:ext cx="4206240" cy="1481328"/>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14" name="Shape 12"/>
          <p:cNvSpPr/>
          <p:nvPr/>
        </p:nvSpPr>
        <p:spPr>
          <a:xfrm>
            <a:off x="4800600" y="1316736"/>
            <a:ext cx="54864" cy="1481328"/>
          </a:xfrm>
          <a:prstGeom prst="rect">
            <a:avLst/>
          </a:prstGeom>
          <a:solidFill>
            <a:srgbClr val="2A9D8F"/>
          </a:solidFill>
          <a:ln w="12700">
            <a:solidFill>
              <a:srgbClr val="2A9D8F"/>
            </a:solidFill>
            <a:prstDash val="solid"/>
          </a:ln>
        </p:spPr>
      </p:sp>
      <p:sp>
        <p:nvSpPr>
          <p:cNvPr id="15" name="Shape 13"/>
          <p:cNvSpPr/>
          <p:nvPr/>
        </p:nvSpPr>
        <p:spPr>
          <a:xfrm>
            <a:off x="4919472" y="1426464"/>
            <a:ext cx="347472" cy="347472"/>
          </a:xfrm>
          <a:prstGeom prst="ellipse">
            <a:avLst/>
          </a:prstGeom>
          <a:solidFill>
            <a:srgbClr val="2A9D8F"/>
          </a:solidFill>
          <a:ln w="12700">
            <a:solidFill>
              <a:srgbClr val="2A9D8F"/>
            </a:solidFill>
            <a:prstDash val="solid"/>
          </a:ln>
        </p:spPr>
      </p:sp>
      <p:sp>
        <p:nvSpPr>
          <p:cNvPr id="16" name="Text 14"/>
          <p:cNvSpPr/>
          <p:nvPr/>
        </p:nvSpPr>
        <p:spPr>
          <a:xfrm>
            <a:off x="4919472" y="1426464"/>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5"/>
          <p:cNvSpPr/>
          <p:nvPr/>
        </p:nvSpPr>
        <p:spPr>
          <a:xfrm>
            <a:off x="5367528" y="1408176"/>
            <a:ext cx="3547872"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Blow Toward Booster Side</a:t>
            </a:r>
            <a:endParaRPr lang="en-US" sz="1100" dirty="0"/>
          </a:p>
        </p:txBody>
      </p:sp>
      <p:sp>
        <p:nvSpPr>
          <p:cNvPr id="18" name="Text 16"/>
          <p:cNvSpPr/>
          <p:nvPr/>
        </p:nvSpPr>
        <p:spPr>
          <a:xfrm>
            <a:off x="5367528" y="1700784"/>
            <a:ext cx="3547872" cy="987552"/>
          </a:xfrm>
          <a:prstGeom prst="rect">
            <a:avLst/>
          </a:prstGeom>
          <a:noFill/>
          <a:ln/>
        </p:spPr>
        <p:txBody>
          <a:bodyPr wrap="square" lIns="0" tIns="0" rIns="0" bIns="0" rtlCol="0" anchor="t"/>
          <a:lstStyle/>
          <a:p>
            <a:pPr indent="0" marL="0">
              <a:buNone/>
            </a:pPr>
            <a:r>
              <a:rPr lang="en-US" sz="950" dirty="0">
                <a:solidFill>
                  <a:srgbClr val="CCCCCC"/>
                </a:solidFill>
                <a:latin typeface="Calibri" pitchFamily="34" charset="0"/>
                <a:ea typeface="Calibri" pitchFamily="34" charset="-122"/>
                <a:cs typeface="Calibri" pitchFamily="34" charset="-120"/>
              </a:rPr>
              <a:t>Blow through the valve toward the booster (the booster-side end). Air should NOT pass. This is the one-way seal.</a:t>
            </a:r>
            <a:endParaRPr lang="en-US" sz="950" dirty="0"/>
          </a:p>
        </p:txBody>
      </p:sp>
      <p:sp>
        <p:nvSpPr>
          <p:cNvPr id="19" name="Shape 17"/>
          <p:cNvSpPr/>
          <p:nvPr/>
        </p:nvSpPr>
        <p:spPr>
          <a:xfrm>
            <a:off x="411480" y="2944368"/>
            <a:ext cx="4206240" cy="1481328"/>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20" name="Shape 18"/>
          <p:cNvSpPr/>
          <p:nvPr/>
        </p:nvSpPr>
        <p:spPr>
          <a:xfrm>
            <a:off x="411480" y="2944368"/>
            <a:ext cx="54864" cy="1481328"/>
          </a:xfrm>
          <a:prstGeom prst="rect">
            <a:avLst/>
          </a:prstGeom>
          <a:solidFill>
            <a:srgbClr val="E9A825"/>
          </a:solidFill>
          <a:ln w="12700">
            <a:solidFill>
              <a:srgbClr val="E9A825"/>
            </a:solidFill>
            <a:prstDash val="solid"/>
          </a:ln>
        </p:spPr>
      </p:sp>
      <p:sp>
        <p:nvSpPr>
          <p:cNvPr id="21" name="Shape 19"/>
          <p:cNvSpPr/>
          <p:nvPr/>
        </p:nvSpPr>
        <p:spPr>
          <a:xfrm>
            <a:off x="530352" y="3054096"/>
            <a:ext cx="347472" cy="347472"/>
          </a:xfrm>
          <a:prstGeom prst="ellipse">
            <a:avLst/>
          </a:prstGeom>
          <a:solidFill>
            <a:srgbClr val="E9A825"/>
          </a:solidFill>
          <a:ln w="12700">
            <a:solidFill>
              <a:srgbClr val="E9A825"/>
            </a:solidFill>
            <a:prstDash val="solid"/>
          </a:ln>
        </p:spPr>
      </p:sp>
      <p:sp>
        <p:nvSpPr>
          <p:cNvPr id="22" name="Text 20"/>
          <p:cNvSpPr/>
          <p:nvPr/>
        </p:nvSpPr>
        <p:spPr>
          <a:xfrm>
            <a:off x="530352" y="3054096"/>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3" name="Text 21"/>
          <p:cNvSpPr/>
          <p:nvPr/>
        </p:nvSpPr>
        <p:spPr>
          <a:xfrm>
            <a:off x="978408" y="3035808"/>
            <a:ext cx="3547872"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Blow Toward Engine Side</a:t>
            </a:r>
            <a:endParaRPr lang="en-US" sz="1100" dirty="0"/>
          </a:p>
        </p:txBody>
      </p:sp>
      <p:sp>
        <p:nvSpPr>
          <p:cNvPr id="24" name="Text 22"/>
          <p:cNvSpPr/>
          <p:nvPr/>
        </p:nvSpPr>
        <p:spPr>
          <a:xfrm>
            <a:off x="978408" y="3328416"/>
            <a:ext cx="3547872" cy="987552"/>
          </a:xfrm>
          <a:prstGeom prst="rect">
            <a:avLst/>
          </a:prstGeom>
          <a:noFill/>
          <a:ln/>
        </p:spPr>
        <p:txBody>
          <a:bodyPr wrap="square" lIns="0" tIns="0" rIns="0" bIns="0" rtlCol="0" anchor="t"/>
          <a:lstStyle/>
          <a:p>
            <a:pPr indent="0" marL="0">
              <a:buNone/>
            </a:pPr>
            <a:r>
              <a:rPr lang="en-US" sz="950" dirty="0">
                <a:solidFill>
                  <a:srgbClr val="CCCCCC"/>
                </a:solidFill>
                <a:latin typeface="Calibri" pitchFamily="34" charset="0"/>
                <a:ea typeface="Calibri" pitchFamily="34" charset="-122"/>
                <a:cs typeface="Calibri" pitchFamily="34" charset="-120"/>
              </a:rPr>
              <a:t>Flip the valve. Blow toward the engine/hose side. Air SHOULD pass freely. This is the open direction.</a:t>
            </a:r>
            <a:endParaRPr lang="en-US" sz="950" dirty="0"/>
          </a:p>
        </p:txBody>
      </p:sp>
      <p:sp>
        <p:nvSpPr>
          <p:cNvPr id="25" name="Shape 23"/>
          <p:cNvSpPr/>
          <p:nvPr/>
        </p:nvSpPr>
        <p:spPr>
          <a:xfrm>
            <a:off x="4800600" y="2944368"/>
            <a:ext cx="4206240" cy="1481328"/>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26" name="Shape 24"/>
          <p:cNvSpPr/>
          <p:nvPr/>
        </p:nvSpPr>
        <p:spPr>
          <a:xfrm>
            <a:off x="4800600" y="2944368"/>
            <a:ext cx="54864" cy="1481328"/>
          </a:xfrm>
          <a:prstGeom prst="rect">
            <a:avLst/>
          </a:prstGeom>
          <a:solidFill>
            <a:srgbClr val="E9A825"/>
          </a:solidFill>
          <a:ln w="12700">
            <a:solidFill>
              <a:srgbClr val="E9A825"/>
            </a:solidFill>
            <a:prstDash val="solid"/>
          </a:ln>
        </p:spPr>
      </p:sp>
      <p:sp>
        <p:nvSpPr>
          <p:cNvPr id="27" name="Shape 25"/>
          <p:cNvSpPr/>
          <p:nvPr/>
        </p:nvSpPr>
        <p:spPr>
          <a:xfrm>
            <a:off x="4919472" y="3054096"/>
            <a:ext cx="347472" cy="347472"/>
          </a:xfrm>
          <a:prstGeom prst="ellipse">
            <a:avLst/>
          </a:prstGeom>
          <a:solidFill>
            <a:srgbClr val="E9A825"/>
          </a:solidFill>
          <a:ln w="12700">
            <a:solidFill>
              <a:srgbClr val="E9A825"/>
            </a:solidFill>
            <a:prstDash val="solid"/>
          </a:ln>
        </p:spPr>
      </p:sp>
      <p:sp>
        <p:nvSpPr>
          <p:cNvPr id="28" name="Text 26"/>
          <p:cNvSpPr/>
          <p:nvPr/>
        </p:nvSpPr>
        <p:spPr>
          <a:xfrm>
            <a:off x="4919472" y="3054096"/>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9" name="Text 27"/>
          <p:cNvSpPr/>
          <p:nvPr/>
        </p:nvSpPr>
        <p:spPr>
          <a:xfrm>
            <a:off x="5367528" y="3035808"/>
            <a:ext cx="3547872"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Reinstall or Replace</a:t>
            </a:r>
            <a:endParaRPr lang="en-US" sz="1100" dirty="0"/>
          </a:p>
        </p:txBody>
      </p:sp>
      <p:sp>
        <p:nvSpPr>
          <p:cNvPr id="30" name="Text 28"/>
          <p:cNvSpPr/>
          <p:nvPr/>
        </p:nvSpPr>
        <p:spPr>
          <a:xfrm>
            <a:off x="5367528" y="3328416"/>
            <a:ext cx="3547872" cy="987552"/>
          </a:xfrm>
          <a:prstGeom prst="rect">
            <a:avLst/>
          </a:prstGeom>
          <a:noFill/>
          <a:ln/>
        </p:spPr>
        <p:txBody>
          <a:bodyPr wrap="square" lIns="0" tIns="0" rIns="0" bIns="0" rtlCol="0" anchor="t"/>
          <a:lstStyle/>
          <a:p>
            <a:pPr indent="0" marL="0">
              <a:buNone/>
            </a:pPr>
            <a:r>
              <a:rPr lang="en-US" sz="950" dirty="0">
                <a:solidFill>
                  <a:srgbClr val="CCCCCC"/>
                </a:solidFill>
                <a:latin typeface="Calibri" pitchFamily="34" charset="0"/>
                <a:ea typeface="Calibri" pitchFamily="34" charset="-122"/>
                <a:cs typeface="Calibri" pitchFamily="34" charset="-120"/>
              </a:rPr>
              <a:t>If air passes in BOTH directions: valve failed — replace. Reinstall with booster side toward booster.</a:t>
            </a:r>
            <a:endParaRPr lang="en-US" sz="950" dirty="0"/>
          </a:p>
        </p:txBody>
      </p:sp>
      <p:sp>
        <p:nvSpPr>
          <p:cNvPr id="31" name="Shape 29"/>
          <p:cNvSpPr/>
          <p:nvPr/>
        </p:nvSpPr>
        <p:spPr>
          <a:xfrm>
            <a:off x="411480" y="4572000"/>
            <a:ext cx="8321040" cy="274320"/>
          </a:xfrm>
          <a:prstGeom prst="rect">
            <a:avLst/>
          </a:prstGeom>
          <a:solidFill>
            <a:srgbClr val="2A2A2A"/>
          </a:solidFill>
          <a:ln w="3810">
            <a:solidFill>
              <a:srgbClr val="333333"/>
            </a:solidFill>
            <a:prstDash val="solid"/>
          </a:ln>
        </p:spPr>
      </p:sp>
      <p:sp>
        <p:nvSpPr>
          <p:cNvPr id="32" name="Shape 30"/>
          <p:cNvSpPr/>
          <p:nvPr/>
        </p:nvSpPr>
        <p:spPr>
          <a:xfrm>
            <a:off x="411480" y="4572000"/>
            <a:ext cx="54864" cy="274320"/>
          </a:xfrm>
          <a:prstGeom prst="rect">
            <a:avLst/>
          </a:prstGeom>
          <a:solidFill>
            <a:srgbClr val="2A9D8F"/>
          </a:solidFill>
          <a:ln w="12700">
            <a:solidFill>
              <a:srgbClr val="2A9D8F"/>
            </a:solidFill>
            <a:prstDash val="solid"/>
          </a:ln>
        </p:spPr>
      </p:sp>
      <p:sp>
        <p:nvSpPr>
          <p:cNvPr id="33" name="Text 31"/>
          <p:cNvSpPr/>
          <p:nvPr/>
        </p:nvSpPr>
        <p:spPr>
          <a:xfrm>
            <a:off x="548640" y="4572000"/>
            <a:ext cx="8046720" cy="274320"/>
          </a:xfrm>
          <a:prstGeom prst="rect">
            <a:avLst/>
          </a:prstGeom>
          <a:noFill/>
          <a:ln/>
        </p:spPr>
        <p:txBody>
          <a:bodyPr wrap="square" lIns="0" tIns="0" rIns="0" bIns="0" rtlCol="0" anchor="ctr"/>
          <a:lstStyle/>
          <a:p>
            <a:pPr indent="0" marL="0">
              <a:buNone/>
            </a:pPr>
            <a:r>
              <a:rPr lang="en-US" sz="950" dirty="0">
                <a:solidFill>
                  <a:srgbClr val="CCCCCC"/>
                </a:solidFill>
                <a:latin typeface="Calibri" pitchFamily="34" charset="0"/>
                <a:ea typeface="Calibri" pitchFamily="34" charset="-122"/>
                <a:cs typeface="Calibri" pitchFamily="34" charset="-120"/>
              </a:rPr>
              <a:t>PASS: Booster side — no flow  ·  Engine side — flows freely     FAIL: Booster side — flows freely  ·  Engine side — blocked</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2A9D8F"/>
          </a:solidFill>
          <a:ln w="12700">
            <a:solidFill>
              <a:srgbClr val="2A9D8F"/>
            </a:solidFill>
            <a:prstDash val="solid"/>
          </a:ln>
        </p:spPr>
      </p:sp>
      <p:sp>
        <p:nvSpPr>
          <p:cNvPr id="3" name="Shape 1"/>
          <p:cNvSpPr/>
          <p:nvPr/>
        </p:nvSpPr>
        <p:spPr>
          <a:xfrm>
            <a:off x="0" y="5079492"/>
            <a:ext cx="9144000" cy="64008"/>
          </a:xfrm>
          <a:prstGeom prst="rect">
            <a:avLst/>
          </a:prstGeom>
          <a:solidFill>
            <a:srgbClr val="2A9D8F"/>
          </a:solidFill>
          <a:ln w="12700">
            <a:solidFill>
              <a:srgbClr val="2A9D8F"/>
            </a:solidFill>
            <a:prstDash val="solid"/>
          </a:ln>
        </p:spPr>
      </p:sp>
      <p:sp>
        <p:nvSpPr>
          <p:cNvPr id="4" name="Text 2"/>
          <p:cNvSpPr/>
          <p:nvPr/>
        </p:nvSpPr>
        <p:spPr>
          <a:xfrm>
            <a:off x="457200" y="118872"/>
            <a:ext cx="8229600" cy="201168"/>
          </a:xfrm>
          <a:prstGeom prst="rect">
            <a:avLst/>
          </a:prstGeom>
          <a:noFill/>
          <a:ln/>
        </p:spPr>
        <p:txBody>
          <a:bodyPr wrap="square" lIns="0" tIns="0" rIns="0" bIns="0" rtlCol="0" anchor="ctr"/>
          <a:lstStyle/>
          <a:p>
            <a:pPr indent="0" marL="0">
              <a:buNone/>
            </a:pPr>
            <a:r>
              <a:rPr lang="en-US" sz="800" b="1" spc="400" kern="0" dirty="0">
                <a:solidFill>
                  <a:srgbClr val="2A9D8F"/>
                </a:solidFill>
                <a:latin typeface="Calibri" pitchFamily="34" charset="0"/>
                <a:ea typeface="Calibri" pitchFamily="34" charset="-122"/>
                <a:cs typeface="Calibri" pitchFamily="34" charset="-120"/>
              </a:rPr>
              <a:t>SERVICE &amp; ADJUSTMENT</a:t>
            </a:r>
            <a:endParaRPr lang="en-US" sz="800" dirty="0"/>
          </a:p>
        </p:txBody>
      </p:sp>
      <p:sp>
        <p:nvSpPr>
          <p:cNvPr id="5" name="Text 3"/>
          <p:cNvSpPr/>
          <p:nvPr/>
        </p:nvSpPr>
        <p:spPr>
          <a:xfrm>
            <a:off x="457200" y="384048"/>
            <a:ext cx="8229600" cy="530352"/>
          </a:xfrm>
          <a:prstGeom prst="rect">
            <a:avLst/>
          </a:prstGeom>
          <a:noFill/>
          <a:ln/>
        </p:spPr>
        <p:txBody>
          <a:bodyPr wrap="square" lIns="0" tIns="0" rIns="0" bIns="0" rtlCol="0" anchor="ctr"/>
          <a:lstStyle/>
          <a:p>
            <a:pPr indent="0" marL="0">
              <a:buNone/>
            </a:pPr>
            <a:r>
              <a:rPr lang="en-US" sz="2800" b="1" dirty="0">
                <a:solidFill>
                  <a:srgbClr val="2A9D8F"/>
                </a:solidFill>
                <a:latin typeface="Calibri" pitchFamily="34" charset="0"/>
                <a:ea typeface="Calibri" pitchFamily="34" charset="-122"/>
                <a:cs typeface="Calibri" pitchFamily="34" charset="-120"/>
              </a:rPr>
              <a:t>Master Cylinder Pushrod Clearance</a:t>
            </a:r>
            <a:endParaRPr lang="en-US" sz="2800" dirty="0"/>
          </a:p>
        </p:txBody>
      </p:sp>
      <p:pic>
        <p:nvPicPr>
          <p:cNvPr id="6" name="Image 0" descr="Pushrod clearance diagram — vacuum brake booster, adjuster, pushrod">    </p:cNvPr>
          <p:cNvPicPr>
            <a:picLocks noChangeAspect="1"/>
          </p:cNvPicPr>
          <p:nvPr/>
        </p:nvPicPr>
        <p:blipFill>
          <a:blip r:embed="rId1"/>
          <a:stretch>
            <a:fillRect/>
          </a:stretch>
        </p:blipFill>
        <p:spPr>
          <a:xfrm>
            <a:off x="457200" y="877824"/>
            <a:ext cx="4480560" cy="2944368"/>
          </a:xfrm>
          <a:prstGeom prst="rect">
            <a:avLst/>
          </a:prstGeom>
        </p:spPr>
      </p:pic>
      <p:sp>
        <p:nvSpPr>
          <p:cNvPr id="7" name="Shape 4"/>
          <p:cNvSpPr/>
          <p:nvPr/>
        </p:nvSpPr>
        <p:spPr>
          <a:xfrm>
            <a:off x="5120640" y="877824"/>
            <a:ext cx="3794760" cy="1097280"/>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8" name="Shape 5"/>
          <p:cNvSpPr/>
          <p:nvPr/>
        </p:nvSpPr>
        <p:spPr>
          <a:xfrm>
            <a:off x="5120640" y="877824"/>
            <a:ext cx="54864" cy="1097280"/>
          </a:xfrm>
          <a:prstGeom prst="rect">
            <a:avLst/>
          </a:prstGeom>
          <a:solidFill>
            <a:srgbClr val="2A9D8F"/>
          </a:solidFill>
          <a:ln w="12700">
            <a:solidFill>
              <a:srgbClr val="2A9D8F"/>
            </a:solidFill>
            <a:prstDash val="solid"/>
          </a:ln>
        </p:spPr>
      </p:sp>
      <p:sp>
        <p:nvSpPr>
          <p:cNvPr id="9" name="Text 6"/>
          <p:cNvSpPr/>
          <p:nvPr/>
        </p:nvSpPr>
        <p:spPr>
          <a:xfrm>
            <a:off x="5248656" y="969264"/>
            <a:ext cx="3593592" cy="256032"/>
          </a:xfrm>
          <a:prstGeom prst="rect">
            <a:avLst/>
          </a:prstGeom>
          <a:noFill/>
          <a:ln/>
        </p:spPr>
        <p:txBody>
          <a:bodyPr wrap="square" lIns="0" tIns="0" rIns="0" bIns="0" rtlCol="0" anchor="ctr"/>
          <a:lstStyle/>
          <a:p>
            <a:pPr indent="0" marL="0">
              <a:buNone/>
            </a:pPr>
            <a:r>
              <a:rPr lang="en-US" sz="1100" b="1" dirty="0">
                <a:solidFill>
                  <a:srgbClr val="2A9D8F"/>
                </a:solidFill>
                <a:latin typeface="Calibri" pitchFamily="34" charset="0"/>
                <a:ea typeface="Calibri" pitchFamily="34" charset="-122"/>
                <a:cs typeface="Calibri" pitchFamily="34" charset="-120"/>
              </a:rPr>
              <a:t>Purpose of Pushrod Adjustment</a:t>
            </a:r>
            <a:endParaRPr lang="en-US" sz="1100" dirty="0"/>
          </a:p>
        </p:txBody>
      </p:sp>
      <p:sp>
        <p:nvSpPr>
          <p:cNvPr id="10" name="Text 7"/>
          <p:cNvSpPr/>
          <p:nvPr/>
        </p:nvSpPr>
        <p:spPr>
          <a:xfrm>
            <a:off x="5248656" y="1261872"/>
            <a:ext cx="3593592" cy="603504"/>
          </a:xfrm>
          <a:prstGeom prst="rect">
            <a:avLst/>
          </a:prstGeom>
          <a:noFill/>
          <a:ln/>
        </p:spPr>
        <p:txBody>
          <a:bodyPr wrap="square" lIns="0" tIns="0" rIns="0" bIns="0" rtlCol="0" anchor="t"/>
          <a:lstStyle/>
          <a:p>
            <a:pPr indent="0" marL="0">
              <a:buNone/>
            </a:pPr>
            <a:r>
              <a:rPr lang="en-US" sz="1000" dirty="0">
                <a:solidFill>
                  <a:srgbClr val="CCCCCC"/>
                </a:solidFill>
                <a:latin typeface="Calibri" pitchFamily="34" charset="0"/>
                <a:ea typeface="Calibri" pitchFamily="34" charset="-122"/>
                <a:cs typeface="Calibri" pitchFamily="34" charset="-120"/>
              </a:rPr>
              <a:t>The pushrod must contact the master cylinder piston correctly — not too short, not too long. Always verify with ShopKey for vehicle-specific specs.</a:t>
            </a:r>
            <a:endParaRPr lang="en-US" sz="1000" dirty="0"/>
          </a:p>
        </p:txBody>
      </p:sp>
      <p:sp>
        <p:nvSpPr>
          <p:cNvPr id="11" name="Shape 8"/>
          <p:cNvSpPr/>
          <p:nvPr/>
        </p:nvSpPr>
        <p:spPr>
          <a:xfrm>
            <a:off x="5120640" y="2084832"/>
            <a:ext cx="3794760" cy="1097280"/>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12" name="Shape 9"/>
          <p:cNvSpPr/>
          <p:nvPr/>
        </p:nvSpPr>
        <p:spPr>
          <a:xfrm>
            <a:off x="5120640" y="2084832"/>
            <a:ext cx="54864" cy="1097280"/>
          </a:xfrm>
          <a:prstGeom prst="rect">
            <a:avLst/>
          </a:prstGeom>
          <a:solidFill>
            <a:srgbClr val="CC0000"/>
          </a:solidFill>
          <a:ln w="12700">
            <a:solidFill>
              <a:srgbClr val="CC0000"/>
            </a:solidFill>
            <a:prstDash val="solid"/>
          </a:ln>
        </p:spPr>
      </p:sp>
      <p:sp>
        <p:nvSpPr>
          <p:cNvPr id="13" name="Text 10"/>
          <p:cNvSpPr/>
          <p:nvPr/>
        </p:nvSpPr>
        <p:spPr>
          <a:xfrm>
            <a:off x="5248656" y="2176272"/>
            <a:ext cx="3593592" cy="256032"/>
          </a:xfrm>
          <a:prstGeom prst="rect">
            <a:avLst/>
          </a:prstGeom>
          <a:noFill/>
          <a:ln/>
        </p:spPr>
        <p:txBody>
          <a:bodyPr wrap="square" lIns="0" tIns="0" rIns="0" bIns="0" rtlCol="0" anchor="ctr"/>
          <a:lstStyle/>
          <a:p>
            <a:pPr indent="0" marL="0">
              <a:buNone/>
            </a:pPr>
            <a:r>
              <a:rPr lang="en-US" sz="1100" b="1" dirty="0">
                <a:solidFill>
                  <a:srgbClr val="CC0000"/>
                </a:solidFill>
                <a:latin typeface="Calibri" pitchFamily="34" charset="0"/>
                <a:ea typeface="Calibri" pitchFamily="34" charset="-122"/>
                <a:cs typeface="Calibri" pitchFamily="34" charset="-120"/>
              </a:rPr>
              <a:t>Too Short — Effect</a:t>
            </a:r>
            <a:endParaRPr lang="en-US" sz="1100" dirty="0"/>
          </a:p>
        </p:txBody>
      </p:sp>
      <p:sp>
        <p:nvSpPr>
          <p:cNvPr id="14" name="Text 11"/>
          <p:cNvSpPr/>
          <p:nvPr/>
        </p:nvSpPr>
        <p:spPr>
          <a:xfrm>
            <a:off x="5248656" y="2468880"/>
            <a:ext cx="3593592" cy="603504"/>
          </a:xfrm>
          <a:prstGeom prst="rect">
            <a:avLst/>
          </a:prstGeom>
          <a:noFill/>
          <a:ln/>
        </p:spPr>
        <p:txBody>
          <a:bodyPr wrap="square" lIns="0" tIns="0" rIns="0" bIns="0" rtlCol="0" anchor="t"/>
          <a:lstStyle/>
          <a:p>
            <a:pPr indent="0" marL="0">
              <a:buNone/>
            </a:pPr>
            <a:r>
              <a:rPr lang="en-US" sz="1000" dirty="0">
                <a:solidFill>
                  <a:srgbClr val="CCCCCC"/>
                </a:solidFill>
                <a:latin typeface="Calibri" pitchFamily="34" charset="0"/>
                <a:ea typeface="Calibri" pitchFamily="34" charset="-122"/>
                <a:cs typeface="Calibri" pitchFamily="34" charset="-120"/>
              </a:rPr>
              <a:t>Gap between pushrod and piston. Excessive pedal travel before hydraulic pressure builds. Brakes feel 'lazy' — long pedal before engagement.</a:t>
            </a:r>
            <a:endParaRPr lang="en-US" sz="1000" dirty="0"/>
          </a:p>
        </p:txBody>
      </p:sp>
      <p:sp>
        <p:nvSpPr>
          <p:cNvPr id="15" name="Shape 12"/>
          <p:cNvSpPr/>
          <p:nvPr/>
        </p:nvSpPr>
        <p:spPr>
          <a:xfrm>
            <a:off x="5120640" y="3291840"/>
            <a:ext cx="3794760" cy="1097280"/>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16" name="Shape 13"/>
          <p:cNvSpPr/>
          <p:nvPr/>
        </p:nvSpPr>
        <p:spPr>
          <a:xfrm>
            <a:off x="5120640" y="3291840"/>
            <a:ext cx="54864" cy="1097280"/>
          </a:xfrm>
          <a:prstGeom prst="rect">
            <a:avLst/>
          </a:prstGeom>
          <a:solidFill>
            <a:srgbClr val="E9A825"/>
          </a:solidFill>
          <a:ln w="12700">
            <a:solidFill>
              <a:srgbClr val="E9A825"/>
            </a:solidFill>
            <a:prstDash val="solid"/>
          </a:ln>
        </p:spPr>
      </p:sp>
      <p:sp>
        <p:nvSpPr>
          <p:cNvPr id="17" name="Text 14"/>
          <p:cNvSpPr/>
          <p:nvPr/>
        </p:nvSpPr>
        <p:spPr>
          <a:xfrm>
            <a:off x="5248656" y="3383280"/>
            <a:ext cx="3593592" cy="256032"/>
          </a:xfrm>
          <a:prstGeom prst="rect">
            <a:avLst/>
          </a:prstGeom>
          <a:noFill/>
          <a:ln/>
        </p:spPr>
        <p:txBody>
          <a:bodyPr wrap="square" lIns="0" tIns="0" rIns="0" bIns="0" rtlCol="0" anchor="ctr"/>
          <a:lstStyle/>
          <a:p>
            <a:pPr indent="0" marL="0">
              <a:buNone/>
            </a:pPr>
            <a:r>
              <a:rPr lang="en-US" sz="1100" b="1" dirty="0">
                <a:solidFill>
                  <a:srgbClr val="E9A825"/>
                </a:solidFill>
                <a:latin typeface="Calibri" pitchFamily="34" charset="0"/>
                <a:ea typeface="Calibri" pitchFamily="34" charset="-122"/>
                <a:cs typeface="Calibri" pitchFamily="34" charset="-120"/>
              </a:rPr>
              <a:t>Too Long — Effect</a:t>
            </a:r>
            <a:endParaRPr lang="en-US" sz="1100" dirty="0"/>
          </a:p>
        </p:txBody>
      </p:sp>
      <p:sp>
        <p:nvSpPr>
          <p:cNvPr id="18" name="Text 15"/>
          <p:cNvSpPr/>
          <p:nvPr/>
        </p:nvSpPr>
        <p:spPr>
          <a:xfrm>
            <a:off x="5248656" y="3675888"/>
            <a:ext cx="3593592" cy="603504"/>
          </a:xfrm>
          <a:prstGeom prst="rect">
            <a:avLst/>
          </a:prstGeom>
          <a:noFill/>
          <a:ln/>
        </p:spPr>
        <p:txBody>
          <a:bodyPr wrap="square" lIns="0" tIns="0" rIns="0" bIns="0" rtlCol="0" anchor="t"/>
          <a:lstStyle/>
          <a:p>
            <a:pPr indent="0" marL="0">
              <a:buNone/>
            </a:pPr>
            <a:r>
              <a:rPr lang="en-US" sz="1000" dirty="0">
                <a:solidFill>
                  <a:srgbClr val="CCCCCC"/>
                </a:solidFill>
                <a:latin typeface="Calibri" pitchFamily="34" charset="0"/>
                <a:ea typeface="Calibri" pitchFamily="34" charset="-122"/>
                <a:cs typeface="Calibri" pitchFamily="34" charset="-120"/>
              </a:rPr>
              <a:t>Pushrod pre-loads the master cylinder piston. Brakes drag, overheat, or apply without pedal input. Can cause premature pad/rotor wear.</a:t>
            </a:r>
            <a:endParaRPr lang="en-US" sz="1000" dirty="0"/>
          </a:p>
        </p:txBody>
      </p:sp>
      <p:sp>
        <p:nvSpPr>
          <p:cNvPr id="19" name="Shape 16"/>
          <p:cNvSpPr/>
          <p:nvPr/>
        </p:nvSpPr>
        <p:spPr>
          <a:xfrm>
            <a:off x="457200" y="3913632"/>
            <a:ext cx="4480560" cy="896112"/>
          </a:xfrm>
          <a:prstGeom prst="rect">
            <a:avLst/>
          </a:prstGeom>
          <a:solidFill>
            <a:srgbClr val="2A2A2A"/>
          </a:solidFill>
          <a:ln w="6350">
            <a:solidFill>
              <a:srgbClr val="333333"/>
            </a:solidFill>
            <a:prstDash val="solid"/>
          </a:ln>
        </p:spPr>
      </p:sp>
      <p:sp>
        <p:nvSpPr>
          <p:cNvPr id="20" name="Shape 17"/>
          <p:cNvSpPr/>
          <p:nvPr/>
        </p:nvSpPr>
        <p:spPr>
          <a:xfrm>
            <a:off x="457200" y="3913632"/>
            <a:ext cx="54864" cy="896112"/>
          </a:xfrm>
          <a:prstGeom prst="rect">
            <a:avLst/>
          </a:prstGeom>
          <a:solidFill>
            <a:srgbClr val="2A9D8F"/>
          </a:solidFill>
          <a:ln w="12700">
            <a:solidFill>
              <a:srgbClr val="2A9D8F"/>
            </a:solidFill>
            <a:prstDash val="solid"/>
          </a:ln>
        </p:spPr>
      </p:sp>
      <p:sp>
        <p:nvSpPr>
          <p:cNvPr id="21" name="Text 18"/>
          <p:cNvSpPr/>
          <p:nvPr/>
        </p:nvSpPr>
        <p:spPr>
          <a:xfrm>
            <a:off x="603504" y="3986784"/>
            <a:ext cx="4206240" cy="237744"/>
          </a:xfrm>
          <a:prstGeom prst="rect">
            <a:avLst/>
          </a:prstGeom>
          <a:noFill/>
          <a:ln/>
        </p:spPr>
        <p:txBody>
          <a:bodyPr wrap="square" lIns="0" tIns="0" rIns="0" bIns="0" rtlCol="0" anchor="ctr"/>
          <a:lstStyle/>
          <a:p>
            <a:pPr indent="0" marL="0">
              <a:buNone/>
            </a:pPr>
            <a:r>
              <a:rPr lang="en-US" sz="1000" b="1" dirty="0">
                <a:solidFill>
                  <a:srgbClr val="2A9D8F"/>
                </a:solidFill>
                <a:latin typeface="Calibri" pitchFamily="34" charset="0"/>
                <a:ea typeface="Calibri" pitchFamily="34" charset="-122"/>
                <a:cs typeface="Calibri" pitchFamily="34" charset="-120"/>
              </a:rPr>
              <a:t>Measurement Method</a:t>
            </a:r>
            <a:endParaRPr lang="en-US" sz="1000" dirty="0"/>
          </a:p>
        </p:txBody>
      </p:sp>
      <p:sp>
        <p:nvSpPr>
          <p:cNvPr id="22" name="Text 19"/>
          <p:cNvSpPr/>
          <p:nvPr/>
        </p:nvSpPr>
        <p:spPr>
          <a:xfrm>
            <a:off x="603504" y="4242816"/>
            <a:ext cx="4206240" cy="512064"/>
          </a:xfrm>
          <a:prstGeom prst="rect">
            <a:avLst/>
          </a:prstGeom>
          <a:noFill/>
          <a:ln/>
        </p:spPr>
        <p:txBody>
          <a:bodyPr wrap="square" lIns="0" tIns="0" rIns="0" bIns="0" rtlCol="0" anchor="t"/>
          <a:lstStyle/>
          <a:p>
            <a:pPr indent="0" marL="0">
              <a:buNone/>
            </a:pPr>
            <a:r>
              <a:rPr lang="en-US" sz="950" dirty="0">
                <a:solidFill>
                  <a:srgbClr val="CCCCCC"/>
                </a:solidFill>
                <a:latin typeface="Calibri" pitchFamily="34" charset="0"/>
                <a:ea typeface="Calibri" pitchFamily="34" charset="-122"/>
                <a:cs typeface="Calibri" pitchFamily="34" charset="-120"/>
              </a:rPr>
              <a:t>Use ShopKey to find spec. Measure protrusion with a pushrod gauge or digital caliper. Adjust by turning the pushrod adjuster — clockwise to lengthen, counter-clockwise to shorten.</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2A9D8F"/>
          </a:solidFill>
          <a:ln w="12700">
            <a:solidFill>
              <a:srgbClr val="2A9D8F"/>
            </a:solidFill>
            <a:prstDash val="solid"/>
          </a:ln>
        </p:spPr>
      </p:sp>
      <p:sp>
        <p:nvSpPr>
          <p:cNvPr id="3" name="Shape 1"/>
          <p:cNvSpPr/>
          <p:nvPr/>
        </p:nvSpPr>
        <p:spPr>
          <a:xfrm>
            <a:off x="0" y="5079492"/>
            <a:ext cx="9144000" cy="64008"/>
          </a:xfrm>
          <a:prstGeom prst="rect">
            <a:avLst/>
          </a:prstGeom>
          <a:solidFill>
            <a:srgbClr val="2A9D8F"/>
          </a:solidFill>
          <a:ln w="12700">
            <a:solidFill>
              <a:srgbClr val="2A9D8F"/>
            </a:solidFill>
            <a:prstDash val="solid"/>
          </a:ln>
        </p:spPr>
      </p:sp>
      <p:sp>
        <p:nvSpPr>
          <p:cNvPr id="4" name="Text 2"/>
          <p:cNvSpPr/>
          <p:nvPr/>
        </p:nvSpPr>
        <p:spPr>
          <a:xfrm>
            <a:off x="457200" y="118872"/>
            <a:ext cx="8229600" cy="201168"/>
          </a:xfrm>
          <a:prstGeom prst="rect">
            <a:avLst/>
          </a:prstGeom>
          <a:noFill/>
          <a:ln/>
        </p:spPr>
        <p:txBody>
          <a:bodyPr wrap="square" lIns="0" tIns="0" rIns="0" bIns="0" rtlCol="0" anchor="ctr"/>
          <a:lstStyle/>
          <a:p>
            <a:pPr indent="0" marL="0">
              <a:buNone/>
            </a:pPr>
            <a:r>
              <a:rPr lang="en-US" sz="800" b="1" spc="400" kern="0" dirty="0">
                <a:solidFill>
                  <a:srgbClr val="2A9D8F"/>
                </a:solidFill>
                <a:latin typeface="Calibri" pitchFamily="34" charset="0"/>
                <a:ea typeface="Calibri" pitchFamily="34" charset="-122"/>
                <a:cs typeface="Calibri" pitchFamily="34" charset="-120"/>
              </a:rPr>
              <a:t>SERVICE &amp; ADJUSTMENT</a:t>
            </a:r>
            <a:endParaRPr lang="en-US" sz="800" dirty="0"/>
          </a:p>
        </p:txBody>
      </p:sp>
      <p:sp>
        <p:nvSpPr>
          <p:cNvPr id="5" name="Text 3"/>
          <p:cNvSpPr/>
          <p:nvPr/>
        </p:nvSpPr>
        <p:spPr>
          <a:xfrm>
            <a:off x="457200" y="384048"/>
            <a:ext cx="8229600" cy="530352"/>
          </a:xfrm>
          <a:prstGeom prst="rect">
            <a:avLst/>
          </a:prstGeom>
          <a:noFill/>
          <a:ln/>
        </p:spPr>
        <p:txBody>
          <a:bodyPr wrap="square" lIns="0" tIns="0" rIns="0" bIns="0" rtlCol="0" anchor="ctr"/>
          <a:lstStyle/>
          <a:p>
            <a:pPr indent="0" marL="0">
              <a:buNone/>
            </a:pPr>
            <a:r>
              <a:rPr lang="en-US" sz="2800" b="1" dirty="0">
                <a:solidFill>
                  <a:srgbClr val="2A9D8F"/>
                </a:solidFill>
                <a:latin typeface="Calibri" pitchFamily="34" charset="0"/>
                <a:ea typeface="Calibri" pitchFamily="34" charset="-122"/>
                <a:cs typeface="Calibri" pitchFamily="34" charset="-120"/>
              </a:rPr>
              <a:t>Pushrod Measurement Tool</a:t>
            </a:r>
            <a:endParaRPr lang="en-US" sz="2800" dirty="0"/>
          </a:p>
        </p:txBody>
      </p:sp>
      <p:pic>
        <p:nvPicPr>
          <p:cNvPr id="6" name="Image 0" descr="Pushrod gauge tool — threaded pin, primary piston, variable gauge, gasket, master cylinder">    </p:cNvPr>
          <p:cNvPicPr>
            <a:picLocks noChangeAspect="1"/>
          </p:cNvPicPr>
          <p:nvPr/>
        </p:nvPicPr>
        <p:blipFill>
          <a:blip r:embed="rId1"/>
          <a:stretch>
            <a:fillRect/>
          </a:stretch>
        </p:blipFill>
        <p:spPr>
          <a:xfrm>
            <a:off x="457200" y="877824"/>
            <a:ext cx="4114800" cy="3291840"/>
          </a:xfrm>
          <a:prstGeom prst="rect">
            <a:avLst/>
          </a:prstGeom>
        </p:spPr>
      </p:pic>
      <p:pic>
        <p:nvPicPr>
          <p:cNvPr id="7" name="Image 1" descr="Pushrod gauge tool — self-locking nut, output pushrod">    </p:cNvPr>
          <p:cNvPicPr>
            <a:picLocks noChangeAspect="1"/>
          </p:cNvPicPr>
          <p:nvPr/>
        </p:nvPicPr>
        <p:blipFill>
          <a:blip r:embed="rId2"/>
          <a:stretch>
            <a:fillRect/>
          </a:stretch>
        </p:blipFill>
        <p:spPr>
          <a:xfrm>
            <a:off x="4754880" y="877824"/>
            <a:ext cx="4114800" cy="3291840"/>
          </a:xfrm>
          <a:prstGeom prst="rect">
            <a:avLst/>
          </a:prstGeom>
        </p:spPr>
      </p:pic>
      <p:sp>
        <p:nvSpPr>
          <p:cNvPr id="8" name="Shape 4"/>
          <p:cNvSpPr/>
          <p:nvPr/>
        </p:nvSpPr>
        <p:spPr>
          <a:xfrm>
            <a:off x="457200" y="4261104"/>
            <a:ext cx="8321040" cy="640080"/>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9" name="Shape 5"/>
          <p:cNvSpPr/>
          <p:nvPr/>
        </p:nvSpPr>
        <p:spPr>
          <a:xfrm>
            <a:off x="457200" y="4261104"/>
            <a:ext cx="54864" cy="640080"/>
          </a:xfrm>
          <a:prstGeom prst="rect">
            <a:avLst/>
          </a:prstGeom>
          <a:solidFill>
            <a:srgbClr val="E9A825"/>
          </a:solidFill>
          <a:ln w="12700">
            <a:solidFill>
              <a:srgbClr val="E9A825"/>
            </a:solidFill>
            <a:prstDash val="solid"/>
          </a:ln>
        </p:spPr>
      </p:sp>
      <p:sp>
        <p:nvSpPr>
          <p:cNvPr id="10" name="Text 6"/>
          <p:cNvSpPr/>
          <p:nvPr/>
        </p:nvSpPr>
        <p:spPr>
          <a:xfrm>
            <a:off x="585216" y="4352544"/>
            <a:ext cx="8119872" cy="256032"/>
          </a:xfrm>
          <a:prstGeom prst="rect">
            <a:avLst/>
          </a:prstGeom>
          <a:noFill/>
          <a:ln/>
        </p:spPr>
        <p:txBody>
          <a:bodyPr wrap="square" lIns="0" tIns="0" rIns="0" bIns="0" rtlCol="0" anchor="ctr"/>
          <a:lstStyle/>
          <a:p>
            <a:pPr indent="0" marL="0">
              <a:buNone/>
            </a:pPr>
            <a:r>
              <a:rPr lang="en-US" sz="1100" b="1" dirty="0">
                <a:solidFill>
                  <a:srgbClr val="E9A825"/>
                </a:solidFill>
                <a:latin typeface="Calibri" pitchFamily="34" charset="0"/>
                <a:ea typeface="Calibri" pitchFamily="34" charset="-122"/>
                <a:cs typeface="Calibri" pitchFamily="34" charset="-120"/>
              </a:rPr>
              <a:t>How the Gauge Works</a:t>
            </a:r>
            <a:endParaRPr lang="en-US" sz="1100" dirty="0"/>
          </a:p>
        </p:txBody>
      </p:sp>
      <p:sp>
        <p:nvSpPr>
          <p:cNvPr id="11" name="Text 7"/>
          <p:cNvSpPr/>
          <p:nvPr/>
        </p:nvSpPr>
        <p:spPr>
          <a:xfrm>
            <a:off x="585216" y="4645152"/>
            <a:ext cx="8119872" cy="146304"/>
          </a:xfrm>
          <a:prstGeom prst="rect">
            <a:avLst/>
          </a:prstGeom>
          <a:noFill/>
          <a:ln/>
        </p:spPr>
        <p:txBody>
          <a:bodyPr wrap="square" lIns="0" tIns="0" rIns="0" bIns="0" rtlCol="0" anchor="t"/>
          <a:lstStyle/>
          <a:p>
            <a:pPr indent="0" marL="0">
              <a:buNone/>
            </a:pPr>
            <a:r>
              <a:rPr lang="en-US" sz="1000" dirty="0">
                <a:solidFill>
                  <a:srgbClr val="CCCCCC"/>
                </a:solidFill>
                <a:latin typeface="Calibri" pitchFamily="34" charset="0"/>
                <a:ea typeface="Calibri" pitchFamily="34" charset="-122"/>
                <a:cs typeface="Calibri" pitchFamily="34" charset="-120"/>
              </a:rPr>
              <a:t>The tool is placed on the booster output pushrod. The adjustable pin contacts the master cylinder piston bore. Measurement is read from the gauge to determine protrusion. Compare to ShopKey spec.</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2A9D8F"/>
          </a:solidFill>
          <a:ln w="12700">
            <a:solidFill>
              <a:srgbClr val="2A9D8F"/>
            </a:solidFill>
            <a:prstDash val="solid"/>
          </a:ln>
        </p:spPr>
      </p:sp>
      <p:sp>
        <p:nvSpPr>
          <p:cNvPr id="3" name="Shape 1"/>
          <p:cNvSpPr/>
          <p:nvPr/>
        </p:nvSpPr>
        <p:spPr>
          <a:xfrm>
            <a:off x="0" y="5079492"/>
            <a:ext cx="9144000" cy="64008"/>
          </a:xfrm>
          <a:prstGeom prst="rect">
            <a:avLst/>
          </a:prstGeom>
          <a:solidFill>
            <a:srgbClr val="2A9D8F"/>
          </a:solidFill>
          <a:ln w="12700">
            <a:solidFill>
              <a:srgbClr val="2A9D8F"/>
            </a:solidFill>
            <a:prstDash val="solid"/>
          </a:ln>
        </p:spPr>
      </p:sp>
      <p:sp>
        <p:nvSpPr>
          <p:cNvPr id="4" name="Text 2"/>
          <p:cNvSpPr/>
          <p:nvPr/>
        </p:nvSpPr>
        <p:spPr>
          <a:xfrm>
            <a:off x="457200" y="118872"/>
            <a:ext cx="8229600" cy="201168"/>
          </a:xfrm>
          <a:prstGeom prst="rect">
            <a:avLst/>
          </a:prstGeom>
          <a:noFill/>
          <a:ln/>
        </p:spPr>
        <p:txBody>
          <a:bodyPr wrap="square" lIns="0" tIns="0" rIns="0" bIns="0" rtlCol="0" anchor="ctr"/>
          <a:lstStyle/>
          <a:p>
            <a:pPr indent="0" marL="0">
              <a:buNone/>
            </a:pPr>
            <a:r>
              <a:rPr lang="en-US" sz="800" b="1" spc="400" kern="0" dirty="0">
                <a:solidFill>
                  <a:srgbClr val="2A9D8F"/>
                </a:solidFill>
                <a:latin typeface="Calibri" pitchFamily="34" charset="0"/>
                <a:ea typeface="Calibri" pitchFamily="34" charset="-122"/>
                <a:cs typeface="Calibri" pitchFamily="34" charset="-120"/>
              </a:rPr>
              <a:t>COMPONENTS</a:t>
            </a:r>
            <a:endParaRPr lang="en-US" sz="800" dirty="0"/>
          </a:p>
        </p:txBody>
      </p:sp>
      <p:sp>
        <p:nvSpPr>
          <p:cNvPr id="5" name="Text 3"/>
          <p:cNvSpPr/>
          <p:nvPr/>
        </p:nvSpPr>
        <p:spPr>
          <a:xfrm>
            <a:off x="457200" y="384048"/>
            <a:ext cx="8229600" cy="530352"/>
          </a:xfrm>
          <a:prstGeom prst="rect">
            <a:avLst/>
          </a:prstGeom>
          <a:noFill/>
          <a:ln/>
        </p:spPr>
        <p:txBody>
          <a:bodyPr wrap="square" lIns="0" tIns="0" rIns="0" bIns="0" rtlCol="0" anchor="ctr"/>
          <a:lstStyle/>
          <a:p>
            <a:pPr indent="0" marL="0">
              <a:buNone/>
            </a:pPr>
            <a:r>
              <a:rPr lang="en-US" sz="2800" b="1" dirty="0">
                <a:solidFill>
                  <a:srgbClr val="2A9D8F"/>
                </a:solidFill>
                <a:latin typeface="Calibri" pitchFamily="34" charset="0"/>
                <a:ea typeface="Calibri" pitchFamily="34" charset="-122"/>
                <a:cs typeface="Calibri" pitchFamily="34" charset="-120"/>
              </a:rPr>
              <a:t>Booster Component Exploded View</a:t>
            </a:r>
            <a:endParaRPr lang="en-US" sz="2800" dirty="0"/>
          </a:p>
        </p:txBody>
      </p:sp>
      <p:pic>
        <p:nvPicPr>
          <p:cNvPr id="6" name="Image 0" descr="Exploded view of all brake booster components">    </p:cNvPr>
          <p:cNvPicPr>
            <a:picLocks noChangeAspect="1"/>
          </p:cNvPicPr>
          <p:nvPr/>
        </p:nvPicPr>
        <p:blipFill>
          <a:blip r:embed="rId1"/>
          <a:stretch>
            <a:fillRect/>
          </a:stretch>
        </p:blipFill>
        <p:spPr>
          <a:xfrm>
            <a:off x="457200" y="877824"/>
            <a:ext cx="8229600" cy="3584448"/>
          </a:xfrm>
          <a:prstGeom prst="rect">
            <a:avLst/>
          </a:prstGeom>
        </p:spPr>
      </p:pic>
      <p:sp>
        <p:nvSpPr>
          <p:cNvPr id="7" name="Shape 4"/>
          <p:cNvSpPr/>
          <p:nvPr/>
        </p:nvSpPr>
        <p:spPr>
          <a:xfrm>
            <a:off x="457200" y="4553712"/>
            <a:ext cx="8321040" cy="256032"/>
          </a:xfrm>
          <a:prstGeom prst="rect">
            <a:avLst/>
          </a:prstGeom>
          <a:solidFill>
            <a:srgbClr val="2A2A2A"/>
          </a:solidFill>
          <a:ln w="3810">
            <a:solidFill>
              <a:srgbClr val="333333"/>
            </a:solidFill>
            <a:prstDash val="solid"/>
          </a:ln>
        </p:spPr>
      </p:sp>
      <p:sp>
        <p:nvSpPr>
          <p:cNvPr id="8" name="Shape 5"/>
          <p:cNvSpPr/>
          <p:nvPr/>
        </p:nvSpPr>
        <p:spPr>
          <a:xfrm>
            <a:off x="457200" y="4553712"/>
            <a:ext cx="54864" cy="256032"/>
          </a:xfrm>
          <a:prstGeom prst="rect">
            <a:avLst/>
          </a:prstGeom>
          <a:solidFill>
            <a:srgbClr val="E9A825"/>
          </a:solidFill>
          <a:ln w="12700">
            <a:solidFill>
              <a:srgbClr val="E9A825"/>
            </a:solidFill>
            <a:prstDash val="solid"/>
          </a:ln>
        </p:spPr>
      </p:sp>
      <p:sp>
        <p:nvSpPr>
          <p:cNvPr id="9" name="Text 6"/>
          <p:cNvSpPr/>
          <p:nvPr/>
        </p:nvSpPr>
        <p:spPr>
          <a:xfrm>
            <a:off x="585216" y="4553712"/>
            <a:ext cx="8046720" cy="256032"/>
          </a:xfrm>
          <a:prstGeom prst="rect">
            <a:avLst/>
          </a:prstGeom>
          <a:noFill/>
          <a:ln/>
        </p:spPr>
        <p:txBody>
          <a:bodyPr wrap="square" lIns="0" tIns="0" rIns="0" bIns="0" rtlCol="0" anchor="ctr"/>
          <a:lstStyle/>
          <a:p>
            <a:pPr indent="0" marL="0">
              <a:buNone/>
            </a:pPr>
            <a:r>
              <a:rPr lang="en-US" sz="950" dirty="0">
                <a:solidFill>
                  <a:srgbClr val="CCCCCC"/>
                </a:solidFill>
                <a:latin typeface="Calibri" pitchFamily="34" charset="0"/>
                <a:ea typeface="Calibri" pitchFamily="34" charset="-122"/>
                <a:cs typeface="Calibri" pitchFamily="34" charset="-120"/>
              </a:rPr>
              <a:t>Key components: front/rear shell, primary/secondary diaphragm, control valve, reaction disk, input &amp; output pushrods, check valve, silencer (charcoal filter).</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2A9D8F"/>
          </a:solidFill>
          <a:ln w="12700">
            <a:solidFill>
              <a:srgbClr val="2A9D8F"/>
            </a:solidFill>
            <a:prstDash val="solid"/>
          </a:ln>
        </p:spPr>
      </p:sp>
      <p:sp>
        <p:nvSpPr>
          <p:cNvPr id="3" name="Shape 1"/>
          <p:cNvSpPr/>
          <p:nvPr/>
        </p:nvSpPr>
        <p:spPr>
          <a:xfrm>
            <a:off x="0" y="5052060"/>
            <a:ext cx="9144000" cy="91440"/>
          </a:xfrm>
          <a:prstGeom prst="rect">
            <a:avLst/>
          </a:prstGeom>
          <a:solidFill>
            <a:srgbClr val="2A9D8F"/>
          </a:solidFill>
          <a:ln w="12700">
            <a:solidFill>
              <a:srgbClr val="2A9D8F"/>
            </a:solidFill>
            <a:prstDash val="solid"/>
          </a:ln>
        </p:spPr>
      </p:sp>
      <p:sp>
        <p:nvSpPr>
          <p:cNvPr id="4" name="Shape 2"/>
          <p:cNvSpPr/>
          <p:nvPr/>
        </p:nvSpPr>
        <p:spPr>
          <a:xfrm>
            <a:off x="548640" y="1554480"/>
            <a:ext cx="91440" cy="1463040"/>
          </a:xfrm>
          <a:prstGeom prst="rect">
            <a:avLst/>
          </a:prstGeom>
          <a:solidFill>
            <a:srgbClr val="2A9D8F"/>
          </a:solidFill>
          <a:ln w="12700">
            <a:solidFill>
              <a:srgbClr val="2A9D8F"/>
            </a:solidFill>
            <a:prstDash val="solid"/>
          </a:ln>
        </p:spPr>
      </p:sp>
      <p:sp>
        <p:nvSpPr>
          <p:cNvPr id="5" name="Text 3"/>
          <p:cNvSpPr/>
          <p:nvPr/>
        </p:nvSpPr>
        <p:spPr>
          <a:xfrm>
            <a:off x="548640" y="1143000"/>
            <a:ext cx="8229600" cy="292608"/>
          </a:xfrm>
          <a:prstGeom prst="rect">
            <a:avLst/>
          </a:prstGeom>
          <a:noFill/>
          <a:ln/>
        </p:spPr>
        <p:txBody>
          <a:bodyPr wrap="square" lIns="0" tIns="0" rIns="0" bIns="0" rtlCol="0" anchor="ctr"/>
          <a:lstStyle/>
          <a:p>
            <a:pPr indent="0" marL="0">
              <a:buNone/>
            </a:pPr>
            <a:r>
              <a:rPr lang="en-US" sz="1000" b="1" spc="500" kern="0" dirty="0">
                <a:solidFill>
                  <a:srgbClr val="2A9D8F"/>
                </a:solidFill>
                <a:latin typeface="Calibri" pitchFamily="34" charset="0"/>
                <a:ea typeface="Calibri" pitchFamily="34" charset="-122"/>
                <a:cs typeface="Calibri" pitchFamily="34" charset="-120"/>
              </a:rPr>
              <a:t>SECTION 3</a:t>
            </a:r>
            <a:endParaRPr lang="en-US" sz="1000" dirty="0"/>
          </a:p>
        </p:txBody>
      </p:sp>
      <p:sp>
        <p:nvSpPr>
          <p:cNvPr id="6" name="Text 4"/>
          <p:cNvSpPr/>
          <p:nvPr/>
        </p:nvSpPr>
        <p:spPr>
          <a:xfrm>
            <a:off x="777240" y="1554480"/>
            <a:ext cx="7863840" cy="1463040"/>
          </a:xfrm>
          <a:prstGeom prst="rect">
            <a:avLst/>
          </a:prstGeom>
          <a:noFill/>
          <a:ln/>
        </p:spPr>
        <p:txBody>
          <a:bodyPr wrap="square" lIns="0" tIns="0" rIns="0" bIns="0" rtlCol="0" anchor="ctr"/>
          <a:lstStyle/>
          <a:p>
            <a:pPr indent="0" marL="0">
              <a:buNone/>
            </a:pPr>
            <a:r>
              <a:rPr lang="en-US" sz="5000" b="1" dirty="0">
                <a:solidFill>
                  <a:srgbClr val="FFFFFF"/>
                </a:solidFill>
                <a:latin typeface="Calibri" pitchFamily="34" charset="0"/>
                <a:ea typeface="Calibri" pitchFamily="34" charset="-122"/>
                <a:cs typeface="Calibri" pitchFamily="34" charset="-120"/>
              </a:rPr>
              <a:t>Hydro-Boost</a:t>
            </a:r>
            <a:endParaRPr lang="en-US" sz="5000" dirty="0"/>
          </a:p>
        </p:txBody>
      </p:sp>
      <p:sp>
        <p:nvSpPr>
          <p:cNvPr id="7" name="Text 5"/>
          <p:cNvSpPr/>
          <p:nvPr/>
        </p:nvSpPr>
        <p:spPr>
          <a:xfrm>
            <a:off x="777240" y="3154680"/>
            <a:ext cx="7863840" cy="347472"/>
          </a:xfrm>
          <a:prstGeom prst="rect">
            <a:avLst/>
          </a:prstGeom>
          <a:noFill/>
          <a:ln/>
        </p:spPr>
        <p:txBody>
          <a:bodyPr wrap="square" lIns="0" tIns="0" rIns="0" bIns="0" rtlCol="0" anchor="ctr"/>
          <a:lstStyle/>
          <a:p>
            <a:pPr indent="0" marL="0">
              <a:buNone/>
            </a:pPr>
            <a:r>
              <a:rPr lang="en-US" sz="1400" dirty="0">
                <a:solidFill>
                  <a:srgbClr val="CCCCCC"/>
                </a:solidFill>
                <a:latin typeface="Calibri" pitchFamily="34" charset="0"/>
                <a:ea typeface="Calibri" pitchFamily="34" charset="-122"/>
                <a:cs typeface="Calibri" pitchFamily="34" charset="-120"/>
              </a:rPr>
              <a:t>Hydraulic power steering fluid instead of vacuum</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2A9D8F"/>
          </a:solidFill>
          <a:ln w="12700">
            <a:solidFill>
              <a:srgbClr val="2A9D8F"/>
            </a:solidFill>
            <a:prstDash val="solid"/>
          </a:ln>
        </p:spPr>
      </p:sp>
      <p:sp>
        <p:nvSpPr>
          <p:cNvPr id="3" name="Shape 1"/>
          <p:cNvSpPr/>
          <p:nvPr/>
        </p:nvSpPr>
        <p:spPr>
          <a:xfrm>
            <a:off x="0" y="5079492"/>
            <a:ext cx="9144000" cy="64008"/>
          </a:xfrm>
          <a:prstGeom prst="rect">
            <a:avLst/>
          </a:prstGeom>
          <a:solidFill>
            <a:srgbClr val="2A9D8F"/>
          </a:solidFill>
          <a:ln w="12700">
            <a:solidFill>
              <a:srgbClr val="2A9D8F"/>
            </a:solidFill>
            <a:prstDash val="solid"/>
          </a:ln>
        </p:spPr>
      </p:sp>
      <p:sp>
        <p:nvSpPr>
          <p:cNvPr id="4" name="Text 2"/>
          <p:cNvSpPr/>
          <p:nvPr/>
        </p:nvSpPr>
        <p:spPr>
          <a:xfrm>
            <a:off x="457200" y="118872"/>
            <a:ext cx="8229600" cy="201168"/>
          </a:xfrm>
          <a:prstGeom prst="rect">
            <a:avLst/>
          </a:prstGeom>
          <a:noFill/>
          <a:ln/>
        </p:spPr>
        <p:txBody>
          <a:bodyPr wrap="square" lIns="0" tIns="0" rIns="0" bIns="0" rtlCol="0" anchor="ctr"/>
          <a:lstStyle/>
          <a:p>
            <a:pPr indent="0" marL="0">
              <a:buNone/>
            </a:pPr>
            <a:r>
              <a:rPr lang="en-US" sz="800" b="1" spc="400" kern="0" dirty="0">
                <a:solidFill>
                  <a:srgbClr val="2A9D8F"/>
                </a:solidFill>
                <a:latin typeface="Calibri" pitchFamily="34" charset="0"/>
                <a:ea typeface="Calibri" pitchFamily="34" charset="-122"/>
                <a:cs typeface="Calibri" pitchFamily="34" charset="-120"/>
              </a:rPr>
              <a:t>HYDRO-BOOST</a:t>
            </a:r>
            <a:endParaRPr lang="en-US" sz="800" dirty="0"/>
          </a:p>
        </p:txBody>
      </p:sp>
      <p:sp>
        <p:nvSpPr>
          <p:cNvPr id="5" name="Text 3"/>
          <p:cNvSpPr/>
          <p:nvPr/>
        </p:nvSpPr>
        <p:spPr>
          <a:xfrm>
            <a:off x="457200" y="384048"/>
            <a:ext cx="8229600" cy="530352"/>
          </a:xfrm>
          <a:prstGeom prst="rect">
            <a:avLst/>
          </a:prstGeom>
          <a:noFill/>
          <a:ln/>
        </p:spPr>
        <p:txBody>
          <a:bodyPr wrap="square" lIns="0" tIns="0" rIns="0" bIns="0" rtlCol="0" anchor="ctr"/>
          <a:lstStyle/>
          <a:p>
            <a:pPr indent="0" marL="0">
              <a:buNone/>
            </a:pPr>
            <a:r>
              <a:rPr lang="en-US" sz="2800" b="1" dirty="0">
                <a:solidFill>
                  <a:srgbClr val="2A9D8F"/>
                </a:solidFill>
                <a:latin typeface="Calibri" pitchFamily="34" charset="0"/>
                <a:ea typeface="Calibri" pitchFamily="34" charset="-122"/>
                <a:cs typeface="Calibri" pitchFamily="34" charset="-120"/>
              </a:rPr>
              <a:t>Hydro-Boost Brake Booster</a:t>
            </a:r>
            <a:endParaRPr lang="en-US" sz="2800" dirty="0"/>
          </a:p>
        </p:txBody>
      </p:sp>
      <p:pic>
        <p:nvPicPr>
          <p:cNvPr id="6" name="Image 0" descr="Hydro-boost diagram — pump, reservoir, master cylinder, gear">    </p:cNvPr>
          <p:cNvPicPr>
            <a:picLocks noChangeAspect="1"/>
          </p:cNvPicPr>
          <p:nvPr/>
        </p:nvPicPr>
        <p:blipFill>
          <a:blip r:embed="rId1"/>
          <a:stretch>
            <a:fillRect/>
          </a:stretch>
        </p:blipFill>
        <p:spPr>
          <a:xfrm>
            <a:off x="4846320" y="804672"/>
            <a:ext cx="4069080" cy="2706624"/>
          </a:xfrm>
          <a:prstGeom prst="rect">
            <a:avLst/>
          </a:prstGeom>
        </p:spPr>
      </p:pic>
      <p:sp>
        <p:nvSpPr>
          <p:cNvPr id="7" name="Text 4"/>
          <p:cNvSpPr/>
          <p:nvPr/>
        </p:nvSpPr>
        <p:spPr>
          <a:xfrm>
            <a:off x="457200" y="1024128"/>
            <a:ext cx="4206240" cy="3474720"/>
          </a:xfrm>
          <a:prstGeom prst="rect">
            <a:avLst/>
          </a:prstGeom>
          <a:noFill/>
          <a:ln/>
        </p:spPr>
        <p:txBody>
          <a:bodyPr wrap="square" rtlCol="0" anchor="ctr"/>
          <a:lstStyle/>
          <a:p>
            <a:pPr marL="342900" indent="-342900">
              <a:spcAft>
                <a:spcPts val="500"/>
              </a:spcAft>
              <a:buSzPct val="100000"/>
              <a:buChar char="•"/>
            </a:pPr>
            <a:r>
              <a:rPr lang="en-US" sz="1100" dirty="0">
                <a:solidFill>
                  <a:srgbClr val="CCCCCC"/>
                </a:solidFill>
                <a:latin typeface="Calibri" pitchFamily="34" charset="0"/>
                <a:ea typeface="Calibri" pitchFamily="34" charset="-122"/>
                <a:cs typeface="Calibri" pitchFamily="34" charset="-120"/>
              </a:rPr>
              <a:t>Uses pressurized power steering fluid instead of engine vacuum.</a:t>
            </a:r>
            <a:endParaRPr lang="en-US" sz="1100" dirty="0"/>
          </a:p>
          <a:p>
            <a:pPr marL="342900" indent="-342900">
              <a:spcAft>
                <a:spcPts val="500"/>
              </a:spcAft>
              <a:buSzPct val="100000"/>
              <a:buChar char="•"/>
            </a:pPr>
            <a:r>
              <a:rPr lang="en-US" sz="1100" dirty="0">
                <a:solidFill>
                  <a:srgbClr val="CCCCCC"/>
                </a:solidFill>
                <a:latin typeface="Calibri" pitchFamily="34" charset="0"/>
                <a:ea typeface="Calibri" pitchFamily="34" charset="-122"/>
                <a:cs typeface="Calibri" pitchFamily="34" charset="-120"/>
              </a:rPr>
              <a:t>Originally developed by Bendix — common on diesel and turbocharged vehicles.</a:t>
            </a:r>
            <a:endParaRPr lang="en-US" sz="1100" dirty="0"/>
          </a:p>
          <a:p>
            <a:pPr marL="342900" indent="-342900">
              <a:spcAft>
                <a:spcPts val="500"/>
              </a:spcAft>
              <a:buSzPct val="100000"/>
              <a:buChar char="•"/>
            </a:pPr>
            <a:r>
              <a:rPr lang="en-US" sz="1100" dirty="0">
                <a:solidFill>
                  <a:srgbClr val="CCCCCC"/>
                </a:solidFill>
                <a:latin typeface="Calibri" pitchFamily="34" charset="0"/>
                <a:ea typeface="Calibri" pitchFamily="34" charset="-122"/>
                <a:cs typeface="Calibri" pitchFamily="34" charset="-120"/>
              </a:rPr>
              <a:t>Fluid enters via a spool valve. At rest: fluid flows through unrestricted.</a:t>
            </a:r>
            <a:endParaRPr lang="en-US" sz="1100" dirty="0"/>
          </a:p>
          <a:p>
            <a:pPr marL="342900" indent="-342900">
              <a:spcAft>
                <a:spcPts val="500"/>
              </a:spcAft>
              <a:buSzPct val="100000"/>
              <a:buChar char="•"/>
            </a:pPr>
            <a:r>
              <a:rPr lang="en-US" sz="1100" dirty="0">
                <a:solidFill>
                  <a:srgbClr val="CCCCCC"/>
                </a:solidFill>
                <a:latin typeface="Calibri" pitchFamily="34" charset="0"/>
                <a:ea typeface="Calibri" pitchFamily="34" charset="-122"/>
                <a:cs typeface="Calibri" pitchFamily="34" charset="-120"/>
              </a:rPr>
              <a:t>When pedal pressed: spool valve closes, pressure builds in boost chamber.</a:t>
            </a:r>
            <a:endParaRPr lang="en-US" sz="1100" dirty="0"/>
          </a:p>
          <a:p>
            <a:pPr marL="342900" indent="-342900">
              <a:spcAft>
                <a:spcPts val="500"/>
              </a:spcAft>
              <a:buSzPct val="100000"/>
              <a:buChar char="•"/>
            </a:pPr>
            <a:r>
              <a:rPr lang="en-US" sz="1100" dirty="0">
                <a:solidFill>
                  <a:srgbClr val="CCCCCC"/>
                </a:solidFill>
                <a:latin typeface="Calibri" pitchFamily="34" charset="0"/>
                <a:ea typeface="Calibri" pitchFamily="34" charset="-122"/>
                <a:cs typeface="Calibri" pitchFamily="34" charset="-120"/>
              </a:rPr>
              <a:t>Boost chamber force added to pedal input via the output pushrod.</a:t>
            </a:r>
            <a:endParaRPr lang="en-US" sz="1100" dirty="0"/>
          </a:p>
          <a:p>
            <a:pPr marL="342900" indent="-342900">
              <a:spcAft>
                <a:spcPts val="500"/>
              </a:spcAft>
              <a:buSzPct val="100000"/>
              <a:buChar char="•"/>
            </a:pPr>
            <a:r>
              <a:rPr lang="en-US" sz="1100" dirty="0">
                <a:solidFill>
                  <a:srgbClr val="CCCCCC"/>
                </a:solidFill>
                <a:latin typeface="Calibri" pitchFamily="34" charset="0"/>
                <a:ea typeface="Calibri" pitchFamily="34" charset="-122"/>
                <a:cs typeface="Calibri" pitchFamily="34" charset="-120"/>
              </a:rPr>
              <a:t>Accumulator (spring or gas charged) provides reserve for 2–3 stops when engine off.</a:t>
            </a:r>
            <a:endParaRPr lang="en-US" sz="1100" dirty="0"/>
          </a:p>
        </p:txBody>
      </p:sp>
      <p:sp>
        <p:nvSpPr>
          <p:cNvPr id="8" name="Shape 5"/>
          <p:cNvSpPr/>
          <p:nvPr/>
        </p:nvSpPr>
        <p:spPr>
          <a:xfrm>
            <a:off x="457200" y="4133088"/>
            <a:ext cx="4206240" cy="713232"/>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9" name="Shape 6"/>
          <p:cNvSpPr/>
          <p:nvPr/>
        </p:nvSpPr>
        <p:spPr>
          <a:xfrm>
            <a:off x="457200" y="4133088"/>
            <a:ext cx="54864" cy="713232"/>
          </a:xfrm>
          <a:prstGeom prst="rect">
            <a:avLst/>
          </a:prstGeom>
          <a:solidFill>
            <a:srgbClr val="E9A825"/>
          </a:solidFill>
          <a:ln w="12700">
            <a:solidFill>
              <a:srgbClr val="E9A825"/>
            </a:solidFill>
            <a:prstDash val="solid"/>
          </a:ln>
        </p:spPr>
      </p:sp>
      <p:sp>
        <p:nvSpPr>
          <p:cNvPr id="10" name="Text 7"/>
          <p:cNvSpPr/>
          <p:nvPr/>
        </p:nvSpPr>
        <p:spPr>
          <a:xfrm>
            <a:off x="585216" y="4224528"/>
            <a:ext cx="4005072" cy="256032"/>
          </a:xfrm>
          <a:prstGeom prst="rect">
            <a:avLst/>
          </a:prstGeom>
          <a:noFill/>
          <a:ln/>
        </p:spPr>
        <p:txBody>
          <a:bodyPr wrap="square" lIns="0" tIns="0" rIns="0" bIns="0" rtlCol="0" anchor="ctr"/>
          <a:lstStyle/>
          <a:p>
            <a:pPr indent="0" marL="0">
              <a:buNone/>
            </a:pPr>
            <a:r>
              <a:rPr lang="en-US" sz="1100" b="1" dirty="0">
                <a:solidFill>
                  <a:srgbClr val="E9A825"/>
                </a:solidFill>
                <a:latin typeface="Calibri" pitchFamily="34" charset="0"/>
                <a:ea typeface="Calibri" pitchFamily="34" charset="-122"/>
                <a:cs typeface="Calibri" pitchFamily="34" charset="-120"/>
              </a:rPr>
              <a:t>Common Applications</a:t>
            </a:r>
            <a:endParaRPr lang="en-US" sz="1100" dirty="0"/>
          </a:p>
        </p:txBody>
      </p:sp>
      <p:sp>
        <p:nvSpPr>
          <p:cNvPr id="11" name="Text 8"/>
          <p:cNvSpPr/>
          <p:nvPr/>
        </p:nvSpPr>
        <p:spPr>
          <a:xfrm>
            <a:off x="585216" y="4517136"/>
            <a:ext cx="4005072" cy="219456"/>
          </a:xfrm>
          <a:prstGeom prst="rect">
            <a:avLst/>
          </a:prstGeom>
          <a:noFill/>
          <a:ln/>
        </p:spPr>
        <p:txBody>
          <a:bodyPr wrap="square" lIns="0" tIns="0" rIns="0" bIns="0" rtlCol="0" anchor="t"/>
          <a:lstStyle/>
          <a:p>
            <a:pPr indent="0" marL="0">
              <a:buNone/>
            </a:pPr>
            <a:r>
              <a:rPr lang="en-US" sz="1000" dirty="0">
                <a:solidFill>
                  <a:srgbClr val="CCCCCC"/>
                </a:solidFill>
                <a:latin typeface="Calibri" pitchFamily="34" charset="0"/>
                <a:ea typeface="Calibri" pitchFamily="34" charset="-122"/>
                <a:cs typeface="Calibri" pitchFamily="34" charset="-120"/>
              </a:rPr>
              <a:t>Diesel trucks, turbocharged vehicles, and any platform where engine vacuum is insufficient or unavailable.</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2A9D8F"/>
          </a:solidFill>
          <a:ln w="12700">
            <a:solidFill>
              <a:srgbClr val="2A9D8F"/>
            </a:solidFill>
            <a:prstDash val="solid"/>
          </a:ln>
        </p:spPr>
      </p:sp>
      <p:sp>
        <p:nvSpPr>
          <p:cNvPr id="3" name="Shape 1"/>
          <p:cNvSpPr/>
          <p:nvPr/>
        </p:nvSpPr>
        <p:spPr>
          <a:xfrm>
            <a:off x="0" y="5079492"/>
            <a:ext cx="9144000" cy="64008"/>
          </a:xfrm>
          <a:prstGeom prst="rect">
            <a:avLst/>
          </a:prstGeom>
          <a:solidFill>
            <a:srgbClr val="2A9D8F"/>
          </a:solidFill>
          <a:ln w="12700">
            <a:solidFill>
              <a:srgbClr val="2A9D8F"/>
            </a:solidFill>
            <a:prstDash val="solid"/>
          </a:ln>
        </p:spPr>
      </p:sp>
      <p:sp>
        <p:nvSpPr>
          <p:cNvPr id="4" name="Text 2"/>
          <p:cNvSpPr/>
          <p:nvPr/>
        </p:nvSpPr>
        <p:spPr>
          <a:xfrm>
            <a:off x="457200" y="118872"/>
            <a:ext cx="8229600" cy="201168"/>
          </a:xfrm>
          <a:prstGeom prst="rect">
            <a:avLst/>
          </a:prstGeom>
          <a:noFill/>
          <a:ln/>
        </p:spPr>
        <p:txBody>
          <a:bodyPr wrap="square" lIns="0" tIns="0" rIns="0" bIns="0" rtlCol="0" anchor="ctr"/>
          <a:lstStyle/>
          <a:p>
            <a:pPr indent="0" marL="0">
              <a:buNone/>
            </a:pPr>
            <a:r>
              <a:rPr lang="en-US" sz="800" b="1" spc="400" kern="0" dirty="0">
                <a:solidFill>
                  <a:srgbClr val="2A9D8F"/>
                </a:solidFill>
                <a:latin typeface="Calibri" pitchFamily="34" charset="0"/>
                <a:ea typeface="Calibri" pitchFamily="34" charset="-122"/>
                <a:cs typeface="Calibri" pitchFamily="34" charset="-120"/>
              </a:rPr>
              <a:t>HYDRO-BOOST</a:t>
            </a:r>
            <a:endParaRPr lang="en-US" sz="800" dirty="0"/>
          </a:p>
        </p:txBody>
      </p:sp>
      <p:sp>
        <p:nvSpPr>
          <p:cNvPr id="5" name="Text 3"/>
          <p:cNvSpPr/>
          <p:nvPr/>
        </p:nvSpPr>
        <p:spPr>
          <a:xfrm>
            <a:off x="457200" y="384048"/>
            <a:ext cx="8229600" cy="530352"/>
          </a:xfrm>
          <a:prstGeom prst="rect">
            <a:avLst/>
          </a:prstGeom>
          <a:noFill/>
          <a:ln/>
        </p:spPr>
        <p:txBody>
          <a:bodyPr wrap="square" lIns="0" tIns="0" rIns="0" bIns="0" rtlCol="0" anchor="ctr"/>
          <a:lstStyle/>
          <a:p>
            <a:pPr indent="0" marL="0">
              <a:buNone/>
            </a:pPr>
            <a:r>
              <a:rPr lang="en-US" sz="2800" b="1" dirty="0">
                <a:solidFill>
                  <a:srgbClr val="2A9D8F"/>
                </a:solidFill>
                <a:latin typeface="Calibri" pitchFamily="34" charset="0"/>
                <a:ea typeface="Calibri" pitchFamily="34" charset="-122"/>
                <a:cs typeface="Calibri" pitchFamily="34" charset="-120"/>
              </a:rPr>
              <a:t>Diagnosing Hydro-Boost</a:t>
            </a:r>
            <a:endParaRPr lang="en-US" sz="2800" dirty="0"/>
          </a:p>
        </p:txBody>
      </p:sp>
      <p:sp>
        <p:nvSpPr>
          <p:cNvPr id="6" name="Shape 4"/>
          <p:cNvSpPr/>
          <p:nvPr/>
        </p:nvSpPr>
        <p:spPr>
          <a:xfrm>
            <a:off x="411480" y="1024128"/>
            <a:ext cx="2633472" cy="1609344"/>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7" name="Shape 5"/>
          <p:cNvSpPr/>
          <p:nvPr/>
        </p:nvSpPr>
        <p:spPr>
          <a:xfrm>
            <a:off x="411480" y="1024128"/>
            <a:ext cx="54864" cy="1609344"/>
          </a:xfrm>
          <a:prstGeom prst="rect">
            <a:avLst/>
          </a:prstGeom>
          <a:solidFill>
            <a:srgbClr val="2A9D8F"/>
          </a:solidFill>
          <a:ln w="12700">
            <a:solidFill>
              <a:srgbClr val="2A9D8F"/>
            </a:solidFill>
            <a:prstDash val="solid"/>
          </a:ln>
        </p:spPr>
      </p:sp>
      <p:sp>
        <p:nvSpPr>
          <p:cNvPr id="8" name="Text 6"/>
          <p:cNvSpPr/>
          <p:nvPr/>
        </p:nvSpPr>
        <p:spPr>
          <a:xfrm>
            <a:off x="539496" y="1115568"/>
            <a:ext cx="2432304" cy="256032"/>
          </a:xfrm>
          <a:prstGeom prst="rect">
            <a:avLst/>
          </a:prstGeom>
          <a:noFill/>
          <a:ln/>
        </p:spPr>
        <p:txBody>
          <a:bodyPr wrap="square" lIns="0" tIns="0" rIns="0" bIns="0" rtlCol="0" anchor="ctr"/>
          <a:lstStyle/>
          <a:p>
            <a:pPr indent="0" marL="0">
              <a:buNone/>
            </a:pPr>
            <a:r>
              <a:rPr lang="en-US" sz="1000" b="1" dirty="0">
                <a:solidFill>
                  <a:srgbClr val="2A9D8F"/>
                </a:solidFill>
                <a:latin typeface="Calibri" pitchFamily="34" charset="0"/>
                <a:ea typeface="Calibri" pitchFamily="34" charset="-122"/>
                <a:cs typeface="Calibri" pitchFamily="34" charset="-120"/>
              </a:rPr>
              <a:t>Check Power Steering Level</a:t>
            </a:r>
            <a:endParaRPr lang="en-US" sz="1000" dirty="0"/>
          </a:p>
        </p:txBody>
      </p:sp>
      <p:sp>
        <p:nvSpPr>
          <p:cNvPr id="9" name="Text 7"/>
          <p:cNvSpPr/>
          <p:nvPr/>
        </p:nvSpPr>
        <p:spPr>
          <a:xfrm>
            <a:off x="539496" y="1408176"/>
            <a:ext cx="2432304" cy="1115568"/>
          </a:xfrm>
          <a:prstGeom prst="rect">
            <a:avLst/>
          </a:prstGeom>
          <a:noFill/>
          <a:ln/>
        </p:spPr>
        <p:txBody>
          <a:bodyPr wrap="square" lIns="0" tIns="0" rIns="0" bIns="0" rtlCol="0" anchor="t"/>
          <a:lstStyle/>
          <a:p>
            <a:pPr indent="0" marL="0">
              <a:buNone/>
            </a:pPr>
            <a:r>
              <a:rPr lang="en-US" sz="900" dirty="0">
                <a:solidFill>
                  <a:srgbClr val="CCCCCC"/>
                </a:solidFill>
                <a:latin typeface="Calibri" pitchFamily="34" charset="0"/>
                <a:ea typeface="Calibri" pitchFamily="34" charset="-122"/>
                <a:cs typeface="Calibri" pitchFamily="34" charset="-120"/>
              </a:rPr>
              <a:t>Fluid low is the most common cause of reduced boost. Use correct fluid type. Check for leaks at hoses and accumulator.</a:t>
            </a:r>
            <a:endParaRPr lang="en-US" sz="900" dirty="0"/>
          </a:p>
        </p:txBody>
      </p:sp>
      <p:sp>
        <p:nvSpPr>
          <p:cNvPr id="10" name="Shape 8"/>
          <p:cNvSpPr/>
          <p:nvPr/>
        </p:nvSpPr>
        <p:spPr>
          <a:xfrm>
            <a:off x="3218688" y="1024128"/>
            <a:ext cx="2633472" cy="1609344"/>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11" name="Shape 9"/>
          <p:cNvSpPr/>
          <p:nvPr/>
        </p:nvSpPr>
        <p:spPr>
          <a:xfrm>
            <a:off x="3218688" y="1024128"/>
            <a:ext cx="54864" cy="1609344"/>
          </a:xfrm>
          <a:prstGeom prst="rect">
            <a:avLst/>
          </a:prstGeom>
          <a:solidFill>
            <a:srgbClr val="2A9D8F"/>
          </a:solidFill>
          <a:ln w="12700">
            <a:solidFill>
              <a:srgbClr val="2A9D8F"/>
            </a:solidFill>
            <a:prstDash val="solid"/>
          </a:ln>
        </p:spPr>
      </p:sp>
      <p:sp>
        <p:nvSpPr>
          <p:cNvPr id="12" name="Text 10"/>
          <p:cNvSpPr/>
          <p:nvPr/>
        </p:nvSpPr>
        <p:spPr>
          <a:xfrm>
            <a:off x="3346704" y="1115568"/>
            <a:ext cx="2432304" cy="256032"/>
          </a:xfrm>
          <a:prstGeom prst="rect">
            <a:avLst/>
          </a:prstGeom>
          <a:noFill/>
          <a:ln/>
        </p:spPr>
        <p:txBody>
          <a:bodyPr wrap="square" lIns="0" tIns="0" rIns="0" bIns="0" rtlCol="0" anchor="ctr"/>
          <a:lstStyle/>
          <a:p>
            <a:pPr indent="0" marL="0">
              <a:buNone/>
            </a:pPr>
            <a:r>
              <a:rPr lang="en-US" sz="1000" b="1" dirty="0">
                <a:solidFill>
                  <a:srgbClr val="2A9D8F"/>
                </a:solidFill>
                <a:latin typeface="Calibri" pitchFamily="34" charset="0"/>
                <a:ea typeface="Calibri" pitchFamily="34" charset="-122"/>
                <a:cs typeface="Calibri" pitchFamily="34" charset="-120"/>
              </a:rPr>
              <a:t>Check for Leaks</a:t>
            </a:r>
            <a:endParaRPr lang="en-US" sz="1000" dirty="0"/>
          </a:p>
        </p:txBody>
      </p:sp>
      <p:sp>
        <p:nvSpPr>
          <p:cNvPr id="13" name="Text 11"/>
          <p:cNvSpPr/>
          <p:nvPr/>
        </p:nvSpPr>
        <p:spPr>
          <a:xfrm>
            <a:off x="3346704" y="1408176"/>
            <a:ext cx="2432304" cy="1115568"/>
          </a:xfrm>
          <a:prstGeom prst="rect">
            <a:avLst/>
          </a:prstGeom>
          <a:noFill/>
          <a:ln/>
        </p:spPr>
        <p:txBody>
          <a:bodyPr wrap="square" lIns="0" tIns="0" rIns="0" bIns="0" rtlCol="0" anchor="t"/>
          <a:lstStyle/>
          <a:p>
            <a:pPr indent="0" marL="0">
              <a:buNone/>
            </a:pPr>
            <a:r>
              <a:rPr lang="en-US" sz="900" dirty="0">
                <a:solidFill>
                  <a:srgbClr val="CCCCCC"/>
                </a:solidFill>
                <a:latin typeface="Calibri" pitchFamily="34" charset="0"/>
                <a:ea typeface="Calibri" pitchFamily="34" charset="-122"/>
                <a:cs typeface="Calibri" pitchFamily="34" charset="-120"/>
              </a:rPr>
              <a:t>Inspect all hose connections, the booster body, and the accumulator for seepage. Even small leaks cause pressure loss.</a:t>
            </a:r>
            <a:endParaRPr lang="en-US" sz="900" dirty="0"/>
          </a:p>
        </p:txBody>
      </p:sp>
      <p:sp>
        <p:nvSpPr>
          <p:cNvPr id="14" name="Shape 12"/>
          <p:cNvSpPr/>
          <p:nvPr/>
        </p:nvSpPr>
        <p:spPr>
          <a:xfrm>
            <a:off x="6035040" y="1024128"/>
            <a:ext cx="2633472" cy="1609344"/>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15" name="Shape 13"/>
          <p:cNvSpPr/>
          <p:nvPr/>
        </p:nvSpPr>
        <p:spPr>
          <a:xfrm>
            <a:off x="6035040" y="1024128"/>
            <a:ext cx="54864" cy="1609344"/>
          </a:xfrm>
          <a:prstGeom prst="rect">
            <a:avLst/>
          </a:prstGeom>
          <a:solidFill>
            <a:srgbClr val="2A9D8F"/>
          </a:solidFill>
          <a:ln w="12700">
            <a:solidFill>
              <a:srgbClr val="2A9D8F"/>
            </a:solidFill>
            <a:prstDash val="solid"/>
          </a:ln>
        </p:spPr>
      </p:sp>
      <p:sp>
        <p:nvSpPr>
          <p:cNvPr id="16" name="Text 14"/>
          <p:cNvSpPr/>
          <p:nvPr/>
        </p:nvSpPr>
        <p:spPr>
          <a:xfrm>
            <a:off x="6163056" y="1115568"/>
            <a:ext cx="2432304" cy="256032"/>
          </a:xfrm>
          <a:prstGeom prst="rect">
            <a:avLst/>
          </a:prstGeom>
          <a:noFill/>
          <a:ln/>
        </p:spPr>
        <p:txBody>
          <a:bodyPr wrap="square" lIns="0" tIns="0" rIns="0" bIns="0" rtlCol="0" anchor="ctr"/>
          <a:lstStyle/>
          <a:p>
            <a:pPr indent="0" marL="0">
              <a:buNone/>
            </a:pPr>
            <a:r>
              <a:rPr lang="en-US" sz="1000" b="1" dirty="0">
                <a:solidFill>
                  <a:srgbClr val="2A9D8F"/>
                </a:solidFill>
                <a:latin typeface="Calibri" pitchFamily="34" charset="0"/>
                <a:ea typeface="Calibri" pitchFamily="34" charset="-122"/>
                <a:cs typeface="Calibri" pitchFamily="34" charset="-120"/>
              </a:rPr>
              <a:t>Check Power Steering Belt</a:t>
            </a:r>
            <a:endParaRPr lang="en-US" sz="1000" dirty="0"/>
          </a:p>
        </p:txBody>
      </p:sp>
      <p:sp>
        <p:nvSpPr>
          <p:cNvPr id="17" name="Text 15"/>
          <p:cNvSpPr/>
          <p:nvPr/>
        </p:nvSpPr>
        <p:spPr>
          <a:xfrm>
            <a:off x="6163056" y="1408176"/>
            <a:ext cx="2432304" cy="1115568"/>
          </a:xfrm>
          <a:prstGeom prst="rect">
            <a:avLst/>
          </a:prstGeom>
          <a:noFill/>
          <a:ln/>
        </p:spPr>
        <p:txBody>
          <a:bodyPr wrap="square" lIns="0" tIns="0" rIns="0" bIns="0" rtlCol="0" anchor="t"/>
          <a:lstStyle/>
          <a:p>
            <a:pPr indent="0" marL="0">
              <a:buNone/>
            </a:pPr>
            <a:r>
              <a:rPr lang="en-US" sz="900" dirty="0">
                <a:solidFill>
                  <a:srgbClr val="CCCCCC"/>
                </a:solidFill>
                <a:latin typeface="Calibri" pitchFamily="34" charset="0"/>
                <a:ea typeface="Calibri" pitchFamily="34" charset="-122"/>
                <a:cs typeface="Calibri" pitchFamily="34" charset="-120"/>
              </a:rPr>
              <a:t>A loose or slipping belt reduces pump output pressure. Verify belt condition and tension before further diagnosis.</a:t>
            </a:r>
            <a:endParaRPr lang="en-US" sz="900" dirty="0"/>
          </a:p>
        </p:txBody>
      </p:sp>
      <p:sp>
        <p:nvSpPr>
          <p:cNvPr id="18" name="Shape 16"/>
          <p:cNvSpPr/>
          <p:nvPr/>
        </p:nvSpPr>
        <p:spPr>
          <a:xfrm>
            <a:off x="411480" y="2779776"/>
            <a:ext cx="2633472" cy="1609344"/>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19" name="Shape 17"/>
          <p:cNvSpPr/>
          <p:nvPr/>
        </p:nvSpPr>
        <p:spPr>
          <a:xfrm>
            <a:off x="411480" y="2779776"/>
            <a:ext cx="54864" cy="1609344"/>
          </a:xfrm>
          <a:prstGeom prst="rect">
            <a:avLst/>
          </a:prstGeom>
          <a:solidFill>
            <a:srgbClr val="E9A825"/>
          </a:solidFill>
          <a:ln w="12700">
            <a:solidFill>
              <a:srgbClr val="E9A825"/>
            </a:solidFill>
            <a:prstDash val="solid"/>
          </a:ln>
        </p:spPr>
      </p:sp>
      <p:sp>
        <p:nvSpPr>
          <p:cNvPr id="20" name="Text 18"/>
          <p:cNvSpPr/>
          <p:nvPr/>
        </p:nvSpPr>
        <p:spPr>
          <a:xfrm>
            <a:off x="539496" y="2871216"/>
            <a:ext cx="2432304" cy="256032"/>
          </a:xfrm>
          <a:prstGeom prst="rect">
            <a:avLst/>
          </a:prstGeom>
          <a:noFill/>
          <a:ln/>
        </p:spPr>
        <p:txBody>
          <a:bodyPr wrap="square" lIns="0" tIns="0" rIns="0" bIns="0" rtlCol="0" anchor="ctr"/>
          <a:lstStyle/>
          <a:p>
            <a:pPr indent="0" marL="0">
              <a:buNone/>
            </a:pPr>
            <a:r>
              <a:rPr lang="en-US" sz="1000" b="1" dirty="0">
                <a:solidFill>
                  <a:srgbClr val="E9A825"/>
                </a:solidFill>
                <a:latin typeface="Calibri" pitchFamily="34" charset="0"/>
                <a:ea typeface="Calibri" pitchFamily="34" charset="-122"/>
                <a:cs typeface="Calibri" pitchFamily="34" charset="-120"/>
              </a:rPr>
              <a:t>Check Fluid Volume</a:t>
            </a:r>
            <a:endParaRPr lang="en-US" sz="1000" dirty="0"/>
          </a:p>
        </p:txBody>
      </p:sp>
      <p:sp>
        <p:nvSpPr>
          <p:cNvPr id="21" name="Text 19"/>
          <p:cNvSpPr/>
          <p:nvPr/>
        </p:nvSpPr>
        <p:spPr>
          <a:xfrm>
            <a:off x="539496" y="3163824"/>
            <a:ext cx="2432304" cy="1115568"/>
          </a:xfrm>
          <a:prstGeom prst="rect">
            <a:avLst/>
          </a:prstGeom>
          <a:noFill/>
          <a:ln/>
        </p:spPr>
        <p:txBody>
          <a:bodyPr wrap="square" lIns="0" tIns="0" rIns="0" bIns="0" rtlCol="0" anchor="t"/>
          <a:lstStyle/>
          <a:p>
            <a:pPr indent="0" marL="0">
              <a:buNone/>
            </a:pPr>
            <a:r>
              <a:rPr lang="en-US" sz="900" dirty="0">
                <a:solidFill>
                  <a:srgbClr val="CCCCCC"/>
                </a:solidFill>
                <a:latin typeface="Calibri" pitchFamily="34" charset="0"/>
                <a:ea typeface="Calibri" pitchFamily="34" charset="-122"/>
                <a:cs typeface="Calibri" pitchFamily="34" charset="-120"/>
              </a:rPr>
              <a:t>Recommended: 2 gallons with max 150 PSI available. Verify pump output pressure with a gauge if boost is still insufficient.</a:t>
            </a:r>
            <a:endParaRPr lang="en-US" sz="900" dirty="0"/>
          </a:p>
        </p:txBody>
      </p:sp>
      <p:sp>
        <p:nvSpPr>
          <p:cNvPr id="22" name="Shape 20"/>
          <p:cNvSpPr/>
          <p:nvPr/>
        </p:nvSpPr>
        <p:spPr>
          <a:xfrm>
            <a:off x="3218688" y="2779776"/>
            <a:ext cx="2633472" cy="1609344"/>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23" name="Shape 21"/>
          <p:cNvSpPr/>
          <p:nvPr/>
        </p:nvSpPr>
        <p:spPr>
          <a:xfrm>
            <a:off x="3218688" y="2779776"/>
            <a:ext cx="54864" cy="1609344"/>
          </a:xfrm>
          <a:prstGeom prst="rect">
            <a:avLst/>
          </a:prstGeom>
          <a:solidFill>
            <a:srgbClr val="E9A825"/>
          </a:solidFill>
          <a:ln w="12700">
            <a:solidFill>
              <a:srgbClr val="E9A825"/>
            </a:solidFill>
            <a:prstDash val="solid"/>
          </a:ln>
        </p:spPr>
      </p:sp>
      <p:sp>
        <p:nvSpPr>
          <p:cNvPr id="24" name="Text 22"/>
          <p:cNvSpPr/>
          <p:nvPr/>
        </p:nvSpPr>
        <p:spPr>
          <a:xfrm>
            <a:off x="3346704" y="2871216"/>
            <a:ext cx="2432304" cy="256032"/>
          </a:xfrm>
          <a:prstGeom prst="rect">
            <a:avLst/>
          </a:prstGeom>
          <a:noFill/>
          <a:ln/>
        </p:spPr>
        <p:txBody>
          <a:bodyPr wrap="square" lIns="0" tIns="0" rIns="0" bIns="0" rtlCol="0" anchor="ctr"/>
          <a:lstStyle/>
          <a:p>
            <a:pPr indent="0" marL="0">
              <a:buNone/>
            </a:pPr>
            <a:r>
              <a:rPr lang="en-US" sz="1000" b="1" dirty="0">
                <a:solidFill>
                  <a:srgbClr val="E9A825"/>
                </a:solidFill>
                <a:latin typeface="Calibri" pitchFamily="34" charset="0"/>
                <a:ea typeface="Calibri" pitchFamily="34" charset="-122"/>
                <a:cs typeface="Calibri" pitchFamily="34" charset="-120"/>
              </a:rPr>
              <a:t>Check Pump Pressure/Volume</a:t>
            </a:r>
            <a:endParaRPr lang="en-US" sz="1000" dirty="0"/>
          </a:p>
        </p:txBody>
      </p:sp>
      <p:sp>
        <p:nvSpPr>
          <p:cNvPr id="25" name="Text 23"/>
          <p:cNvSpPr/>
          <p:nvPr/>
        </p:nvSpPr>
        <p:spPr>
          <a:xfrm>
            <a:off x="3346704" y="3163824"/>
            <a:ext cx="2432304" cy="1115568"/>
          </a:xfrm>
          <a:prstGeom prst="rect">
            <a:avLst/>
          </a:prstGeom>
          <a:noFill/>
          <a:ln/>
        </p:spPr>
        <p:txBody>
          <a:bodyPr wrap="square" lIns="0" tIns="0" rIns="0" bIns="0" rtlCol="0" anchor="t"/>
          <a:lstStyle/>
          <a:p>
            <a:pPr indent="0" marL="0">
              <a:buNone/>
            </a:pPr>
            <a:r>
              <a:rPr lang="en-US" sz="900" dirty="0">
                <a:solidFill>
                  <a:srgbClr val="CCCCCC"/>
                </a:solidFill>
                <a:latin typeface="Calibri" pitchFamily="34" charset="0"/>
                <a:ea typeface="Calibri" pitchFamily="34" charset="-122"/>
                <a:cs typeface="Calibri" pitchFamily="34" charset="-120"/>
              </a:rPr>
              <a:t>Compare pump output to spec. Low pressure = worn pump. Low volume = restriction in lines or filter.</a:t>
            </a:r>
            <a:endParaRPr lang="en-US" sz="900" dirty="0"/>
          </a:p>
        </p:txBody>
      </p:sp>
      <p:sp>
        <p:nvSpPr>
          <p:cNvPr id="26" name="Shape 24"/>
          <p:cNvSpPr/>
          <p:nvPr/>
        </p:nvSpPr>
        <p:spPr>
          <a:xfrm>
            <a:off x="6035040" y="2779776"/>
            <a:ext cx="2633472" cy="1609344"/>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27" name="Shape 25"/>
          <p:cNvSpPr/>
          <p:nvPr/>
        </p:nvSpPr>
        <p:spPr>
          <a:xfrm>
            <a:off x="6035040" y="2779776"/>
            <a:ext cx="54864" cy="1609344"/>
          </a:xfrm>
          <a:prstGeom prst="rect">
            <a:avLst/>
          </a:prstGeom>
          <a:solidFill>
            <a:srgbClr val="2A9D8F"/>
          </a:solidFill>
          <a:ln w="12700">
            <a:solidFill>
              <a:srgbClr val="2A9D8F"/>
            </a:solidFill>
            <a:prstDash val="solid"/>
          </a:ln>
        </p:spPr>
      </p:sp>
      <p:sp>
        <p:nvSpPr>
          <p:cNvPr id="28" name="Text 26"/>
          <p:cNvSpPr/>
          <p:nvPr/>
        </p:nvSpPr>
        <p:spPr>
          <a:xfrm>
            <a:off x="6163056" y="2871216"/>
            <a:ext cx="2432304" cy="256032"/>
          </a:xfrm>
          <a:prstGeom prst="rect">
            <a:avLst/>
          </a:prstGeom>
          <a:noFill/>
          <a:ln/>
        </p:spPr>
        <p:txBody>
          <a:bodyPr wrap="square" lIns="0" tIns="0" rIns="0" bIns="0" rtlCol="0" anchor="ctr"/>
          <a:lstStyle/>
          <a:p>
            <a:pPr indent="0" marL="0">
              <a:buNone/>
            </a:pPr>
            <a:r>
              <a:rPr lang="en-US" sz="1000" b="1" dirty="0">
                <a:solidFill>
                  <a:srgbClr val="2A9D8F"/>
                </a:solidFill>
                <a:latin typeface="Calibri" pitchFamily="34" charset="0"/>
                <a:ea typeface="Calibri" pitchFamily="34" charset="-122"/>
                <a:cs typeface="Calibri" pitchFamily="34" charset="-120"/>
              </a:rPr>
              <a:t>Confirm Brake System Normal</a:t>
            </a:r>
            <a:endParaRPr lang="en-US" sz="1000" dirty="0"/>
          </a:p>
        </p:txBody>
      </p:sp>
      <p:sp>
        <p:nvSpPr>
          <p:cNvPr id="29" name="Text 27"/>
          <p:cNvSpPr/>
          <p:nvPr/>
        </p:nvSpPr>
        <p:spPr>
          <a:xfrm>
            <a:off x="6163056" y="3163824"/>
            <a:ext cx="2432304" cy="1115568"/>
          </a:xfrm>
          <a:prstGeom prst="rect">
            <a:avLst/>
          </a:prstGeom>
          <a:noFill/>
          <a:ln/>
        </p:spPr>
        <p:txBody>
          <a:bodyPr wrap="square" lIns="0" tIns="0" rIns="0" bIns="0" rtlCol="0" anchor="t"/>
          <a:lstStyle/>
          <a:p>
            <a:pPr indent="0" marL="0">
              <a:buNone/>
            </a:pPr>
            <a:r>
              <a:rPr lang="en-US" sz="900" dirty="0">
                <a:solidFill>
                  <a:srgbClr val="CCCCCC"/>
                </a:solidFill>
                <a:latin typeface="Calibri" pitchFamily="34" charset="0"/>
                <a:ea typeface="Calibri" pitchFamily="34" charset="-122"/>
                <a:cs typeface="Calibri" pitchFamily="34" charset="-120"/>
              </a:rPr>
              <a:t>After hydro-boost checks pass, verify brake system operates normally. Rule out master cylinder or caliper issues.</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2A9D8F"/>
          </a:solidFill>
          <a:ln w="12700">
            <a:solidFill>
              <a:srgbClr val="2A9D8F"/>
            </a:solidFill>
            <a:prstDash val="solid"/>
          </a:ln>
        </p:spPr>
      </p:sp>
      <p:sp>
        <p:nvSpPr>
          <p:cNvPr id="3" name="Shape 1"/>
          <p:cNvSpPr/>
          <p:nvPr/>
        </p:nvSpPr>
        <p:spPr>
          <a:xfrm>
            <a:off x="0" y="5052060"/>
            <a:ext cx="9144000" cy="91440"/>
          </a:xfrm>
          <a:prstGeom prst="rect">
            <a:avLst/>
          </a:prstGeom>
          <a:solidFill>
            <a:srgbClr val="2A9D8F"/>
          </a:solidFill>
          <a:ln w="12700">
            <a:solidFill>
              <a:srgbClr val="2A9D8F"/>
            </a:solidFill>
            <a:prstDash val="solid"/>
          </a:ln>
        </p:spPr>
      </p:sp>
      <p:sp>
        <p:nvSpPr>
          <p:cNvPr id="4" name="Shape 2"/>
          <p:cNvSpPr/>
          <p:nvPr/>
        </p:nvSpPr>
        <p:spPr>
          <a:xfrm>
            <a:off x="548640" y="1554480"/>
            <a:ext cx="91440" cy="1463040"/>
          </a:xfrm>
          <a:prstGeom prst="rect">
            <a:avLst/>
          </a:prstGeom>
          <a:solidFill>
            <a:srgbClr val="2A9D8F"/>
          </a:solidFill>
          <a:ln w="12700">
            <a:solidFill>
              <a:srgbClr val="2A9D8F"/>
            </a:solidFill>
            <a:prstDash val="solid"/>
          </a:ln>
        </p:spPr>
      </p:sp>
      <p:sp>
        <p:nvSpPr>
          <p:cNvPr id="5" name="Text 3"/>
          <p:cNvSpPr/>
          <p:nvPr/>
        </p:nvSpPr>
        <p:spPr>
          <a:xfrm>
            <a:off x="548640" y="1143000"/>
            <a:ext cx="8229600" cy="292608"/>
          </a:xfrm>
          <a:prstGeom prst="rect">
            <a:avLst/>
          </a:prstGeom>
          <a:noFill/>
          <a:ln/>
        </p:spPr>
        <p:txBody>
          <a:bodyPr wrap="square" lIns="0" tIns="0" rIns="0" bIns="0" rtlCol="0" anchor="ctr"/>
          <a:lstStyle/>
          <a:p>
            <a:pPr indent="0" marL="0">
              <a:buNone/>
            </a:pPr>
            <a:r>
              <a:rPr lang="en-US" sz="1000" b="1" spc="500" kern="0" dirty="0">
                <a:solidFill>
                  <a:srgbClr val="2A9D8F"/>
                </a:solidFill>
                <a:latin typeface="Calibri" pitchFamily="34" charset="0"/>
                <a:ea typeface="Calibri" pitchFamily="34" charset="-122"/>
                <a:cs typeface="Calibri" pitchFamily="34" charset="-120"/>
              </a:rPr>
              <a:t>SECTION 4</a:t>
            </a:r>
            <a:endParaRPr lang="en-US" sz="1000" dirty="0"/>
          </a:p>
        </p:txBody>
      </p:sp>
      <p:sp>
        <p:nvSpPr>
          <p:cNvPr id="6" name="Text 4"/>
          <p:cNvSpPr/>
          <p:nvPr/>
        </p:nvSpPr>
        <p:spPr>
          <a:xfrm>
            <a:off x="777240" y="1554480"/>
            <a:ext cx="7863840" cy="1463040"/>
          </a:xfrm>
          <a:prstGeom prst="rect">
            <a:avLst/>
          </a:prstGeom>
          <a:noFill/>
          <a:ln/>
        </p:spPr>
        <p:txBody>
          <a:bodyPr wrap="square" lIns="0" tIns="0" rIns="0" bIns="0" rtlCol="0" anchor="ctr"/>
          <a:lstStyle/>
          <a:p>
            <a:pPr indent="0" marL="0">
              <a:buNone/>
            </a:pPr>
            <a:r>
              <a:rPr lang="en-US" sz="5000" b="1" dirty="0">
                <a:solidFill>
                  <a:srgbClr val="FFFFFF"/>
                </a:solidFill>
                <a:latin typeface="Calibri" pitchFamily="34" charset="0"/>
                <a:ea typeface="Calibri" pitchFamily="34" charset="-122"/>
                <a:cs typeface="Calibri" pitchFamily="34" charset="-120"/>
              </a:rPr>
              <a:t>Electronic Boosters</a:t>
            </a:r>
            <a:endParaRPr lang="en-US" sz="5000" dirty="0"/>
          </a:p>
        </p:txBody>
      </p:sp>
      <p:sp>
        <p:nvSpPr>
          <p:cNvPr id="7" name="Text 5"/>
          <p:cNvSpPr/>
          <p:nvPr/>
        </p:nvSpPr>
        <p:spPr>
          <a:xfrm>
            <a:off x="777240" y="3154680"/>
            <a:ext cx="7863840" cy="347472"/>
          </a:xfrm>
          <a:prstGeom prst="rect">
            <a:avLst/>
          </a:prstGeom>
          <a:noFill/>
          <a:ln/>
        </p:spPr>
        <p:txBody>
          <a:bodyPr wrap="square" lIns="0" tIns="0" rIns="0" bIns="0" rtlCol="0" anchor="ctr"/>
          <a:lstStyle/>
          <a:p>
            <a:pPr indent="0" marL="0">
              <a:buNone/>
            </a:pPr>
            <a:r>
              <a:rPr lang="en-US" sz="1400" dirty="0">
                <a:solidFill>
                  <a:srgbClr val="CCCCCC"/>
                </a:solidFill>
                <a:latin typeface="Calibri" pitchFamily="34" charset="0"/>
                <a:ea typeface="Calibri" pitchFamily="34" charset="-122"/>
                <a:cs typeface="Calibri" pitchFamily="34" charset="-120"/>
              </a:rPr>
              <a:t>EVs  ·  Full hybrids  ·  GDI engines  ·  Turbocharged platforms</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2A9D8F"/>
          </a:solidFill>
          <a:ln w="12700">
            <a:solidFill>
              <a:srgbClr val="2A9D8F"/>
            </a:solidFill>
            <a:prstDash val="solid"/>
          </a:ln>
        </p:spPr>
      </p:sp>
      <p:sp>
        <p:nvSpPr>
          <p:cNvPr id="3" name="Shape 1"/>
          <p:cNvSpPr/>
          <p:nvPr/>
        </p:nvSpPr>
        <p:spPr>
          <a:xfrm>
            <a:off x="0" y="5079492"/>
            <a:ext cx="9144000" cy="64008"/>
          </a:xfrm>
          <a:prstGeom prst="rect">
            <a:avLst/>
          </a:prstGeom>
          <a:solidFill>
            <a:srgbClr val="2A9D8F"/>
          </a:solidFill>
          <a:ln w="12700">
            <a:solidFill>
              <a:srgbClr val="2A9D8F"/>
            </a:solidFill>
            <a:prstDash val="solid"/>
          </a:ln>
        </p:spPr>
      </p:sp>
      <p:sp>
        <p:nvSpPr>
          <p:cNvPr id="4" name="Text 2"/>
          <p:cNvSpPr/>
          <p:nvPr/>
        </p:nvSpPr>
        <p:spPr>
          <a:xfrm>
            <a:off x="457200" y="118872"/>
            <a:ext cx="8229600" cy="201168"/>
          </a:xfrm>
          <a:prstGeom prst="rect">
            <a:avLst/>
          </a:prstGeom>
          <a:noFill/>
          <a:ln/>
        </p:spPr>
        <p:txBody>
          <a:bodyPr wrap="square" lIns="0" tIns="0" rIns="0" bIns="0" rtlCol="0" anchor="ctr"/>
          <a:lstStyle/>
          <a:p>
            <a:pPr indent="0" marL="0">
              <a:buNone/>
            </a:pPr>
            <a:r>
              <a:rPr lang="en-US" sz="800" b="1" spc="400" kern="0" dirty="0">
                <a:solidFill>
                  <a:srgbClr val="2A9D8F"/>
                </a:solidFill>
                <a:latin typeface="Calibri" pitchFamily="34" charset="0"/>
                <a:ea typeface="Calibri" pitchFamily="34" charset="-122"/>
                <a:cs typeface="Calibri" pitchFamily="34" charset="-120"/>
              </a:rPr>
              <a:t>ELECTRONIC BOOSTERS</a:t>
            </a:r>
            <a:endParaRPr lang="en-US" sz="800" dirty="0"/>
          </a:p>
        </p:txBody>
      </p:sp>
      <p:sp>
        <p:nvSpPr>
          <p:cNvPr id="5" name="Text 3"/>
          <p:cNvSpPr/>
          <p:nvPr/>
        </p:nvSpPr>
        <p:spPr>
          <a:xfrm>
            <a:off x="457200" y="384048"/>
            <a:ext cx="8229600" cy="530352"/>
          </a:xfrm>
          <a:prstGeom prst="rect">
            <a:avLst/>
          </a:prstGeom>
          <a:noFill/>
          <a:ln/>
        </p:spPr>
        <p:txBody>
          <a:bodyPr wrap="square" lIns="0" tIns="0" rIns="0" bIns="0" rtlCol="0" anchor="ctr"/>
          <a:lstStyle/>
          <a:p>
            <a:pPr indent="0" marL="0">
              <a:buNone/>
            </a:pPr>
            <a:r>
              <a:rPr lang="en-US" sz="2800" b="1" dirty="0">
                <a:solidFill>
                  <a:srgbClr val="2A9D8F"/>
                </a:solidFill>
                <a:latin typeface="Calibri" pitchFamily="34" charset="0"/>
                <a:ea typeface="Calibri" pitchFamily="34" charset="-122"/>
                <a:cs typeface="Calibri" pitchFamily="34" charset="-120"/>
              </a:rPr>
              <a:t>Why Electronic? No Engine Vacuum Available</a:t>
            </a:r>
            <a:endParaRPr lang="en-US" sz="2800" dirty="0"/>
          </a:p>
        </p:txBody>
      </p:sp>
      <p:sp>
        <p:nvSpPr>
          <p:cNvPr id="6" name="Text 4"/>
          <p:cNvSpPr/>
          <p:nvPr/>
        </p:nvSpPr>
        <p:spPr>
          <a:xfrm>
            <a:off x="457200" y="987552"/>
            <a:ext cx="8229600" cy="237744"/>
          </a:xfrm>
          <a:prstGeom prst="rect">
            <a:avLst/>
          </a:prstGeom>
          <a:noFill/>
          <a:ln/>
        </p:spPr>
        <p:txBody>
          <a:bodyPr wrap="square" lIns="0" tIns="0" rIns="0" bIns="0" rtlCol="0" anchor="ctr"/>
          <a:lstStyle/>
          <a:p>
            <a:pPr indent="0" marL="0">
              <a:buNone/>
            </a:pPr>
            <a:r>
              <a:rPr lang="en-US" sz="1000" i="1" dirty="0">
                <a:solidFill>
                  <a:srgbClr val="888888"/>
                </a:solidFill>
                <a:latin typeface="Calibri" pitchFamily="34" charset="0"/>
                <a:ea typeface="Calibri" pitchFamily="34" charset="-122"/>
                <a:cs typeface="Calibri" pitchFamily="34" charset="-120"/>
              </a:rPr>
              <a:t>Traditional vacuum boosters require 15–18 in. Hg. These platforms cannot reliably supply it:</a:t>
            </a:r>
            <a:endParaRPr lang="en-US" sz="1000" dirty="0"/>
          </a:p>
        </p:txBody>
      </p:sp>
      <p:sp>
        <p:nvSpPr>
          <p:cNvPr id="7" name="Shape 5"/>
          <p:cNvSpPr/>
          <p:nvPr/>
        </p:nvSpPr>
        <p:spPr>
          <a:xfrm>
            <a:off x="411480" y="1316736"/>
            <a:ext cx="4206240" cy="1554480"/>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8" name="Shape 6"/>
          <p:cNvSpPr/>
          <p:nvPr/>
        </p:nvSpPr>
        <p:spPr>
          <a:xfrm>
            <a:off x="411480" y="1316736"/>
            <a:ext cx="54864" cy="1554480"/>
          </a:xfrm>
          <a:prstGeom prst="rect">
            <a:avLst/>
          </a:prstGeom>
          <a:solidFill>
            <a:srgbClr val="2A9D8F"/>
          </a:solidFill>
          <a:ln w="12700">
            <a:solidFill>
              <a:srgbClr val="2A9D8F"/>
            </a:solidFill>
            <a:prstDash val="solid"/>
          </a:ln>
        </p:spPr>
      </p:sp>
      <p:sp>
        <p:nvSpPr>
          <p:cNvPr id="9" name="Text 7"/>
          <p:cNvSpPr/>
          <p:nvPr/>
        </p:nvSpPr>
        <p:spPr>
          <a:xfrm>
            <a:off x="539496" y="1408176"/>
            <a:ext cx="4005072" cy="256032"/>
          </a:xfrm>
          <a:prstGeom prst="rect">
            <a:avLst/>
          </a:prstGeom>
          <a:noFill/>
          <a:ln/>
        </p:spPr>
        <p:txBody>
          <a:bodyPr wrap="square" lIns="0" tIns="0" rIns="0" bIns="0" rtlCol="0" anchor="ctr"/>
          <a:lstStyle/>
          <a:p>
            <a:pPr indent="0" marL="0">
              <a:buNone/>
            </a:pPr>
            <a:r>
              <a:rPr lang="en-US" sz="1100" b="1" dirty="0">
                <a:solidFill>
                  <a:srgbClr val="2A9D8F"/>
                </a:solidFill>
                <a:latin typeface="Calibri" pitchFamily="34" charset="0"/>
                <a:ea typeface="Calibri" pitchFamily="34" charset="-122"/>
                <a:cs typeface="Calibri" pitchFamily="34" charset="-120"/>
              </a:rPr>
              <a:t>Electric Vehicles (BEV)</a:t>
            </a:r>
            <a:endParaRPr lang="en-US" sz="1100" dirty="0"/>
          </a:p>
        </p:txBody>
      </p:sp>
      <p:sp>
        <p:nvSpPr>
          <p:cNvPr id="10" name="Text 8"/>
          <p:cNvSpPr/>
          <p:nvPr/>
        </p:nvSpPr>
        <p:spPr>
          <a:xfrm>
            <a:off x="539496" y="1700784"/>
            <a:ext cx="4005072" cy="1060704"/>
          </a:xfrm>
          <a:prstGeom prst="rect">
            <a:avLst/>
          </a:prstGeom>
          <a:noFill/>
          <a:ln/>
        </p:spPr>
        <p:txBody>
          <a:bodyPr wrap="square" lIns="0" tIns="0" rIns="0" bIns="0" rtlCol="0" anchor="t"/>
          <a:lstStyle/>
          <a:p>
            <a:pPr indent="0" marL="0">
              <a:buNone/>
            </a:pPr>
            <a:r>
              <a:rPr lang="en-US" sz="1000" dirty="0">
                <a:solidFill>
                  <a:srgbClr val="CCCCCC"/>
                </a:solidFill>
                <a:latin typeface="Calibri" pitchFamily="34" charset="0"/>
                <a:ea typeface="Calibri" pitchFamily="34" charset="-122"/>
                <a:cs typeface="Calibri" pitchFamily="34" charset="-120"/>
              </a:rPr>
              <a:t>No combustion engine = zero intake manifold vacuum. A fully electric booster or electric vacuum pump is the only option.</a:t>
            </a:r>
            <a:endParaRPr lang="en-US" sz="1000" dirty="0"/>
          </a:p>
        </p:txBody>
      </p:sp>
      <p:sp>
        <p:nvSpPr>
          <p:cNvPr id="11" name="Shape 9"/>
          <p:cNvSpPr/>
          <p:nvPr/>
        </p:nvSpPr>
        <p:spPr>
          <a:xfrm>
            <a:off x="4800600" y="1316736"/>
            <a:ext cx="4206240" cy="1554480"/>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12" name="Shape 10"/>
          <p:cNvSpPr/>
          <p:nvPr/>
        </p:nvSpPr>
        <p:spPr>
          <a:xfrm>
            <a:off x="4800600" y="1316736"/>
            <a:ext cx="54864" cy="1554480"/>
          </a:xfrm>
          <a:prstGeom prst="rect">
            <a:avLst/>
          </a:prstGeom>
          <a:solidFill>
            <a:srgbClr val="E9A825"/>
          </a:solidFill>
          <a:ln w="12700">
            <a:solidFill>
              <a:srgbClr val="E9A825"/>
            </a:solidFill>
            <a:prstDash val="solid"/>
          </a:ln>
        </p:spPr>
      </p:sp>
      <p:sp>
        <p:nvSpPr>
          <p:cNvPr id="13" name="Text 11"/>
          <p:cNvSpPr/>
          <p:nvPr/>
        </p:nvSpPr>
        <p:spPr>
          <a:xfrm>
            <a:off x="4928616" y="1408176"/>
            <a:ext cx="4005072" cy="256032"/>
          </a:xfrm>
          <a:prstGeom prst="rect">
            <a:avLst/>
          </a:prstGeom>
          <a:noFill/>
          <a:ln/>
        </p:spPr>
        <p:txBody>
          <a:bodyPr wrap="square" lIns="0" tIns="0" rIns="0" bIns="0" rtlCol="0" anchor="ctr"/>
          <a:lstStyle/>
          <a:p>
            <a:pPr indent="0" marL="0">
              <a:buNone/>
            </a:pPr>
            <a:r>
              <a:rPr lang="en-US" sz="1100" b="1" dirty="0">
                <a:solidFill>
                  <a:srgbClr val="E9A825"/>
                </a:solidFill>
                <a:latin typeface="Calibri" pitchFamily="34" charset="0"/>
                <a:ea typeface="Calibri" pitchFamily="34" charset="-122"/>
                <a:cs typeface="Calibri" pitchFamily="34" charset="-120"/>
              </a:rPr>
              <a:t>Full Hybrid (at High SOC)</a:t>
            </a:r>
            <a:endParaRPr lang="en-US" sz="1100" dirty="0"/>
          </a:p>
        </p:txBody>
      </p:sp>
      <p:sp>
        <p:nvSpPr>
          <p:cNvPr id="14" name="Text 12"/>
          <p:cNvSpPr/>
          <p:nvPr/>
        </p:nvSpPr>
        <p:spPr>
          <a:xfrm>
            <a:off x="4928616" y="1700784"/>
            <a:ext cx="4005072" cy="1060704"/>
          </a:xfrm>
          <a:prstGeom prst="rect">
            <a:avLst/>
          </a:prstGeom>
          <a:noFill/>
          <a:ln/>
        </p:spPr>
        <p:txBody>
          <a:bodyPr wrap="square" lIns="0" tIns="0" rIns="0" bIns="0" rtlCol="0" anchor="t"/>
          <a:lstStyle/>
          <a:p>
            <a:pPr indent="0" marL="0">
              <a:buNone/>
            </a:pPr>
            <a:r>
              <a:rPr lang="en-US" sz="1000" dirty="0">
                <a:solidFill>
                  <a:srgbClr val="CCCCCC"/>
                </a:solidFill>
                <a:latin typeface="Calibri" pitchFamily="34" charset="0"/>
                <a:ea typeface="Calibri" pitchFamily="34" charset="-122"/>
                <a:cs typeface="Calibri" pitchFamily="34" charset="-120"/>
              </a:rPr>
              <a:t>Engine runs only when needed. When the engine is off, there is no vacuum — the booster must generate or store its own reserve.</a:t>
            </a:r>
            <a:endParaRPr lang="en-US" sz="1000" dirty="0"/>
          </a:p>
        </p:txBody>
      </p:sp>
      <p:sp>
        <p:nvSpPr>
          <p:cNvPr id="15" name="Shape 13"/>
          <p:cNvSpPr/>
          <p:nvPr/>
        </p:nvSpPr>
        <p:spPr>
          <a:xfrm>
            <a:off x="411480" y="3017520"/>
            <a:ext cx="4206240" cy="1554480"/>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16" name="Shape 14"/>
          <p:cNvSpPr/>
          <p:nvPr/>
        </p:nvSpPr>
        <p:spPr>
          <a:xfrm>
            <a:off x="411480" y="3017520"/>
            <a:ext cx="54864" cy="1554480"/>
          </a:xfrm>
          <a:prstGeom prst="rect">
            <a:avLst/>
          </a:prstGeom>
          <a:solidFill>
            <a:srgbClr val="2A9D8F"/>
          </a:solidFill>
          <a:ln w="12700">
            <a:solidFill>
              <a:srgbClr val="2A9D8F"/>
            </a:solidFill>
            <a:prstDash val="solid"/>
          </a:ln>
        </p:spPr>
      </p:sp>
      <p:sp>
        <p:nvSpPr>
          <p:cNvPr id="17" name="Text 15"/>
          <p:cNvSpPr/>
          <p:nvPr/>
        </p:nvSpPr>
        <p:spPr>
          <a:xfrm>
            <a:off x="539496" y="3108960"/>
            <a:ext cx="4005072" cy="256032"/>
          </a:xfrm>
          <a:prstGeom prst="rect">
            <a:avLst/>
          </a:prstGeom>
          <a:noFill/>
          <a:ln/>
        </p:spPr>
        <p:txBody>
          <a:bodyPr wrap="square" lIns="0" tIns="0" rIns="0" bIns="0" rtlCol="0" anchor="ctr"/>
          <a:lstStyle/>
          <a:p>
            <a:pPr indent="0" marL="0">
              <a:buNone/>
            </a:pPr>
            <a:r>
              <a:rPr lang="en-US" sz="1100" b="1" dirty="0">
                <a:solidFill>
                  <a:srgbClr val="2A9D8F"/>
                </a:solidFill>
                <a:latin typeface="Calibri" pitchFamily="34" charset="0"/>
                <a:ea typeface="Calibri" pitchFamily="34" charset="-122"/>
                <a:cs typeface="Calibri" pitchFamily="34" charset="-120"/>
              </a:rPr>
              <a:t>GDI Engines</a:t>
            </a:r>
            <a:endParaRPr lang="en-US" sz="1100" dirty="0"/>
          </a:p>
        </p:txBody>
      </p:sp>
      <p:sp>
        <p:nvSpPr>
          <p:cNvPr id="18" name="Text 16"/>
          <p:cNvSpPr/>
          <p:nvPr/>
        </p:nvSpPr>
        <p:spPr>
          <a:xfrm>
            <a:off x="539496" y="3401568"/>
            <a:ext cx="4005072" cy="1060704"/>
          </a:xfrm>
          <a:prstGeom prst="rect">
            <a:avLst/>
          </a:prstGeom>
          <a:noFill/>
          <a:ln/>
        </p:spPr>
        <p:txBody>
          <a:bodyPr wrap="square" lIns="0" tIns="0" rIns="0" bIns="0" rtlCol="0" anchor="t"/>
          <a:lstStyle/>
          <a:p>
            <a:pPr indent="0" marL="0">
              <a:buNone/>
            </a:pPr>
            <a:r>
              <a:rPr lang="en-US" sz="1000" dirty="0">
                <a:solidFill>
                  <a:srgbClr val="CCCCCC"/>
                </a:solidFill>
                <a:latin typeface="Calibri" pitchFamily="34" charset="0"/>
                <a:ea typeface="Calibri" pitchFamily="34" charset="-122"/>
                <a:cs typeface="Calibri" pitchFamily="34" charset="-120"/>
              </a:rPr>
              <a:t>Gasoline Direct Injection engines have low intake restriction at many operating conditions. Vacuum can be marginal or inconsistent.</a:t>
            </a:r>
            <a:endParaRPr lang="en-US" sz="1000" dirty="0"/>
          </a:p>
        </p:txBody>
      </p:sp>
      <p:sp>
        <p:nvSpPr>
          <p:cNvPr id="19" name="Shape 17"/>
          <p:cNvSpPr/>
          <p:nvPr/>
        </p:nvSpPr>
        <p:spPr>
          <a:xfrm>
            <a:off x="4800600" y="3017520"/>
            <a:ext cx="4206240" cy="1554480"/>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20" name="Shape 18"/>
          <p:cNvSpPr/>
          <p:nvPr/>
        </p:nvSpPr>
        <p:spPr>
          <a:xfrm>
            <a:off x="4800600" y="3017520"/>
            <a:ext cx="54864" cy="1554480"/>
          </a:xfrm>
          <a:prstGeom prst="rect">
            <a:avLst/>
          </a:prstGeom>
          <a:solidFill>
            <a:srgbClr val="E9A825"/>
          </a:solidFill>
          <a:ln w="12700">
            <a:solidFill>
              <a:srgbClr val="E9A825"/>
            </a:solidFill>
            <a:prstDash val="solid"/>
          </a:ln>
        </p:spPr>
      </p:sp>
      <p:sp>
        <p:nvSpPr>
          <p:cNvPr id="21" name="Text 19"/>
          <p:cNvSpPr/>
          <p:nvPr/>
        </p:nvSpPr>
        <p:spPr>
          <a:xfrm>
            <a:off x="4928616" y="3108960"/>
            <a:ext cx="4005072" cy="256032"/>
          </a:xfrm>
          <a:prstGeom prst="rect">
            <a:avLst/>
          </a:prstGeom>
          <a:noFill/>
          <a:ln/>
        </p:spPr>
        <p:txBody>
          <a:bodyPr wrap="square" lIns="0" tIns="0" rIns="0" bIns="0" rtlCol="0" anchor="ctr"/>
          <a:lstStyle/>
          <a:p>
            <a:pPr indent="0" marL="0">
              <a:buNone/>
            </a:pPr>
            <a:r>
              <a:rPr lang="en-US" sz="1100" b="1" dirty="0">
                <a:solidFill>
                  <a:srgbClr val="E9A825"/>
                </a:solidFill>
                <a:latin typeface="Calibri" pitchFamily="34" charset="0"/>
                <a:ea typeface="Calibri" pitchFamily="34" charset="-122"/>
                <a:cs typeface="Calibri" pitchFamily="34" charset="-120"/>
              </a:rPr>
              <a:t>Turbocharged Engines</a:t>
            </a:r>
            <a:endParaRPr lang="en-US" sz="1100" dirty="0"/>
          </a:p>
        </p:txBody>
      </p:sp>
      <p:sp>
        <p:nvSpPr>
          <p:cNvPr id="22" name="Text 20"/>
          <p:cNvSpPr/>
          <p:nvPr/>
        </p:nvSpPr>
        <p:spPr>
          <a:xfrm>
            <a:off x="4928616" y="3401568"/>
            <a:ext cx="4005072" cy="1060704"/>
          </a:xfrm>
          <a:prstGeom prst="rect">
            <a:avLst/>
          </a:prstGeom>
          <a:noFill/>
          <a:ln/>
        </p:spPr>
        <p:txBody>
          <a:bodyPr wrap="square" lIns="0" tIns="0" rIns="0" bIns="0" rtlCol="0" anchor="t"/>
          <a:lstStyle/>
          <a:p>
            <a:pPr indent="0" marL="0">
              <a:buNone/>
            </a:pPr>
            <a:r>
              <a:rPr lang="en-US" sz="1000" dirty="0">
                <a:solidFill>
                  <a:srgbClr val="CCCCCC"/>
                </a:solidFill>
                <a:latin typeface="Calibri" pitchFamily="34" charset="0"/>
                <a:ea typeface="Calibri" pitchFamily="34" charset="-122"/>
                <a:cs typeface="Calibri" pitchFamily="34" charset="-120"/>
              </a:rPr>
              <a:t>Turbocharger pressurizes the intake manifold above atmospheric. No vacuum — positive pressure. Requires a dedicated vacuum pump.</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2A9D8F"/>
          </a:solidFill>
          <a:ln w="12700">
            <a:solidFill>
              <a:srgbClr val="2A9D8F"/>
            </a:solidFill>
            <a:prstDash val="solid"/>
          </a:ln>
        </p:spPr>
      </p:sp>
      <p:sp>
        <p:nvSpPr>
          <p:cNvPr id="3" name="Shape 1"/>
          <p:cNvSpPr/>
          <p:nvPr/>
        </p:nvSpPr>
        <p:spPr>
          <a:xfrm>
            <a:off x="0" y="5079492"/>
            <a:ext cx="9144000" cy="64008"/>
          </a:xfrm>
          <a:prstGeom prst="rect">
            <a:avLst/>
          </a:prstGeom>
          <a:solidFill>
            <a:srgbClr val="2A9D8F"/>
          </a:solidFill>
          <a:ln w="12700">
            <a:solidFill>
              <a:srgbClr val="2A9D8F"/>
            </a:solidFill>
            <a:prstDash val="solid"/>
          </a:ln>
        </p:spPr>
      </p:sp>
      <p:sp>
        <p:nvSpPr>
          <p:cNvPr id="4" name="Text 2"/>
          <p:cNvSpPr/>
          <p:nvPr/>
        </p:nvSpPr>
        <p:spPr>
          <a:xfrm>
            <a:off x="457200" y="118872"/>
            <a:ext cx="8229600" cy="201168"/>
          </a:xfrm>
          <a:prstGeom prst="rect">
            <a:avLst/>
          </a:prstGeom>
          <a:noFill/>
          <a:ln/>
        </p:spPr>
        <p:txBody>
          <a:bodyPr wrap="square" lIns="0" tIns="0" rIns="0" bIns="0" rtlCol="0" anchor="ctr"/>
          <a:lstStyle/>
          <a:p>
            <a:pPr indent="0" marL="0">
              <a:buNone/>
            </a:pPr>
            <a:r>
              <a:rPr lang="en-US" sz="800" b="1" spc="400" kern="0" dirty="0">
                <a:solidFill>
                  <a:srgbClr val="2A9D8F"/>
                </a:solidFill>
                <a:latin typeface="Calibri" pitchFamily="34" charset="0"/>
                <a:ea typeface="Calibri" pitchFamily="34" charset="-122"/>
                <a:cs typeface="Calibri" pitchFamily="34" charset="-120"/>
              </a:rPr>
              <a:t>ELECTRONIC BOOSTERS</a:t>
            </a:r>
            <a:endParaRPr lang="en-US" sz="800" dirty="0"/>
          </a:p>
        </p:txBody>
      </p:sp>
      <p:sp>
        <p:nvSpPr>
          <p:cNvPr id="5" name="Text 3"/>
          <p:cNvSpPr/>
          <p:nvPr/>
        </p:nvSpPr>
        <p:spPr>
          <a:xfrm>
            <a:off x="457200" y="384048"/>
            <a:ext cx="8229600" cy="530352"/>
          </a:xfrm>
          <a:prstGeom prst="rect">
            <a:avLst/>
          </a:prstGeom>
          <a:noFill/>
          <a:ln/>
        </p:spPr>
        <p:txBody>
          <a:bodyPr wrap="square" lIns="0" tIns="0" rIns="0" bIns="0" rtlCol="0" anchor="ctr"/>
          <a:lstStyle/>
          <a:p>
            <a:pPr indent="0" marL="0">
              <a:buNone/>
            </a:pPr>
            <a:r>
              <a:rPr lang="en-US" sz="2800" b="1" dirty="0">
                <a:solidFill>
                  <a:srgbClr val="2A9D8F"/>
                </a:solidFill>
                <a:latin typeface="Calibri" pitchFamily="34" charset="0"/>
                <a:ea typeface="Calibri" pitchFamily="34" charset="-122"/>
                <a:cs typeface="Calibri" pitchFamily="34" charset="-120"/>
              </a:rPr>
              <a:t>Types of Electronic Brake Boosters</a:t>
            </a:r>
            <a:endParaRPr lang="en-US" sz="2800" dirty="0"/>
          </a:p>
        </p:txBody>
      </p:sp>
      <p:sp>
        <p:nvSpPr>
          <p:cNvPr id="6" name="Shape 4"/>
          <p:cNvSpPr/>
          <p:nvPr/>
        </p:nvSpPr>
        <p:spPr>
          <a:xfrm>
            <a:off x="411480" y="1005840"/>
            <a:ext cx="2743200" cy="3840480"/>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7" name="Shape 5"/>
          <p:cNvSpPr/>
          <p:nvPr/>
        </p:nvSpPr>
        <p:spPr>
          <a:xfrm>
            <a:off x="411480" y="1005840"/>
            <a:ext cx="2743200" cy="73152"/>
          </a:xfrm>
          <a:prstGeom prst="rect">
            <a:avLst/>
          </a:prstGeom>
          <a:solidFill>
            <a:srgbClr val="2A9D8F"/>
          </a:solidFill>
          <a:ln w="12700">
            <a:solidFill>
              <a:srgbClr val="2A9D8F"/>
            </a:solidFill>
            <a:prstDash val="solid"/>
          </a:ln>
        </p:spPr>
      </p:sp>
      <p:sp>
        <p:nvSpPr>
          <p:cNvPr id="8" name="Text 6"/>
          <p:cNvSpPr/>
          <p:nvPr/>
        </p:nvSpPr>
        <p:spPr>
          <a:xfrm>
            <a:off x="539496" y="1097280"/>
            <a:ext cx="2468880" cy="292608"/>
          </a:xfrm>
          <a:prstGeom prst="rect">
            <a:avLst/>
          </a:prstGeom>
          <a:noFill/>
          <a:ln/>
        </p:spPr>
        <p:txBody>
          <a:bodyPr wrap="square" lIns="0" tIns="0" rIns="0" bIns="0" rtlCol="0" anchor="ctr"/>
          <a:lstStyle/>
          <a:p>
            <a:pPr indent="0" marL="0">
              <a:buNone/>
            </a:pPr>
            <a:r>
              <a:rPr lang="en-US" sz="1200" b="1" dirty="0">
                <a:solidFill>
                  <a:srgbClr val="2A9D8F"/>
                </a:solidFill>
                <a:latin typeface="Calibri" pitchFamily="34" charset="0"/>
                <a:ea typeface="Calibri" pitchFamily="34" charset="-122"/>
                <a:cs typeface="Calibri" pitchFamily="34" charset="-120"/>
              </a:rPr>
              <a:t>Electric Vacuum Pump</a:t>
            </a:r>
            <a:endParaRPr lang="en-US" sz="1200" dirty="0"/>
          </a:p>
        </p:txBody>
      </p:sp>
      <p:sp>
        <p:nvSpPr>
          <p:cNvPr id="9" name="Text 7"/>
          <p:cNvSpPr/>
          <p:nvPr/>
        </p:nvSpPr>
        <p:spPr>
          <a:xfrm>
            <a:off x="539496" y="1481328"/>
            <a:ext cx="2468880" cy="182880"/>
          </a:xfrm>
          <a:prstGeom prst="rect">
            <a:avLst/>
          </a:prstGeom>
          <a:noFill/>
          <a:ln/>
        </p:spPr>
        <p:txBody>
          <a:bodyPr wrap="square" lIns="0" tIns="0" rIns="0" bIns="0" rtlCol="0" anchor="ctr"/>
          <a:lstStyle/>
          <a:p>
            <a:pPr indent="0" marL="0">
              <a:buNone/>
            </a:pPr>
            <a:r>
              <a:rPr lang="en-US" sz="800" b="1" spc="200" kern="0" dirty="0">
                <a:solidFill>
                  <a:srgbClr val="888888"/>
                </a:solidFill>
                <a:latin typeface="Calibri" pitchFamily="34" charset="0"/>
                <a:ea typeface="Calibri" pitchFamily="34" charset="-122"/>
                <a:cs typeface="Calibri" pitchFamily="34" charset="-120"/>
              </a:rPr>
              <a:t>HOW IT WORKS</a:t>
            </a:r>
            <a:endParaRPr lang="en-US" sz="800" dirty="0"/>
          </a:p>
        </p:txBody>
      </p:sp>
      <p:sp>
        <p:nvSpPr>
          <p:cNvPr id="10" name="Text 8"/>
          <p:cNvSpPr/>
          <p:nvPr/>
        </p:nvSpPr>
        <p:spPr>
          <a:xfrm>
            <a:off x="539496" y="1682496"/>
            <a:ext cx="2468880" cy="1353312"/>
          </a:xfrm>
          <a:prstGeom prst="rect">
            <a:avLst/>
          </a:prstGeom>
          <a:noFill/>
          <a:ln/>
        </p:spPr>
        <p:txBody>
          <a:bodyPr wrap="square" lIns="0" tIns="0" rIns="0" bIns="0" rtlCol="0" anchor="t"/>
          <a:lstStyle/>
          <a:p>
            <a:pPr indent="0" marL="0">
              <a:buNone/>
            </a:pPr>
            <a:r>
              <a:rPr lang="en-US" sz="950" dirty="0">
                <a:solidFill>
                  <a:srgbClr val="CCCCCC"/>
                </a:solidFill>
                <a:latin typeface="Calibri" pitchFamily="34" charset="0"/>
                <a:ea typeface="Calibri" pitchFamily="34" charset="-122"/>
                <a:cs typeface="Calibri" pitchFamily="34" charset="-120"/>
              </a:rPr>
              <a:t>A small electric motor drives a vane or diaphragm pump to generate vacuum. The booster itself is still vacuum-operated — same diagnosis approach.</a:t>
            </a:r>
            <a:endParaRPr lang="en-US" sz="950" dirty="0"/>
          </a:p>
        </p:txBody>
      </p:sp>
      <p:sp>
        <p:nvSpPr>
          <p:cNvPr id="11" name="Text 9"/>
          <p:cNvSpPr/>
          <p:nvPr/>
        </p:nvSpPr>
        <p:spPr>
          <a:xfrm>
            <a:off x="539496" y="3127248"/>
            <a:ext cx="2468880" cy="182880"/>
          </a:xfrm>
          <a:prstGeom prst="rect">
            <a:avLst/>
          </a:prstGeom>
          <a:noFill/>
          <a:ln/>
        </p:spPr>
        <p:txBody>
          <a:bodyPr wrap="square" lIns="0" tIns="0" rIns="0" bIns="0" rtlCol="0" anchor="ctr"/>
          <a:lstStyle/>
          <a:p>
            <a:pPr indent="0" marL="0">
              <a:buNone/>
            </a:pPr>
            <a:r>
              <a:rPr lang="en-US" sz="800" b="1" spc="200" kern="0" dirty="0">
                <a:solidFill>
                  <a:srgbClr val="888888"/>
                </a:solidFill>
                <a:latin typeface="Calibri" pitchFamily="34" charset="0"/>
                <a:ea typeface="Calibri" pitchFamily="34" charset="-122"/>
                <a:cs typeface="Calibri" pitchFamily="34" charset="-120"/>
              </a:rPr>
              <a:t>FOUND ON</a:t>
            </a:r>
            <a:endParaRPr lang="en-US" sz="800" dirty="0"/>
          </a:p>
        </p:txBody>
      </p:sp>
      <p:sp>
        <p:nvSpPr>
          <p:cNvPr id="12" name="Text 10"/>
          <p:cNvSpPr/>
          <p:nvPr/>
        </p:nvSpPr>
        <p:spPr>
          <a:xfrm>
            <a:off x="539496" y="3328416"/>
            <a:ext cx="2468880" cy="1353312"/>
          </a:xfrm>
          <a:prstGeom prst="rect">
            <a:avLst/>
          </a:prstGeom>
          <a:noFill/>
          <a:ln/>
        </p:spPr>
        <p:txBody>
          <a:bodyPr wrap="square" lIns="0" tIns="0" rIns="0" bIns="0" rtlCol="0" anchor="t"/>
          <a:lstStyle/>
          <a:p>
            <a:pPr indent="0" marL="0">
              <a:buNone/>
            </a:pPr>
            <a:r>
              <a:rPr lang="en-US" sz="950" dirty="0">
                <a:solidFill>
                  <a:srgbClr val="CCCCCC"/>
                </a:solidFill>
                <a:latin typeface="Calibri" pitchFamily="34" charset="0"/>
                <a:ea typeface="Calibri" pitchFamily="34" charset="-122"/>
                <a:cs typeface="Calibri" pitchFamily="34" charset="-120"/>
              </a:rPr>
              <a:t>Many hybrids, some GDI and diesel vehicles. Simplest solution — familiar testing.</a:t>
            </a:r>
            <a:endParaRPr lang="en-US" sz="950" dirty="0"/>
          </a:p>
        </p:txBody>
      </p:sp>
      <p:sp>
        <p:nvSpPr>
          <p:cNvPr id="13" name="Shape 11"/>
          <p:cNvSpPr/>
          <p:nvPr/>
        </p:nvSpPr>
        <p:spPr>
          <a:xfrm>
            <a:off x="3319272" y="1005840"/>
            <a:ext cx="2743200" cy="3840480"/>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14" name="Shape 12"/>
          <p:cNvSpPr/>
          <p:nvPr/>
        </p:nvSpPr>
        <p:spPr>
          <a:xfrm>
            <a:off x="3319272" y="1005840"/>
            <a:ext cx="2743200" cy="73152"/>
          </a:xfrm>
          <a:prstGeom prst="rect">
            <a:avLst/>
          </a:prstGeom>
          <a:solidFill>
            <a:srgbClr val="E9A825"/>
          </a:solidFill>
          <a:ln w="12700">
            <a:solidFill>
              <a:srgbClr val="E9A825"/>
            </a:solidFill>
            <a:prstDash val="solid"/>
          </a:ln>
        </p:spPr>
      </p:sp>
      <p:sp>
        <p:nvSpPr>
          <p:cNvPr id="15" name="Text 13"/>
          <p:cNvSpPr/>
          <p:nvPr/>
        </p:nvSpPr>
        <p:spPr>
          <a:xfrm>
            <a:off x="3447288" y="1097280"/>
            <a:ext cx="2468880" cy="292608"/>
          </a:xfrm>
          <a:prstGeom prst="rect">
            <a:avLst/>
          </a:prstGeom>
          <a:noFill/>
          <a:ln/>
        </p:spPr>
        <p:txBody>
          <a:bodyPr wrap="square" lIns="0" tIns="0" rIns="0" bIns="0" rtlCol="0" anchor="ctr"/>
          <a:lstStyle/>
          <a:p>
            <a:pPr indent="0" marL="0">
              <a:buNone/>
            </a:pPr>
            <a:r>
              <a:rPr lang="en-US" sz="1200" b="1" dirty="0">
                <a:solidFill>
                  <a:srgbClr val="E9A825"/>
                </a:solidFill>
                <a:latin typeface="Calibri" pitchFamily="34" charset="0"/>
                <a:ea typeface="Calibri" pitchFamily="34" charset="-122"/>
                <a:cs typeface="Calibri" pitchFamily="34" charset="-120"/>
              </a:rPr>
              <a:t>Bosch iBooster</a:t>
            </a:r>
            <a:endParaRPr lang="en-US" sz="1200" dirty="0"/>
          </a:p>
        </p:txBody>
      </p:sp>
      <p:sp>
        <p:nvSpPr>
          <p:cNvPr id="16" name="Text 14"/>
          <p:cNvSpPr/>
          <p:nvPr/>
        </p:nvSpPr>
        <p:spPr>
          <a:xfrm>
            <a:off x="3447288" y="1481328"/>
            <a:ext cx="2468880" cy="182880"/>
          </a:xfrm>
          <a:prstGeom prst="rect">
            <a:avLst/>
          </a:prstGeom>
          <a:noFill/>
          <a:ln/>
        </p:spPr>
        <p:txBody>
          <a:bodyPr wrap="square" lIns="0" tIns="0" rIns="0" bIns="0" rtlCol="0" anchor="ctr"/>
          <a:lstStyle/>
          <a:p>
            <a:pPr indent="0" marL="0">
              <a:buNone/>
            </a:pPr>
            <a:r>
              <a:rPr lang="en-US" sz="800" b="1" spc="200" kern="0" dirty="0">
                <a:solidFill>
                  <a:srgbClr val="888888"/>
                </a:solidFill>
                <a:latin typeface="Calibri" pitchFamily="34" charset="0"/>
                <a:ea typeface="Calibri" pitchFamily="34" charset="-122"/>
                <a:cs typeface="Calibri" pitchFamily="34" charset="-120"/>
              </a:rPr>
              <a:t>HOW IT WORKS</a:t>
            </a:r>
            <a:endParaRPr lang="en-US" sz="800" dirty="0"/>
          </a:p>
        </p:txBody>
      </p:sp>
      <p:sp>
        <p:nvSpPr>
          <p:cNvPr id="17" name="Text 15"/>
          <p:cNvSpPr/>
          <p:nvPr/>
        </p:nvSpPr>
        <p:spPr>
          <a:xfrm>
            <a:off x="3447288" y="1682496"/>
            <a:ext cx="2468880" cy="1353312"/>
          </a:xfrm>
          <a:prstGeom prst="rect">
            <a:avLst/>
          </a:prstGeom>
          <a:noFill/>
          <a:ln/>
        </p:spPr>
        <p:txBody>
          <a:bodyPr wrap="square" lIns="0" tIns="0" rIns="0" bIns="0" rtlCol="0" anchor="t"/>
          <a:lstStyle/>
          <a:p>
            <a:pPr indent="0" marL="0">
              <a:buNone/>
            </a:pPr>
            <a:r>
              <a:rPr lang="en-US" sz="950" dirty="0">
                <a:solidFill>
                  <a:srgbClr val="CCCCCC"/>
                </a:solidFill>
                <a:latin typeface="Calibri" pitchFamily="34" charset="0"/>
                <a:ea typeface="Calibri" pitchFamily="34" charset="-122"/>
                <a:cs typeface="Calibri" pitchFamily="34" charset="-120"/>
              </a:rPr>
              <a:t>An electric motor directly drives the master cylinder pushrod via gear reduction. No vacuum required. Force applied electromechanically. Extremely fast response — enables AEB.</a:t>
            </a:r>
            <a:endParaRPr lang="en-US" sz="950" dirty="0"/>
          </a:p>
        </p:txBody>
      </p:sp>
      <p:sp>
        <p:nvSpPr>
          <p:cNvPr id="18" name="Text 16"/>
          <p:cNvSpPr/>
          <p:nvPr/>
        </p:nvSpPr>
        <p:spPr>
          <a:xfrm>
            <a:off x="3447288" y="3127248"/>
            <a:ext cx="2468880" cy="182880"/>
          </a:xfrm>
          <a:prstGeom prst="rect">
            <a:avLst/>
          </a:prstGeom>
          <a:noFill/>
          <a:ln/>
        </p:spPr>
        <p:txBody>
          <a:bodyPr wrap="square" lIns="0" tIns="0" rIns="0" bIns="0" rtlCol="0" anchor="ctr"/>
          <a:lstStyle/>
          <a:p>
            <a:pPr indent="0" marL="0">
              <a:buNone/>
            </a:pPr>
            <a:r>
              <a:rPr lang="en-US" sz="800" b="1" spc="200" kern="0" dirty="0">
                <a:solidFill>
                  <a:srgbClr val="888888"/>
                </a:solidFill>
                <a:latin typeface="Calibri" pitchFamily="34" charset="0"/>
                <a:ea typeface="Calibri" pitchFamily="34" charset="-122"/>
                <a:cs typeface="Calibri" pitchFamily="34" charset="-120"/>
              </a:rPr>
              <a:t>FOUND ON</a:t>
            </a:r>
            <a:endParaRPr lang="en-US" sz="800" dirty="0"/>
          </a:p>
        </p:txBody>
      </p:sp>
      <p:sp>
        <p:nvSpPr>
          <p:cNvPr id="19" name="Text 17"/>
          <p:cNvSpPr/>
          <p:nvPr/>
        </p:nvSpPr>
        <p:spPr>
          <a:xfrm>
            <a:off x="3447288" y="3328416"/>
            <a:ext cx="2468880" cy="1353312"/>
          </a:xfrm>
          <a:prstGeom prst="rect">
            <a:avLst/>
          </a:prstGeom>
          <a:noFill/>
          <a:ln/>
        </p:spPr>
        <p:txBody>
          <a:bodyPr wrap="square" lIns="0" tIns="0" rIns="0" bIns="0" rtlCol="0" anchor="t"/>
          <a:lstStyle/>
          <a:p>
            <a:pPr indent="0" marL="0">
              <a:buNone/>
            </a:pPr>
            <a:r>
              <a:rPr lang="en-US" sz="950" dirty="0">
                <a:solidFill>
                  <a:srgbClr val="CCCCCC"/>
                </a:solidFill>
                <a:latin typeface="Calibri" pitchFamily="34" charset="0"/>
                <a:ea typeface="Calibri" pitchFamily="34" charset="-122"/>
                <a:cs typeface="Calibri" pitchFamily="34" charset="-120"/>
              </a:rPr>
              <a:t>Tesla Model S (early), Volvo XC90, Audi/BMW hybrids and EVs.</a:t>
            </a:r>
            <a:endParaRPr lang="en-US" sz="950" dirty="0"/>
          </a:p>
        </p:txBody>
      </p:sp>
      <p:sp>
        <p:nvSpPr>
          <p:cNvPr id="20" name="Shape 18"/>
          <p:cNvSpPr/>
          <p:nvPr/>
        </p:nvSpPr>
        <p:spPr>
          <a:xfrm>
            <a:off x="6227064" y="1005840"/>
            <a:ext cx="2743200" cy="3840480"/>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21" name="Shape 19"/>
          <p:cNvSpPr/>
          <p:nvPr/>
        </p:nvSpPr>
        <p:spPr>
          <a:xfrm>
            <a:off x="6227064" y="1005840"/>
            <a:ext cx="2743200" cy="73152"/>
          </a:xfrm>
          <a:prstGeom prst="rect">
            <a:avLst/>
          </a:prstGeom>
          <a:solidFill>
            <a:srgbClr val="2A9D8F"/>
          </a:solidFill>
          <a:ln w="12700">
            <a:solidFill>
              <a:srgbClr val="2A9D8F"/>
            </a:solidFill>
            <a:prstDash val="solid"/>
          </a:ln>
        </p:spPr>
      </p:sp>
      <p:sp>
        <p:nvSpPr>
          <p:cNvPr id="22" name="Text 20"/>
          <p:cNvSpPr/>
          <p:nvPr/>
        </p:nvSpPr>
        <p:spPr>
          <a:xfrm>
            <a:off x="6355080" y="1097280"/>
            <a:ext cx="2468880" cy="292608"/>
          </a:xfrm>
          <a:prstGeom prst="rect">
            <a:avLst/>
          </a:prstGeom>
          <a:noFill/>
          <a:ln/>
        </p:spPr>
        <p:txBody>
          <a:bodyPr wrap="square" lIns="0" tIns="0" rIns="0" bIns="0" rtlCol="0" anchor="ctr"/>
          <a:lstStyle/>
          <a:p>
            <a:pPr indent="0" marL="0">
              <a:buNone/>
            </a:pPr>
            <a:r>
              <a:rPr lang="en-US" sz="1200" b="1" dirty="0">
                <a:solidFill>
                  <a:srgbClr val="2A9D8F"/>
                </a:solidFill>
                <a:latin typeface="Calibri" pitchFamily="34" charset="0"/>
                <a:ea typeface="Calibri" pitchFamily="34" charset="-122"/>
                <a:cs typeface="Calibri" pitchFamily="34" charset="-120"/>
              </a:rPr>
              <a:t>Electrohydraulic (EHBS)</a:t>
            </a:r>
            <a:endParaRPr lang="en-US" sz="1200" dirty="0"/>
          </a:p>
        </p:txBody>
      </p:sp>
      <p:sp>
        <p:nvSpPr>
          <p:cNvPr id="23" name="Text 21"/>
          <p:cNvSpPr/>
          <p:nvPr/>
        </p:nvSpPr>
        <p:spPr>
          <a:xfrm>
            <a:off x="6355080" y="1481328"/>
            <a:ext cx="2468880" cy="182880"/>
          </a:xfrm>
          <a:prstGeom prst="rect">
            <a:avLst/>
          </a:prstGeom>
          <a:noFill/>
          <a:ln/>
        </p:spPr>
        <p:txBody>
          <a:bodyPr wrap="square" lIns="0" tIns="0" rIns="0" bIns="0" rtlCol="0" anchor="ctr"/>
          <a:lstStyle/>
          <a:p>
            <a:pPr indent="0" marL="0">
              <a:buNone/>
            </a:pPr>
            <a:r>
              <a:rPr lang="en-US" sz="800" b="1" spc="200" kern="0" dirty="0">
                <a:solidFill>
                  <a:srgbClr val="888888"/>
                </a:solidFill>
                <a:latin typeface="Calibri" pitchFamily="34" charset="0"/>
                <a:ea typeface="Calibri" pitchFamily="34" charset="-122"/>
                <a:cs typeface="Calibri" pitchFamily="34" charset="-120"/>
              </a:rPr>
              <a:t>HOW IT WORKS</a:t>
            </a:r>
            <a:endParaRPr lang="en-US" sz="800" dirty="0"/>
          </a:p>
        </p:txBody>
      </p:sp>
      <p:sp>
        <p:nvSpPr>
          <p:cNvPr id="24" name="Text 22"/>
          <p:cNvSpPr/>
          <p:nvPr/>
        </p:nvSpPr>
        <p:spPr>
          <a:xfrm>
            <a:off x="6355080" y="1682496"/>
            <a:ext cx="2468880" cy="1353312"/>
          </a:xfrm>
          <a:prstGeom prst="rect">
            <a:avLst/>
          </a:prstGeom>
          <a:noFill/>
          <a:ln/>
        </p:spPr>
        <p:txBody>
          <a:bodyPr wrap="square" lIns="0" tIns="0" rIns="0" bIns="0" rtlCol="0" anchor="t"/>
          <a:lstStyle/>
          <a:p>
            <a:pPr indent="0" marL="0">
              <a:buNone/>
            </a:pPr>
            <a:r>
              <a:rPr lang="en-US" sz="950" dirty="0">
                <a:solidFill>
                  <a:srgbClr val="CCCCCC"/>
                </a:solidFill>
                <a:latin typeface="Calibri" pitchFamily="34" charset="0"/>
                <a:ea typeface="Calibri" pitchFamily="34" charset="-122"/>
                <a:cs typeface="Calibri" pitchFamily="34" charset="-120"/>
              </a:rPr>
              <a:t>Electric motor drives a hydraulic pump, building pressure in an accumulator. Accumulator releases pressure on demand to assist braking. Tightly integrated with regenerative braking.</a:t>
            </a:r>
            <a:endParaRPr lang="en-US" sz="950" dirty="0"/>
          </a:p>
        </p:txBody>
      </p:sp>
      <p:sp>
        <p:nvSpPr>
          <p:cNvPr id="25" name="Text 23"/>
          <p:cNvSpPr/>
          <p:nvPr/>
        </p:nvSpPr>
        <p:spPr>
          <a:xfrm>
            <a:off x="6355080" y="3127248"/>
            <a:ext cx="2468880" cy="182880"/>
          </a:xfrm>
          <a:prstGeom prst="rect">
            <a:avLst/>
          </a:prstGeom>
          <a:noFill/>
          <a:ln/>
        </p:spPr>
        <p:txBody>
          <a:bodyPr wrap="square" lIns="0" tIns="0" rIns="0" bIns="0" rtlCol="0" anchor="ctr"/>
          <a:lstStyle/>
          <a:p>
            <a:pPr indent="0" marL="0">
              <a:buNone/>
            </a:pPr>
            <a:r>
              <a:rPr lang="en-US" sz="800" b="1" spc="200" kern="0" dirty="0">
                <a:solidFill>
                  <a:srgbClr val="888888"/>
                </a:solidFill>
                <a:latin typeface="Calibri" pitchFamily="34" charset="0"/>
                <a:ea typeface="Calibri" pitchFamily="34" charset="-122"/>
                <a:cs typeface="Calibri" pitchFamily="34" charset="-120"/>
              </a:rPr>
              <a:t>FOUND ON</a:t>
            </a:r>
            <a:endParaRPr lang="en-US" sz="800" dirty="0"/>
          </a:p>
        </p:txBody>
      </p:sp>
      <p:sp>
        <p:nvSpPr>
          <p:cNvPr id="26" name="Text 24"/>
          <p:cNvSpPr/>
          <p:nvPr/>
        </p:nvSpPr>
        <p:spPr>
          <a:xfrm>
            <a:off x="6355080" y="3328416"/>
            <a:ext cx="2468880" cy="1353312"/>
          </a:xfrm>
          <a:prstGeom prst="rect">
            <a:avLst/>
          </a:prstGeom>
          <a:noFill/>
          <a:ln/>
        </p:spPr>
        <p:txBody>
          <a:bodyPr wrap="square" lIns="0" tIns="0" rIns="0" bIns="0" rtlCol="0" anchor="t"/>
          <a:lstStyle/>
          <a:p>
            <a:pPr indent="0" marL="0">
              <a:buNone/>
            </a:pPr>
            <a:r>
              <a:rPr lang="en-US" sz="950" dirty="0">
                <a:solidFill>
                  <a:srgbClr val="CCCCCC"/>
                </a:solidFill>
                <a:latin typeface="Calibri" pitchFamily="34" charset="0"/>
                <a:ea typeface="Calibri" pitchFamily="34" charset="-122"/>
                <a:cs typeface="Calibri" pitchFamily="34" charset="-120"/>
              </a:rPr>
              <a:t>Toyota/Lexus hybrids and EVs (Prius, RAV4, Mirai). Regen coordination built in.</a:t>
            </a:r>
            <a:endParaRPr lang="en-US" sz="950" dirty="0"/>
          </a:p>
        </p:txBody>
      </p:sp>
      <p:sp>
        <p:nvSpPr>
          <p:cNvPr id="27" name="Text 25"/>
          <p:cNvSpPr/>
          <p:nvPr/>
        </p:nvSpPr>
        <p:spPr>
          <a:xfrm>
            <a:off x="411480" y="4864608"/>
            <a:ext cx="8321040" cy="201168"/>
          </a:xfrm>
          <a:prstGeom prst="rect">
            <a:avLst/>
          </a:prstGeom>
          <a:noFill/>
          <a:ln/>
        </p:spPr>
        <p:txBody>
          <a:bodyPr wrap="square" lIns="0" tIns="0" rIns="0" bIns="0" rtlCol="0" anchor="ctr"/>
          <a:lstStyle/>
          <a:p>
            <a:pPr indent="0" marL="0">
              <a:buNone/>
            </a:pPr>
            <a:r>
              <a:rPr lang="en-US" sz="900" i="1" dirty="0">
                <a:solidFill>
                  <a:srgbClr val="888888"/>
                </a:solidFill>
                <a:latin typeface="Calibri" pitchFamily="34" charset="0"/>
                <a:ea typeface="Calibri" pitchFamily="34" charset="-122"/>
                <a:cs typeface="Calibri" pitchFamily="34" charset="-120"/>
              </a:rPr>
              <a:t>All three types: scan tool diagnosis required. No vacuum gauge. No vacuum hose to check.</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2A9D8F"/>
          </a:solidFill>
          <a:ln w="12700">
            <a:solidFill>
              <a:srgbClr val="2A9D8F"/>
            </a:solidFill>
            <a:prstDash val="solid"/>
          </a:ln>
        </p:spPr>
      </p:sp>
      <p:sp>
        <p:nvSpPr>
          <p:cNvPr id="3" name="Shape 1"/>
          <p:cNvSpPr/>
          <p:nvPr/>
        </p:nvSpPr>
        <p:spPr>
          <a:xfrm>
            <a:off x="0" y="5079492"/>
            <a:ext cx="9144000" cy="64008"/>
          </a:xfrm>
          <a:prstGeom prst="rect">
            <a:avLst/>
          </a:prstGeom>
          <a:solidFill>
            <a:srgbClr val="2A9D8F"/>
          </a:solidFill>
          <a:ln w="12700">
            <a:solidFill>
              <a:srgbClr val="2A9D8F"/>
            </a:solidFill>
            <a:prstDash val="solid"/>
          </a:ln>
        </p:spPr>
      </p:sp>
      <p:sp>
        <p:nvSpPr>
          <p:cNvPr id="4" name="Text 2"/>
          <p:cNvSpPr/>
          <p:nvPr/>
        </p:nvSpPr>
        <p:spPr>
          <a:xfrm>
            <a:off x="457200" y="118872"/>
            <a:ext cx="8229600" cy="201168"/>
          </a:xfrm>
          <a:prstGeom prst="rect">
            <a:avLst/>
          </a:prstGeom>
          <a:noFill/>
          <a:ln/>
        </p:spPr>
        <p:txBody>
          <a:bodyPr wrap="square" lIns="0" tIns="0" rIns="0" bIns="0" rtlCol="0" anchor="ctr"/>
          <a:lstStyle/>
          <a:p>
            <a:pPr indent="0" marL="0">
              <a:buNone/>
            </a:pPr>
            <a:r>
              <a:rPr lang="en-US" sz="800" b="1" spc="400" kern="0" dirty="0">
                <a:solidFill>
                  <a:srgbClr val="2A9D8F"/>
                </a:solidFill>
                <a:latin typeface="Calibri" pitchFamily="34" charset="0"/>
                <a:ea typeface="Calibri" pitchFamily="34" charset="-122"/>
                <a:cs typeface="Calibri" pitchFamily="34" charset="-120"/>
              </a:rPr>
              <a:t>ELECTRONIC BOOSTERS</a:t>
            </a:r>
            <a:endParaRPr lang="en-US" sz="800" dirty="0"/>
          </a:p>
        </p:txBody>
      </p:sp>
      <p:sp>
        <p:nvSpPr>
          <p:cNvPr id="5" name="Text 3"/>
          <p:cNvSpPr/>
          <p:nvPr/>
        </p:nvSpPr>
        <p:spPr>
          <a:xfrm>
            <a:off x="457200" y="384048"/>
            <a:ext cx="8229600" cy="530352"/>
          </a:xfrm>
          <a:prstGeom prst="rect">
            <a:avLst/>
          </a:prstGeom>
          <a:noFill/>
          <a:ln/>
        </p:spPr>
        <p:txBody>
          <a:bodyPr wrap="square" lIns="0" tIns="0" rIns="0" bIns="0" rtlCol="0" anchor="ctr"/>
          <a:lstStyle/>
          <a:p>
            <a:pPr indent="0" marL="0">
              <a:buNone/>
            </a:pPr>
            <a:r>
              <a:rPr lang="en-US" sz="2800" b="1" dirty="0">
                <a:solidFill>
                  <a:srgbClr val="2A9D8F"/>
                </a:solidFill>
                <a:latin typeface="Calibri" pitchFamily="34" charset="0"/>
                <a:ea typeface="Calibri" pitchFamily="34" charset="-122"/>
                <a:cs typeface="Calibri" pitchFamily="34" charset="-120"/>
              </a:rPr>
              <a:t>Diagnosing Electronic Brake Boosters</a:t>
            </a:r>
            <a:endParaRPr lang="en-US" sz="2800" dirty="0"/>
          </a:p>
        </p:txBody>
      </p:sp>
      <p:sp>
        <p:nvSpPr>
          <p:cNvPr id="6" name="Text 4"/>
          <p:cNvSpPr/>
          <p:nvPr/>
        </p:nvSpPr>
        <p:spPr>
          <a:xfrm>
            <a:off x="457200" y="987552"/>
            <a:ext cx="8229600" cy="237744"/>
          </a:xfrm>
          <a:prstGeom prst="rect">
            <a:avLst/>
          </a:prstGeom>
          <a:noFill/>
          <a:ln/>
        </p:spPr>
        <p:txBody>
          <a:bodyPr wrap="square" lIns="0" tIns="0" rIns="0" bIns="0" rtlCol="0" anchor="ctr"/>
          <a:lstStyle/>
          <a:p>
            <a:pPr indent="0" marL="0">
              <a:buNone/>
            </a:pPr>
            <a:r>
              <a:rPr lang="en-US" sz="1000" i="1" dirty="0">
                <a:solidFill>
                  <a:srgbClr val="888888"/>
                </a:solidFill>
                <a:latin typeface="Calibri" pitchFamily="34" charset="0"/>
                <a:ea typeface="Calibri" pitchFamily="34" charset="-122"/>
                <a:cs typeface="Calibri" pitchFamily="34" charset="-120"/>
              </a:rPr>
              <a:t>Shift from vacuum gauge to scan tool. Approach is fundamentally different.</a:t>
            </a:r>
            <a:endParaRPr lang="en-US" sz="1000" dirty="0"/>
          </a:p>
        </p:txBody>
      </p:sp>
      <p:sp>
        <p:nvSpPr>
          <p:cNvPr id="7" name="Shape 5"/>
          <p:cNvSpPr/>
          <p:nvPr/>
        </p:nvSpPr>
        <p:spPr>
          <a:xfrm>
            <a:off x="411480" y="1316736"/>
            <a:ext cx="4206240" cy="1572768"/>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8" name="Shape 6"/>
          <p:cNvSpPr/>
          <p:nvPr/>
        </p:nvSpPr>
        <p:spPr>
          <a:xfrm>
            <a:off x="411480" y="1316736"/>
            <a:ext cx="54864" cy="1572768"/>
          </a:xfrm>
          <a:prstGeom prst="rect">
            <a:avLst/>
          </a:prstGeom>
          <a:solidFill>
            <a:srgbClr val="2A9D8F"/>
          </a:solidFill>
          <a:ln w="12700">
            <a:solidFill>
              <a:srgbClr val="2A9D8F"/>
            </a:solidFill>
            <a:prstDash val="solid"/>
          </a:ln>
        </p:spPr>
      </p:sp>
      <p:sp>
        <p:nvSpPr>
          <p:cNvPr id="9" name="Shape 7"/>
          <p:cNvSpPr/>
          <p:nvPr/>
        </p:nvSpPr>
        <p:spPr>
          <a:xfrm>
            <a:off x="530352" y="1426464"/>
            <a:ext cx="347472" cy="347472"/>
          </a:xfrm>
          <a:prstGeom prst="ellipse">
            <a:avLst/>
          </a:prstGeom>
          <a:solidFill>
            <a:srgbClr val="2A9D8F"/>
          </a:solidFill>
          <a:ln w="12700">
            <a:solidFill>
              <a:srgbClr val="2A9D8F"/>
            </a:solidFill>
            <a:prstDash val="solid"/>
          </a:ln>
        </p:spPr>
      </p:sp>
      <p:sp>
        <p:nvSpPr>
          <p:cNvPr id="10" name="Text 8"/>
          <p:cNvSpPr/>
          <p:nvPr/>
        </p:nvSpPr>
        <p:spPr>
          <a:xfrm>
            <a:off x="530352" y="1426464"/>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9"/>
          <p:cNvSpPr/>
          <p:nvPr/>
        </p:nvSpPr>
        <p:spPr>
          <a:xfrm>
            <a:off x="978408" y="1408176"/>
            <a:ext cx="3547872"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Scan Tool First</a:t>
            </a:r>
            <a:endParaRPr lang="en-US" sz="1100" dirty="0"/>
          </a:p>
        </p:txBody>
      </p:sp>
      <p:sp>
        <p:nvSpPr>
          <p:cNvPr id="12" name="Text 10"/>
          <p:cNvSpPr/>
          <p:nvPr/>
        </p:nvSpPr>
        <p:spPr>
          <a:xfrm>
            <a:off x="978408" y="1700784"/>
            <a:ext cx="3547872" cy="1078992"/>
          </a:xfrm>
          <a:prstGeom prst="rect">
            <a:avLst/>
          </a:prstGeom>
          <a:noFill/>
          <a:ln/>
        </p:spPr>
        <p:txBody>
          <a:bodyPr wrap="square" lIns="0" tIns="0" rIns="0" bIns="0" rtlCol="0" anchor="t"/>
          <a:lstStyle/>
          <a:p>
            <a:pPr indent="0" marL="0">
              <a:buNone/>
            </a:pPr>
            <a:r>
              <a:rPr lang="en-US" sz="950" dirty="0">
                <a:solidFill>
                  <a:srgbClr val="CCCCCC"/>
                </a:solidFill>
                <a:latin typeface="Calibri" pitchFamily="34" charset="0"/>
                <a:ea typeface="Calibri" pitchFamily="34" charset="-122"/>
                <a:cs typeface="Calibri" pitchFamily="34" charset="-120"/>
              </a:rPr>
              <a:t>Connect scan tool before anything else. Check DTCs in the brake booster module, ABS/ESC module, and hybrid/EV control system. Module communication errors are the most common first clue.</a:t>
            </a:r>
            <a:endParaRPr lang="en-US" sz="950" dirty="0"/>
          </a:p>
        </p:txBody>
      </p:sp>
      <p:sp>
        <p:nvSpPr>
          <p:cNvPr id="13" name="Shape 11"/>
          <p:cNvSpPr/>
          <p:nvPr/>
        </p:nvSpPr>
        <p:spPr>
          <a:xfrm>
            <a:off x="4800600" y="1316736"/>
            <a:ext cx="4206240" cy="1572768"/>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14" name="Shape 12"/>
          <p:cNvSpPr/>
          <p:nvPr/>
        </p:nvSpPr>
        <p:spPr>
          <a:xfrm>
            <a:off x="4800600" y="1316736"/>
            <a:ext cx="54864" cy="1572768"/>
          </a:xfrm>
          <a:prstGeom prst="rect">
            <a:avLst/>
          </a:prstGeom>
          <a:solidFill>
            <a:srgbClr val="2A9D8F"/>
          </a:solidFill>
          <a:ln w="12700">
            <a:solidFill>
              <a:srgbClr val="2A9D8F"/>
            </a:solidFill>
            <a:prstDash val="solid"/>
          </a:ln>
        </p:spPr>
      </p:sp>
      <p:sp>
        <p:nvSpPr>
          <p:cNvPr id="15" name="Shape 13"/>
          <p:cNvSpPr/>
          <p:nvPr/>
        </p:nvSpPr>
        <p:spPr>
          <a:xfrm>
            <a:off x="4919472" y="1426464"/>
            <a:ext cx="347472" cy="347472"/>
          </a:xfrm>
          <a:prstGeom prst="ellipse">
            <a:avLst/>
          </a:prstGeom>
          <a:solidFill>
            <a:srgbClr val="2A9D8F"/>
          </a:solidFill>
          <a:ln w="12700">
            <a:solidFill>
              <a:srgbClr val="2A9D8F"/>
            </a:solidFill>
            <a:prstDash val="solid"/>
          </a:ln>
        </p:spPr>
      </p:sp>
      <p:sp>
        <p:nvSpPr>
          <p:cNvPr id="16" name="Text 14"/>
          <p:cNvSpPr/>
          <p:nvPr/>
        </p:nvSpPr>
        <p:spPr>
          <a:xfrm>
            <a:off x="4919472" y="1426464"/>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5"/>
          <p:cNvSpPr/>
          <p:nvPr/>
        </p:nvSpPr>
        <p:spPr>
          <a:xfrm>
            <a:off x="5367528" y="1408176"/>
            <a:ext cx="3547872"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Check Power and Ground</a:t>
            </a:r>
            <a:endParaRPr lang="en-US" sz="1100" dirty="0"/>
          </a:p>
        </p:txBody>
      </p:sp>
      <p:sp>
        <p:nvSpPr>
          <p:cNvPr id="18" name="Text 16"/>
          <p:cNvSpPr/>
          <p:nvPr/>
        </p:nvSpPr>
        <p:spPr>
          <a:xfrm>
            <a:off x="5367528" y="1700784"/>
            <a:ext cx="3547872" cy="1078992"/>
          </a:xfrm>
          <a:prstGeom prst="rect">
            <a:avLst/>
          </a:prstGeom>
          <a:noFill/>
          <a:ln/>
        </p:spPr>
        <p:txBody>
          <a:bodyPr wrap="square" lIns="0" tIns="0" rIns="0" bIns="0" rtlCol="0" anchor="t"/>
          <a:lstStyle/>
          <a:p>
            <a:pPr indent="0" marL="0">
              <a:buNone/>
            </a:pPr>
            <a:r>
              <a:rPr lang="en-US" sz="950" dirty="0">
                <a:solidFill>
                  <a:srgbClr val="CCCCCC"/>
                </a:solidFill>
                <a:latin typeface="Calibri" pitchFamily="34" charset="0"/>
                <a:ea typeface="Calibri" pitchFamily="34" charset="-122"/>
                <a:cs typeface="Calibri" pitchFamily="34" charset="-120"/>
              </a:rPr>
              <a:t>Electric boosters draw high current. Verify battery voltage, fuse condition, and ground integrity at the booster module. Voltage drop testing applies here exactly as in electrical diagnosis.</a:t>
            </a:r>
            <a:endParaRPr lang="en-US" sz="950" dirty="0"/>
          </a:p>
        </p:txBody>
      </p:sp>
      <p:sp>
        <p:nvSpPr>
          <p:cNvPr id="19" name="Shape 17"/>
          <p:cNvSpPr/>
          <p:nvPr/>
        </p:nvSpPr>
        <p:spPr>
          <a:xfrm>
            <a:off x="411480" y="3035808"/>
            <a:ext cx="4206240" cy="1572768"/>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20" name="Shape 18"/>
          <p:cNvSpPr/>
          <p:nvPr/>
        </p:nvSpPr>
        <p:spPr>
          <a:xfrm>
            <a:off x="411480" y="3035808"/>
            <a:ext cx="54864" cy="1572768"/>
          </a:xfrm>
          <a:prstGeom prst="rect">
            <a:avLst/>
          </a:prstGeom>
          <a:solidFill>
            <a:srgbClr val="E9A825"/>
          </a:solidFill>
          <a:ln w="12700">
            <a:solidFill>
              <a:srgbClr val="E9A825"/>
            </a:solidFill>
            <a:prstDash val="solid"/>
          </a:ln>
        </p:spPr>
      </p:sp>
      <p:sp>
        <p:nvSpPr>
          <p:cNvPr id="21" name="Shape 19"/>
          <p:cNvSpPr/>
          <p:nvPr/>
        </p:nvSpPr>
        <p:spPr>
          <a:xfrm>
            <a:off x="530352" y="3145536"/>
            <a:ext cx="347472" cy="347472"/>
          </a:xfrm>
          <a:prstGeom prst="ellipse">
            <a:avLst/>
          </a:prstGeom>
          <a:solidFill>
            <a:srgbClr val="E9A825"/>
          </a:solidFill>
          <a:ln w="12700">
            <a:solidFill>
              <a:srgbClr val="E9A825"/>
            </a:solidFill>
            <a:prstDash val="solid"/>
          </a:ln>
        </p:spPr>
      </p:sp>
      <p:sp>
        <p:nvSpPr>
          <p:cNvPr id="22" name="Text 20"/>
          <p:cNvSpPr/>
          <p:nvPr/>
        </p:nvSpPr>
        <p:spPr>
          <a:xfrm>
            <a:off x="530352" y="3145536"/>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3" name="Text 21"/>
          <p:cNvSpPr/>
          <p:nvPr/>
        </p:nvSpPr>
        <p:spPr>
          <a:xfrm>
            <a:off x="978408" y="3127248"/>
            <a:ext cx="3547872"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Live Data: Pedal vs. Pressure</a:t>
            </a:r>
            <a:endParaRPr lang="en-US" sz="1100" dirty="0"/>
          </a:p>
        </p:txBody>
      </p:sp>
      <p:sp>
        <p:nvSpPr>
          <p:cNvPr id="24" name="Text 22"/>
          <p:cNvSpPr/>
          <p:nvPr/>
        </p:nvSpPr>
        <p:spPr>
          <a:xfrm>
            <a:off x="978408" y="3419856"/>
            <a:ext cx="3547872" cy="1078992"/>
          </a:xfrm>
          <a:prstGeom prst="rect">
            <a:avLst/>
          </a:prstGeom>
          <a:noFill/>
          <a:ln/>
        </p:spPr>
        <p:txBody>
          <a:bodyPr wrap="square" lIns="0" tIns="0" rIns="0" bIns="0" rtlCol="0" anchor="t"/>
          <a:lstStyle/>
          <a:p>
            <a:pPr indent="0" marL="0">
              <a:buNone/>
            </a:pPr>
            <a:r>
              <a:rPr lang="en-US" sz="950" dirty="0">
                <a:solidFill>
                  <a:srgbClr val="CCCCCC"/>
                </a:solidFill>
                <a:latin typeface="Calibri" pitchFamily="34" charset="0"/>
                <a:ea typeface="Calibri" pitchFamily="34" charset="-122"/>
                <a:cs typeface="Calibri" pitchFamily="34" charset="-120"/>
              </a:rPr>
              <a:t>Use scan tool live data to compare pedal position sensor input against hydraulic pressure output. Lag, no response, or disproportionate pressure = actuator or control module issue.</a:t>
            </a:r>
            <a:endParaRPr lang="en-US" sz="950" dirty="0"/>
          </a:p>
        </p:txBody>
      </p:sp>
      <p:sp>
        <p:nvSpPr>
          <p:cNvPr id="25" name="Shape 23"/>
          <p:cNvSpPr/>
          <p:nvPr/>
        </p:nvSpPr>
        <p:spPr>
          <a:xfrm>
            <a:off x="4800600" y="3035808"/>
            <a:ext cx="4206240" cy="1572768"/>
          </a:xfrm>
          <a:prstGeom prst="rect">
            <a:avLst/>
          </a:prstGeom>
          <a:solidFill>
            <a:srgbClr val="2A2A2A"/>
          </a:solidFill>
          <a:ln w="6350">
            <a:solidFill>
              <a:srgbClr val="333333"/>
            </a:solidFill>
            <a:prstDash val="solid"/>
          </a:ln>
          <a:effectLst>
            <a:outerShdw sx="100000" sy="100000" kx="0" ky="0" algn="bl" rotWithShape="0" blurRad="101600" dist="38100" dir="8100000">
              <a:srgbClr val="000000">
                <a:alpha val="18000"/>
              </a:srgbClr>
            </a:outerShdw>
          </a:effectLst>
        </p:spPr>
      </p:sp>
      <p:sp>
        <p:nvSpPr>
          <p:cNvPr id="26" name="Shape 24"/>
          <p:cNvSpPr/>
          <p:nvPr/>
        </p:nvSpPr>
        <p:spPr>
          <a:xfrm>
            <a:off x="4800600" y="3035808"/>
            <a:ext cx="54864" cy="1572768"/>
          </a:xfrm>
          <a:prstGeom prst="rect">
            <a:avLst/>
          </a:prstGeom>
          <a:solidFill>
            <a:srgbClr val="E9A825"/>
          </a:solidFill>
          <a:ln w="12700">
            <a:solidFill>
              <a:srgbClr val="E9A825"/>
            </a:solidFill>
            <a:prstDash val="solid"/>
          </a:ln>
        </p:spPr>
      </p:sp>
      <p:sp>
        <p:nvSpPr>
          <p:cNvPr id="27" name="Shape 25"/>
          <p:cNvSpPr/>
          <p:nvPr/>
        </p:nvSpPr>
        <p:spPr>
          <a:xfrm>
            <a:off x="4919472" y="3145536"/>
            <a:ext cx="347472" cy="347472"/>
          </a:xfrm>
          <a:prstGeom prst="ellipse">
            <a:avLst/>
          </a:prstGeom>
          <a:solidFill>
            <a:srgbClr val="E9A825"/>
          </a:solidFill>
          <a:ln w="12700">
            <a:solidFill>
              <a:srgbClr val="E9A825"/>
            </a:solidFill>
            <a:prstDash val="solid"/>
          </a:ln>
        </p:spPr>
      </p:sp>
      <p:sp>
        <p:nvSpPr>
          <p:cNvPr id="28" name="Text 26"/>
          <p:cNvSpPr/>
          <p:nvPr/>
        </p:nvSpPr>
        <p:spPr>
          <a:xfrm>
            <a:off x="4919472" y="3145536"/>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9" name="Text 27"/>
          <p:cNvSpPr/>
          <p:nvPr/>
        </p:nvSpPr>
        <p:spPr>
          <a:xfrm>
            <a:off x="5367528" y="3127248"/>
            <a:ext cx="3547872"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No Vacuum — Adjust Your Approach</a:t>
            </a:r>
            <a:endParaRPr lang="en-US" sz="1100" dirty="0"/>
          </a:p>
        </p:txBody>
      </p:sp>
      <p:sp>
        <p:nvSpPr>
          <p:cNvPr id="30" name="Text 28"/>
          <p:cNvSpPr/>
          <p:nvPr/>
        </p:nvSpPr>
        <p:spPr>
          <a:xfrm>
            <a:off x="5367528" y="3419856"/>
            <a:ext cx="3547872" cy="1078992"/>
          </a:xfrm>
          <a:prstGeom prst="rect">
            <a:avLst/>
          </a:prstGeom>
          <a:noFill/>
          <a:ln/>
        </p:spPr>
        <p:txBody>
          <a:bodyPr wrap="square" lIns="0" tIns="0" rIns="0" bIns="0" rtlCol="0" anchor="t"/>
          <a:lstStyle/>
          <a:p>
            <a:pPr indent="0" marL="0">
              <a:buNone/>
            </a:pPr>
            <a:r>
              <a:rPr lang="en-US" sz="950" dirty="0">
                <a:solidFill>
                  <a:srgbClr val="CCCCCC"/>
                </a:solidFill>
                <a:latin typeface="Calibri" pitchFamily="34" charset="0"/>
                <a:ea typeface="Calibri" pitchFamily="34" charset="-122"/>
                <a:cs typeface="Calibri" pitchFamily="34" charset="-120"/>
              </a:rPr>
              <a:t>There is no vacuum hose to test. No depletion test. Reserve is electrical (capacitor or battery backup) — check system warnings and charge state, not in. Hg.</a:t>
            </a:r>
            <a:endParaRPr lang="en-US" sz="950" dirty="0"/>
          </a:p>
        </p:txBody>
      </p:sp>
      <p:sp>
        <p:nvSpPr>
          <p:cNvPr id="31" name="Shape 29"/>
          <p:cNvSpPr/>
          <p:nvPr/>
        </p:nvSpPr>
        <p:spPr>
          <a:xfrm>
            <a:off x="411480" y="4700016"/>
            <a:ext cx="8321040" cy="201168"/>
          </a:xfrm>
          <a:prstGeom prst="rect">
            <a:avLst/>
          </a:prstGeom>
          <a:solidFill>
            <a:srgbClr val="2A2A2A"/>
          </a:solidFill>
          <a:ln w="3810">
            <a:solidFill>
              <a:srgbClr val="333333"/>
            </a:solidFill>
            <a:prstDash val="solid"/>
          </a:ln>
        </p:spPr>
      </p:sp>
      <p:sp>
        <p:nvSpPr>
          <p:cNvPr id="32" name="Shape 30"/>
          <p:cNvSpPr/>
          <p:nvPr/>
        </p:nvSpPr>
        <p:spPr>
          <a:xfrm>
            <a:off x="411480" y="4700016"/>
            <a:ext cx="54864" cy="201168"/>
          </a:xfrm>
          <a:prstGeom prst="rect">
            <a:avLst/>
          </a:prstGeom>
          <a:solidFill>
            <a:srgbClr val="E9A825"/>
          </a:solidFill>
          <a:ln w="12700">
            <a:solidFill>
              <a:srgbClr val="E9A825"/>
            </a:solidFill>
            <a:prstDash val="solid"/>
          </a:ln>
        </p:spPr>
      </p:sp>
      <p:sp>
        <p:nvSpPr>
          <p:cNvPr id="33" name="Text 31"/>
          <p:cNvSpPr/>
          <p:nvPr/>
        </p:nvSpPr>
        <p:spPr>
          <a:xfrm>
            <a:off x="530352" y="4700016"/>
            <a:ext cx="8046720" cy="201168"/>
          </a:xfrm>
          <a:prstGeom prst="rect">
            <a:avLst/>
          </a:prstGeom>
          <a:noFill/>
          <a:ln/>
        </p:spPr>
        <p:txBody>
          <a:bodyPr wrap="square" lIns="0" tIns="0" rIns="0" bIns="0" rtlCol="0" anchor="ctr"/>
          <a:lstStyle/>
          <a:p>
            <a:pPr indent="0" marL="0">
              <a:buNone/>
            </a:pPr>
            <a:r>
              <a:rPr lang="en-US" sz="900" dirty="0">
                <a:solidFill>
                  <a:srgbClr val="CCCCCC"/>
                </a:solidFill>
                <a:latin typeface="Calibri" pitchFamily="34" charset="0"/>
                <a:ea typeface="Calibri" pitchFamily="34" charset="-122"/>
                <a:cs typeface="Calibri" pitchFamily="34" charset="-120"/>
              </a:rPr>
              <a:t>Regen braking note: On EVs and hybrids, pedal feel is simulated while the motor generates electricity. This is normal — do not diagnose it as a booster fault.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Brake Booster Systems — AUTOA 123</dc:title>
  <dc:subject>PptxGenJS Presentation</dc:subject>
  <dc:creator>Amber Avery-Graff</dc:creator>
  <cp:lastModifiedBy>Amber Avery-Graff</cp:lastModifiedBy>
  <cp:revision>1</cp:revision>
  <dcterms:created xsi:type="dcterms:W3CDTF">2026-05-05T17:42:52Z</dcterms:created>
  <dcterms:modified xsi:type="dcterms:W3CDTF">2026-05-05T17:42:52Z</dcterms:modified>
</cp:coreProperties>
</file>