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1-1.jpg" ContentType="image/jpg"/>
  <Override PartName="/ppt/media/image-11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UNIT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 Brakes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914400" cy="54864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Components, configurations, service, and diagnosis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3 of 4  ·  Brakes Unit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Shoreline Community College  ·  Amber Avery-Graff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 disc brake 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2606040" cy="2926080"/>
          </a:xfrm>
          <a:prstGeom prst="rect">
            <a:avLst/>
          </a:prstGeom>
          <a:solidFill>
            <a:srgbClr val="2B2B2B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54480"/>
            <a:ext cx="2606040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276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103120"/>
            <a:ext cx="22860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glasses or goggles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Nitrile gloves (brake fluid eats skin)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Particulate mask if dust is visible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Closed-toe boots, hair tied back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554480"/>
            <a:ext cx="2606040" cy="2926080"/>
          </a:xfrm>
          <a:prstGeom prst="rect">
            <a:avLst/>
          </a:prstGeom>
          <a:solidFill>
            <a:srgbClr val="2B2B2B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554480"/>
            <a:ext cx="2606040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6276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103120"/>
            <a:ext cx="22860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all brake dust as hazardous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blow it off with compressed air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method or HEPA vacuum only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hands before eating or smoking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554480"/>
            <a:ext cx="2606040" cy="2926080"/>
          </a:xfrm>
          <a:prstGeom prst="rect">
            <a:avLst/>
          </a:prstGeom>
          <a:solidFill>
            <a:srgbClr val="2B2B2B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554480"/>
            <a:ext cx="2606040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6276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2103120"/>
            <a:ext cx="22860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fluid strips paint and finishes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reservoir when leaving the bay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fluid when opening bleeders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reuse fluid drained from the system</a:t>
            </a:r>
            <a:endParaRPr lang="en-US"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Be Able to 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disc brake components and explain how each contributes to stopping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floating, sliding, and fixed caliper designs and where each is used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the square-cut piston seal returns the piston and self-adjusts pads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pad construction, friction materials, and wear indicator systems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09160" y="150876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rotor designs, ventilation, and the purpose of slots and cross-drilling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the most common disc brake concerns: pulsation, noise, drag, pulling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correct caliper service including slide pin lubrication and pad burnishing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an integrated parking brake using the correct retraction method</a:t>
            </a:r>
            <a:endParaRPr lang="en-US" sz="1150"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 TASKS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 A5 - Section D Disc Brakes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covered in this lecture and the lab that follows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D.1  Remove and clean caliper assembly; inspect for leaks, damage, wear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D.2  Inspect caliper mounting and slides/pins for proper operation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D.3  Remove, inspect, replace brake pads and retaining hardware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D.4  Lubricate and reinstall caliper, pads, and hardware; seat pads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D.5  Clean and inspect rotor; measure thickness, variation, runout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D.6  Remove and reinstall or replace rotor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D.7  Refinish rotor on vehicle; measure final thickness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D.8  Refinish rotor off vehicle; measure final thickness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D.9  Retract and re-adjust caliper piston on integrated parking brake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D.10  Describe importance of burnishing replacement pads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D.11  Diagnose poor stopping, noise, vibration, pulling, dragging, pulsation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Disc Brakes 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clamping force on both sides of a spinning rotor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pic>
        <p:nvPicPr>
          <p:cNvPr id="11" name="Image 0" descr="Diagram showing equal braking force applied to both sides of a spinning rotor by hydraulic pistons, with friction zone illustrated." title="Diagram showing equal braking force applied to both sides of a spinning rotor by hydraulic pistons, with friction zone illustrat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463040"/>
            <a:ext cx="3657600" cy="3200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155448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rotor spins with the wheel and hub assembly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 pressure pushes the caliper piston outward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Inboard pad clamps the rotor face from the piston side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floating caliper, reaction force pulls the outboard pad 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between pads and rotor converts kinetic energy to heat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force on both sides means no rotor distortion</a:t>
            </a:r>
            <a:endParaRPr 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DISCS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of Disc Brakes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4114800" cy="868680"/>
          </a:xfrm>
          <a:prstGeom prst="rect">
            <a:avLst/>
          </a:prstGeom>
          <a:solidFill>
            <a:srgbClr val="2B2B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417320"/>
            <a:ext cx="64008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904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dissipation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174650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surface is exposed to airflow, so swept area cools quickly between stops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4114800" cy="868680"/>
          </a:xfrm>
          <a:prstGeom prst="rect">
            <a:avLst/>
          </a:prstGeom>
          <a:solidFill>
            <a:srgbClr val="2B2B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417320"/>
            <a:ext cx="64008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4904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mechanical fade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2312" y="174650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expands the rotor toward the pads, not away, so pedal travel stays consistent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77440"/>
            <a:ext cx="4114800" cy="868680"/>
          </a:xfrm>
          <a:prstGeom prst="rect">
            <a:avLst/>
          </a:prstGeom>
          <a:solidFill>
            <a:srgbClr val="2B2B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377440"/>
            <a:ext cx="64008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450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lining fade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270662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 compounds work better hot than cold; runaway heat can still cause a hard pedal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377440"/>
            <a:ext cx="4114800" cy="868680"/>
          </a:xfrm>
          <a:prstGeom prst="rect">
            <a:avLst/>
          </a:prstGeom>
          <a:solidFill>
            <a:srgbClr val="2B2B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377440"/>
            <a:ext cx="64008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24505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gas fade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2312" y="270662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design lets gas and dust escape instead of building between pad and friction surface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337560"/>
            <a:ext cx="4114800" cy="868680"/>
          </a:xfrm>
          <a:prstGeom prst="rect">
            <a:avLst/>
          </a:prstGeom>
          <a:solidFill>
            <a:srgbClr val="2B2B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337560"/>
            <a:ext cx="64008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4107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water fade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36667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rotating rotor flings water off the friction surface in fractions of a second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3337560"/>
            <a:ext cx="4114800" cy="868680"/>
          </a:xfrm>
          <a:prstGeom prst="rect">
            <a:avLst/>
          </a:prstGeom>
          <a:solidFill>
            <a:srgbClr val="2B2B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3337560"/>
            <a:ext cx="64008" cy="868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34107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adjusting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82312" y="36667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cut piston seal pulls the piston back just enough to maintain pad clearance</a:t>
            </a:r>
            <a:endParaRPr 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 of Disc Brakes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pic>
        <p:nvPicPr>
          <p:cNvPr id="10" name="Image 0" descr="Brake hardware components including anti-rattle clips, retainer springs, and shims that quiet brake operation." title="Brake hardware components including anti-rattle clips, retainer springs, and shims that quiet brake operat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463040"/>
            <a:ext cx="2651760" cy="3108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55448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pedal effort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self-energizing servo action like drum brakes; needs a power booster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noise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pad vibration causes squeal; shims, clips, and lubricant suppress it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dust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friction surface throws dust onto wheels and rotors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holding power for given size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self-energizing means a larger rotor is needed for the same stopping force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ROTORS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Rotor Designs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Solid, vented, slotted, drilled, and composite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One-piece disc; light vehicles, rear axles, cost driven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vanes pump air through cooling channels; standard on most front axles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Slotted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slots vent gas and dust, sweep pad face clean; mild noise increase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Cross-drilled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Holes through the friction surface; aggressive cooling, can crack under hard use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and friction ring of different materials; saves weight and unsprung mass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1554480"/>
            <a:ext cx="3611880" cy="1828800"/>
          </a:xfrm>
          <a:prstGeom prst="rect">
            <a:avLst/>
          </a:prstGeom>
          <a:solidFill>
            <a:srgbClr val="FFFBF0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1554480"/>
            <a:ext cx="64008" cy="182880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162763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0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TEMPS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76672" y="1847088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driving:  300 to 500 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street braking:  600 to 800 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or heavy tow:  over 1000 F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 and fluid choice must match the use.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3520440"/>
            <a:ext cx="3611880" cy="1143000"/>
          </a:xfrm>
          <a:prstGeom prst="rect">
            <a:avLst/>
          </a:prstGeom>
          <a:solidFill>
            <a:srgbClr val="0D2B28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3520440"/>
            <a:ext cx="64008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6672" y="359359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76672" y="381304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is the enemy. Rotor design is one half of the cooling story; pad compound and airflow are the other half.</a:t>
            </a:r>
            <a:endParaRPr lang="en-US" sz="1100" dirty="0"/>
          </a:p>
        </p:txBody>
      </p:sp>
      <p:sp>
        <p:nvSpPr>
          <p:cNvPr id="20" name="TextBox 19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Pad Hardware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pads are held, oriented, and quieted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pic>
        <p:nvPicPr>
          <p:cNvPr id="11" name="Image 0" descr="Brake pad with retainer spring and wear indicator, showing typical pad backing plate hardware." title="Brake pad with retainer spring and wear indicator, showing typical pad backing plate hardwar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2286000" cy="3108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834640" y="1554480"/>
            <a:ext cx="5943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the pad against the rotor to control rattle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Retaining pins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through holes in the backing plate to capture the pad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Retaining springs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Spring-loaded clips that pre-load the pad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Tapered or chamfered edges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vibration that causes squeal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Anti-rattle clips and shims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kit replaces with every pad change</a:t>
            </a:r>
            <a:endParaRPr lang="en-US" sz="1150"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 Wear Indicators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pad tells you it is done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pic>
        <p:nvPicPr>
          <p:cNvPr id="11" name="Image 0" descr="Pad wear indicator diagrams: top shows electrical sensor wire embedded in pad face; bottom shows mechanical wear tab making contact with rotor as new versus worn pad." title="Pad wear indicator diagrams: top shows electrical sensor wire embedded in pad face; bottom shows mechanical wear tab making contact with rotor as new versus worn pa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2377440" cy="3108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926080" y="15087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926080" y="178308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Spring-steel tab rides against the rotor when pads thin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a high-frequency chirp or squeal under braking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keep squealing until pads are replaced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926080" y="31089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26080" y="338328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wire is embedded in the pad backing or face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pad wears down, the wire grounds to the rotor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 brake pad warning light at the cluster</a:t>
            </a:r>
            <a:endParaRPr lang="en-US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 Attachment Methods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friction material is bonded to the backing plate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2743200" cy="3200400"/>
          </a:xfrm>
          <a:prstGeom prst="rect">
            <a:avLst/>
          </a:prstGeom>
          <a:solidFill>
            <a:srgbClr val="2B2B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463040"/>
            <a:ext cx="2743200" cy="365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Riveted</a:t>
            </a:r>
            <a:endParaRPr lang="en-US" sz="1300" dirty="0"/>
          </a:p>
        </p:txBody>
      </p:sp>
      <p:pic>
        <p:nvPicPr>
          <p:cNvPr id="14" name="Image 0" descr="Riveted brake pad showing copper or aluminum rivets attaching friction material to backing plate." title="Riveted brake pad showing copper or aluminum rivets attaching friction material to backing pla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2194560" cy="11887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320040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292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slight flex, dampens vibration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88620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292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Cracks form around rivet holes; older method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46120" y="1463040"/>
            <a:ext cx="2743200" cy="3200400"/>
          </a:xfrm>
          <a:prstGeom prst="rect">
            <a:avLst/>
          </a:prstGeom>
          <a:solidFill>
            <a:srgbClr val="2B2B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46120" y="1463040"/>
            <a:ext cx="2743200" cy="365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3756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Bonded</a:t>
            </a:r>
            <a:endParaRPr lang="en-US" sz="1300" dirty="0"/>
          </a:p>
        </p:txBody>
      </p:sp>
      <p:pic>
        <p:nvPicPr>
          <p:cNvPr id="22" name="Image 1" descr="Bonded brake pad with high-temperature adhesive joining friction material to backing plate." title="Bonded brake pad with high-temperature adhesive joining friction material to backing plat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920240"/>
            <a:ext cx="2194560" cy="11887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383280" y="320040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38328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service life, less likely to crack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383280" y="388620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MINUS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38328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Bonding can fail in extreme heat; can be noisier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126480" y="1463040"/>
            <a:ext cx="2743200" cy="3200400"/>
          </a:xfrm>
          <a:prstGeom prst="rect">
            <a:avLst/>
          </a:prstGeom>
          <a:solidFill>
            <a:srgbClr val="2B2B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26480" y="1463040"/>
            <a:ext cx="2743200" cy="365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21792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Mold Bonded</a:t>
            </a:r>
            <a:endParaRPr lang="en-US" sz="1300" dirty="0"/>
          </a:p>
        </p:txBody>
      </p:sp>
      <p:pic>
        <p:nvPicPr>
          <p:cNvPr id="30" name="Image 2" descr="Mold-bonded brake pad with friction material molded into holes in the backing plate plus adhesive bonding." title="Mold-bonded brake pad with friction material molded into holes in the backing plate plus adhesive bonding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2194560" cy="11887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263640" y="320040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626364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attachment; high performance use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263640" y="388620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MINUS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626364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expensive; combination of holes and adhesive</a:t>
            </a:r>
            <a:endParaRPr 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 Friction Material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compound to the use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4114800" cy="1371600"/>
          </a:xfrm>
          <a:prstGeom prst="rect">
            <a:avLst/>
          </a:prstGeom>
          <a:solidFill>
            <a:srgbClr val="2B2B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463040"/>
            <a:ext cx="64008" cy="137160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517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Semi-metallic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177393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of: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fibers, copper, brass, with resin and binders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stock daily drivers; good cold and hot performance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rotor wear; heavier dust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463040"/>
            <a:ext cx="4114800" cy="1371600"/>
          </a:xfrm>
          <a:prstGeom prst="rect">
            <a:avLst/>
          </a:prstGeom>
          <a:solidFill>
            <a:srgbClr val="2B2B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463040"/>
            <a:ext cx="64008" cy="137160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1517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 (Non-asbestos organic)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177393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of: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Glass, rubber, fibers, resin; no metal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Quiet, gentle on rotors; low dust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Fades faster under heavy or repeated heat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4114800" cy="1371600"/>
          </a:xfrm>
          <a:prstGeom prst="rect">
            <a:avLst/>
          </a:prstGeom>
          <a:solidFill>
            <a:srgbClr val="2B2B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26080"/>
            <a:ext cx="64008" cy="137160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980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Ceramic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323697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of: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Ceramic fibers with bonding agents and small amounts of metal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daily drivers; quiet, light dust, long life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cost; can require warm-up before peak bite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2926080"/>
            <a:ext cx="4114800" cy="1371600"/>
          </a:xfrm>
          <a:prstGeom prst="rect">
            <a:avLst/>
          </a:prstGeom>
          <a:solidFill>
            <a:srgbClr val="2B2B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926080"/>
            <a:ext cx="64008" cy="137160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2980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and carbon-metallic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82312" y="3236976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of: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fibers in a binder; sometimes with metal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Racing, jets, heavy-duty applications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out: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significant heat to work; not for street use</a:t>
            </a:r>
            <a:endParaRPr lang="en-US" sz="950" dirty="0"/>
          </a:p>
        </p:txBody>
      </p:sp>
      <p:sp>
        <p:nvSpPr>
          <p:cNvPr id="27" name="TextBox 26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CALIPERS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Caliper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Pistons on both sides of the rotor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pic>
        <p:nvPicPr>
          <p:cNvPr id="11" name="Image 0" descr="Fixed caliper assembly with two-piece body, multiple pistons on both sides of the rotor, and bleeder screw locations." title="Fixed caliper assembly with two-piece body, multiple pistons on both sides of the rotor, and bleeder screw location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3840480" cy="31546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434840" y="155448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Earliest disc design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since the 1950s on European sports cars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Two-piece body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in two halves bolted together with a fluid passage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Two, four, or six pistons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Pistons sit on both sides; rotor is squeezed equally without movement of the caliper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Rigidly mounted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bolts directly to the steering knuckle or hub carrier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heat absorption; resists hard repeated stops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on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cars, heavy trucks, motorcycles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CALIPERS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and Sliding Caliper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piston, caliper body moves on slide pins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pic>
        <p:nvPicPr>
          <p:cNvPr id="11" name="Image 0" descr="Floating caliper exploded view showing caliper body, anchor plate, guide pin, bushing, dust boot, piston, seal, brake pads, and anti-rattle clip." title="Floating caliper exploded view showing caliper body, anchor plate, guide pin, bushing, dust boot, piston, seal, brake pads, and anti-rattle clip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463040"/>
            <a:ext cx="4434840" cy="31546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155448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design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on the vast majority of passenger vehicles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floats on slide pins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bracket is bolted to the knuckle; caliper body slides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piston, both pads work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Piston pushes inboard pad; reaction draws caliper body and outboard pad against the rotor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cost, compact, simple construction, easy service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outs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Sticking slide pins cause uneven pad wear; cooling spreads to suspension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CALIPERS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Square-Cut Piston Seal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calipers self-adjust without a return spring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pic>
        <p:nvPicPr>
          <p:cNvPr id="11" name="Image 0" descr="Square-cut piston seal sequence showing seal deformation during apply and elastic return on release, compared to V-cut groove design." title="Square-cut piston seal sequence showing seal deformation during apply and elastic return on release, compared to V-cut groove desig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2743200" cy="32461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91840" y="15544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Apply: hydraulic pressure pushes the piston outward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square cut seal twists slightly, deforming with the piston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Release: stored energy in the seal pulls the piston back about 1/64 inch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Rotor knockback during cornering creates the small running clearance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pads wear, the piston repositions through the seal and stays there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no return spring needed, and pads self-adjust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3749040"/>
            <a:ext cx="5486400" cy="960120"/>
          </a:xfrm>
          <a:prstGeom prst="rect">
            <a:avLst/>
          </a:prstGeom>
          <a:solidFill>
            <a:srgbClr val="FFFBF0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3749040"/>
            <a:ext cx="64008" cy="96012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382219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0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RULE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456432" y="404164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open the bleeder before pushing a piston back. Otherwise you push contaminated fluid back through the ABS unit and master cylinder.</a:t>
            </a:r>
            <a:endParaRPr lang="en-US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ROTOR SERVICE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Rotor Inspection and Measurement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 A5 D.5  Determine serviceability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Thickness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 outside micrometer; compare to manufacturer minimum machine-to and discard specs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Thickness variation (parallelism)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at 6 to 8 points around the rotor; difference must be within spec, often under 0.001 inch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runout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Mounted on hub, dial indicator on friction surface; usually under 0.002 inch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condition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hot spots, scoring, glazing, hard spots, heat checks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554480"/>
            <a:ext cx="3246120" cy="3108960"/>
          </a:xfrm>
          <a:prstGeom prst="rect">
            <a:avLst/>
          </a:prstGeom>
          <a:solidFill>
            <a:srgbClr val="FFFBF0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554480"/>
            <a:ext cx="64008" cy="310896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16276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0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 YOU MUST FIND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42432" y="1847088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rotor has two thickness specs cast or stamped on it: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THK = minimum thickness, the legal limit for use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MACHINE-TO = the lowest you can refinish to and still leave wear material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MIN. THK = replace, not refinish.</a:t>
            </a:r>
            <a:endParaRPr lang="en-US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ROTOR SERVICE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Rotor Refinishing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vehicle vs off vehicle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463040"/>
            <a:ext cx="4160520" cy="3200400"/>
          </a:xfrm>
          <a:prstGeom prst="rect">
            <a:avLst/>
          </a:prstGeom>
          <a:solidFill>
            <a:srgbClr val="2B2B2B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463040"/>
            <a:ext cx="4160520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5087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VEHICLE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19202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On-Car Brake Lathe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228600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the rotor in place against its own hub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runout caused by hub or stud face buildup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risk of damaging hub during R and 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by many manufacturers from the factory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4160520" cy="3200400"/>
          </a:xfrm>
          <a:prstGeom prst="rect">
            <a:avLst/>
          </a:prstGeom>
          <a:solidFill>
            <a:srgbClr val="2B2B2B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463040"/>
            <a:ext cx="4160520" cy="41148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15087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THE VEHICLE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8032" y="19202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Lathe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228600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Rotor is removed and chucked on the lathe arbor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for shops without on-car equipment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face must be cleaned before reinstalling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Index-mark rotor to one stud for repeatable seating</a:t>
            </a:r>
            <a:endParaRPr lang="en-US" sz="1100" dirty="0"/>
          </a:p>
        </p:txBody>
      </p:sp>
      <p:sp>
        <p:nvSpPr>
          <p:cNvPr id="21" name="TextBox 20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CALIPER SERVICE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Caliper Service Points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 A5 D.1, D.2, D.4  Inspection and lubrication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pins and bushings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Pull, clean, inspect for corrosion and wear; lube with high-temp silicone synthetic only. The wrong grease swells the bushing and locks the pin.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Dust boots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every boot for tears, cuts, or fluid weeping. A torn boot lets water in and the piston rusts in place.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 abutments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anti-rattle clips; clean abutment surfaces; apply a thin film of brake lubricant where the pad ear contacts the bracket.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Piston retraction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caliper: open bleeder, push piston back with a C-clamp or piston tool. Never force fluid backwards through the system.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NOT to grease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lube the pad face, rotor face, or the wear sensor. Never use moly or chassis grease anywhere on a brake.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BRAKE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Parking Brake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Cable-actuated screw mechanism inside the caliper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pic>
        <p:nvPicPr>
          <p:cNvPr id="11" name="Image 0" descr="Integrated parking brake caliper cutaway showing internal screw mechanism, piston, lever, and cable connection." title="Integrated parking brake caliper cutaway showing internal screw mechanism, piston, lever, and cable connect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3017520" cy="32461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520440" y="15544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lever on the caliper turns a screw inside the piston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screw walks the piston outward to clamp the rotor mechanically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parking brake releases, the screw retracts but the piston stays adjusted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Square-cut seal still controls running clearance during normal braking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520440" y="3246120"/>
            <a:ext cx="5303520" cy="1417320"/>
          </a:xfrm>
          <a:prstGeom prst="rect">
            <a:avLst/>
          </a:prstGeom>
          <a:solidFill>
            <a:srgbClr val="FFFBF0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0440" y="3246120"/>
            <a:ext cx="64008" cy="141732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85032" y="33192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0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RETRACT THE PISTON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85032" y="3538728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calipers do not push back. The piston must be twisted clockwise as it is pressed in. Use the correct cube tool that matches the piston pattern. Forcing it with a C-clamp shears the internal mechanism.</a:t>
            </a:r>
            <a:endParaRPr lang="en-US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BRAKE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Parking Brake (EPB)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most vehicles built since 2015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electric motor on the caliper drives a gearbox and screw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receives a request from the EPB switch or system logic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traditional cable, lever, and integrated screw mechanism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supports auto-hold, hill-hold, and emergency dynamic apply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solidFill>
            <a:srgbClr val="FFFBF0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64008" cy="155448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82112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0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MODE IS REQUIRED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" y="3401568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pad replacement, the EPB must be commanded into Service Mode using a scan tool that supports it.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to retract the piston by hand will strip the actuator gears.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new pads are installed, command the EPB to recalibrate; some vehicles require an apply and release cycle plus a clutch or pedal sequence.</a:t>
            </a:r>
            <a:endParaRPr lang="en-US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BREAK-IN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Burnishing and Pad Break-In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 A5 D.10  Why the first 200 miles matter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pads start with a fresh surface and no transfer layer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Burnishing deposits a thin, even film of pad material on the rotor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even transfer layer is what gives smooth, quiet stops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Skipping the procedure causes uneven deposits, judder, and pulsation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554480"/>
            <a:ext cx="3246120" cy="3108960"/>
          </a:xfrm>
          <a:prstGeom prst="rect">
            <a:avLst/>
          </a:prstGeom>
          <a:solidFill>
            <a:srgbClr val="0D2B28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554480"/>
            <a:ext cx="64008" cy="3108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162763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PROCEDURE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42432" y="1847088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30 mph to 5 mph, moderate stop, ten times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50 mph to 5 mph, firm stop, three times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Drive without dragging the brakes for several minutes to cool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follow the pad manufacturer specification.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937760" cy="1143000"/>
          </a:xfrm>
          <a:prstGeom prst="rect">
            <a:avLst/>
          </a:prstGeom>
          <a:solidFill>
            <a:srgbClr val="FFFBF0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64008" cy="114300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59359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0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CUSTOMER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" y="381304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customer the burnish-in instructions when you hand back the keys. If they hard-brake from highway speed on the way home, they will be back with a pulsation complaint.</a:t>
            </a:r>
            <a:endParaRPr lang="en-US" sz="1100" dirty="0"/>
          </a:p>
        </p:txBody>
      </p:sp>
      <p:sp>
        <p:nvSpPr>
          <p:cNvPr id="20" name="TextBox 19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Diagnosing Disc Brake Concerns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 A5 D.11  Match the symptom to the likely cause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8412480" cy="365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16002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CAUSE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8412480" cy="393192"/>
          </a:xfrm>
          <a:prstGeom prst="rect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751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Pedal pulsation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08960" y="197510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Rotor thickness variation; lateral runout out of spec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8412480" cy="393192"/>
          </a:xfrm>
          <a:prstGeom prst="rect">
            <a:avLst/>
          </a:prstGeom>
          <a:solidFill>
            <a:srgbClr val="1A1A1A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865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Pulling to one side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08960" y="238658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Sticking caliper or seized slide pin on the opposite side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8412480" cy="393192"/>
          </a:xfrm>
          <a:prstGeom prst="rect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980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or running hot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08960" y="279806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piston, sticking pin, or restricted hose acting as one-way valve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8412480" cy="393192"/>
          </a:xfrm>
          <a:prstGeom prst="rect">
            <a:avLst/>
          </a:prstGeom>
          <a:solidFill>
            <a:srgbClr val="1A1A1A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0954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Squeal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08960" y="320954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Glazed pads, missing shim, or worn anti-rattle hardware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8412480" cy="393192"/>
          </a:xfrm>
          <a:prstGeom prst="rect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21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08960" y="362102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Pads worn through; metal-on-metal contact with rotor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977640"/>
            <a:ext cx="8412480" cy="393192"/>
          </a:xfrm>
          <a:prstGeom prst="rect">
            <a:avLst/>
          </a:prstGeom>
          <a:solidFill>
            <a:srgbClr val="1A1A1A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325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Grabbing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08960" y="403250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Contaminated pad face or scored rotor surface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389120"/>
            <a:ext cx="8412480" cy="393192"/>
          </a:xfrm>
          <a:prstGeom prst="rect">
            <a:avLst/>
          </a:prstGeom>
          <a:solidFill>
            <a:srgbClr val="2B2B2B"/>
          </a:solidFill>
          <a:ln w="6350">
            <a:solidFill>
              <a:srgbClr val="2B2B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4439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or sinking pedal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108960" y="444398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in system, internal master cylinder leak, or hose ballooning</a:t>
            </a:r>
            <a:endParaRPr lang="en-US" sz="1050" dirty="0"/>
          </a:p>
        </p:txBody>
      </p:sp>
      <p:sp>
        <p:nvSpPr>
          <p:cNvPr id="35" name="TextBox 34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Hybrids, EVs, and Brake-by-Wire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when the friction brake is the backup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Regenerative braking does most of the work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light braking is electric; friction brakes only finish the stop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use means more rust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pads can stick to rotors; surface rust forms on rotor friction face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Pads can glaze early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enough heat cycles, pad transfer layer never properly forms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mode is mandatory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regen-capable vehicles require a scan tool routine before pad service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Brake-by-wire pedal feel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Pedal feeds a sensor; there is no direct hydraulic feel until backup mode engages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  ·  AUTOA 123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0" y="16459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UP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0"/>
          </a:xfrm>
          <a:prstGeom prst="line">
            <a:avLst/>
          </a:prstGeom>
          <a:noFill/>
          <a:ln w="9525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Up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" cy="45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recap and what comes next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63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·  Brakes  ·  Lecture 3 of 4  ·  Shoreline Community College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4864608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Avery-Graff  ·  aavery@shoreline.edu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clamping force on both rotor faces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Square-cut seal handles return and self-adjust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pad compound to the use case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measure: thickness, variation, runout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the slide pins, not just the pads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Burnish in or you will see them again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3931920" cy="1463040"/>
          </a:xfrm>
          <a:prstGeom prst="rect">
            <a:avLst/>
          </a:prstGeom>
          <a:solidFill>
            <a:srgbClr val="0D2B28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554480"/>
            <a:ext cx="64008" cy="1463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16276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IN LAB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10912" y="1847088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 brake System Basics on the assigned vehicle. You will measure rotor thickness, variation, and runout, and inspect caliper hardware. Pull both calipers, inspect, lube, and reinstall.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108960"/>
            <a:ext cx="3931920" cy="1554480"/>
          </a:xfrm>
          <a:prstGeom prst="rect">
            <a:avLst/>
          </a:prstGeom>
          <a:solidFill>
            <a:srgbClr val="FFFBF0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108960"/>
            <a:ext cx="64008" cy="155448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182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0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RESOURCES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10912" y="3401568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slides PDF in Canvas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 brake micro lessons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Diagnosis quiz unlocks after lecture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ShopKey: pull torque specs and rotor min thickness for your vehicle before lab</a:t>
            </a:r>
            <a:endParaRPr lang="en-US" sz="1100" dirty="0"/>
          </a:p>
        </p:txBody>
      </p:sp>
      <p:sp>
        <p:nvSpPr>
          <p:cNvPr id="21" name="TextBox 20"/>
          <p:cNvSpPr txBox="1"/>
          <p:nvPr/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88888"/>
                </a:solidFill>
                <a:latin typeface="Arial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 Brakes</dc:title>
  <dc:subject>AUTOA 123 - Brakes Unit</dc:subject>
  <dc:creator>Amber Avery-Graff</dc:creator>
  <cp:lastModifiedBy>Amber Avery-Graff</cp:lastModifiedBy>
  <cp:revision>1</cp:revision>
  <dcterms:created xsi:type="dcterms:W3CDTF">2026-05-07T13:46:33Z</dcterms:created>
  <dcterms:modified xsi:type="dcterms:W3CDTF">2026-05-07T13:46:33Z</dcterms:modified>
</cp:coreProperties>
</file>