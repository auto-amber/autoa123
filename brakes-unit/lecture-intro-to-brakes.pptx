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2-1.jpg" ContentType="image/jpg"/>
  <Override PartName="/ppt/media/image-13-1.jpg" ContentType="image/jpg"/>
  <Override PartName="/ppt/media/image-2-1.jpg" ContentType="image/jpg"/>
  <Override PartName="/ppt/media/image-2-3.jpg" ContentType="image/jpg"/>
  <Override PartName="/ppt/media/image-3-2.jpg" ContentType="image/jpg"/>
  <Override PartName="/ppt/media/image-3-3.jpg" ContentType="image/jpg"/>
  <Override PartName="/ppt/media/image-4-1.jpg" ContentType="image/jpg"/>
  <Override PartName="/ppt/media/image-8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eg"/><Relationship Id="rId3" Type="http://schemas.openxmlformats.org/officeDocument/2006/relationships/image" Target="../media/image-2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0"/>
            <a:ext cx="73152" cy="21945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AUTOMOTIVE TECHNOLOGY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 123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Brakes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Brake system components and operation  •  Road testing  •  Braking concerns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Shoreline Community College  |  Amber Avery-Graff</a:t>
            </a:r>
            <a:endParaRPr lang="en-US" sz="1000" dirty="0"/>
          </a:p>
        </p:txBody>
      </p:sp>
      <p:sp>
        <p:nvSpPr>
          <p:cNvPr id="10" name="TextBox 9"/>
          <p:cNvSpPr txBox="1"/>
          <p:nvPr/>
        </p:nvSpPr>
        <p:spPr>
          <a:xfrm>
            <a:off x="8229600" y="4846320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88888"/>
                </a:solidFill>
                <a:latin typeface="Arial"/>
              </a:rP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48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29260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Protective Equipment</a:t>
            </a:r>
            <a:endParaRPr lang="en-US" sz="2000" dirty="0"/>
          </a:p>
        </p:txBody>
      </p:sp>
      <p:pic>
        <p:nvPicPr>
          <p:cNvPr id="6" name="Image 0" descr="/home/claude/brakes-lectures/intro-images/image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914400"/>
            <a:ext cx="2560320" cy="2926080"/>
          </a:xfrm>
          <a:prstGeom prst="rect">
            <a:avLst/>
          </a:prstGeom>
        </p:spPr>
      </p:pic>
      <p:pic>
        <p:nvPicPr>
          <p:cNvPr id="7" name="Image 1" descr="/home/claude/brakes-lectures/intro-images/image5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914400"/>
            <a:ext cx="2560320" cy="2926080"/>
          </a:xfrm>
          <a:prstGeom prst="rect">
            <a:avLst/>
          </a:prstGeom>
        </p:spPr>
      </p:pic>
      <p:pic>
        <p:nvPicPr>
          <p:cNvPr id="8" name="Image 2" descr="/home/claude/brakes-lectures/intro-images/image6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914400"/>
            <a:ext cx="2560320" cy="29260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20040" y="38862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Safety-toed boots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at all times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3246120" y="38862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glasses, gloves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dust mask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6172200" y="38862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uniform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-- part of grade</a:t>
            </a:r>
            <a:endParaRPr lang="en-US" sz="1100" dirty="0"/>
          </a:p>
        </p:txBody>
      </p:sp>
      <p:sp>
        <p:nvSpPr>
          <p:cNvPr id="12" name="TextBox 11"/>
          <p:cNvSpPr txBox="1"/>
          <p:nvPr/>
        </p:nvSpPr>
        <p:spPr>
          <a:xfrm>
            <a:off x="8229600" y="4846320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88888"/>
                </a:solidFill>
                <a:latin typeface="Arial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48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29260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 Brake Dust Safely</a:t>
            </a:r>
            <a:endParaRPr lang="en-US" sz="2000" dirty="0"/>
          </a:p>
        </p:txBody>
      </p:sp>
      <p:pic>
        <p:nvPicPr>
          <p:cNvPr id="6" name="Image 0" descr="/home/claude/brakes-lectures/intro-images/image7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914400"/>
            <a:ext cx="2560320" cy="2560320"/>
          </a:xfrm>
          <a:prstGeom prst="rect">
            <a:avLst/>
          </a:prstGeom>
        </p:spPr>
      </p:pic>
      <p:pic>
        <p:nvPicPr>
          <p:cNvPr id="7" name="Image 1" descr="/home/claude/brakes-lectures/intro-images/image8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914400"/>
            <a:ext cx="2560320" cy="2560320"/>
          </a:xfrm>
          <a:prstGeom prst="rect">
            <a:avLst/>
          </a:prstGeom>
        </p:spPr>
      </p:pic>
      <p:pic>
        <p:nvPicPr>
          <p:cNvPr id="8" name="Image 2" descr="/home/claude/brakes-lectures/intro-images/image9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914400"/>
            <a:ext cx="2560320" cy="2560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20040" y="3520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blow with air gun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3246120" y="3520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HEPA shop vac instead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6172200" y="3520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wipe with damp rags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320040" y="3931920"/>
            <a:ext cx="8503920" cy="822960"/>
          </a:xfrm>
          <a:prstGeom prst="rect">
            <a:avLst/>
          </a:prstGeom>
          <a:solidFill>
            <a:srgbClr val="FFF3F3"/>
          </a:solidFill>
          <a:ln w="19050">
            <a:solidFill>
              <a:srgbClr val="CC0000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11480" y="397764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use compressed air to blow brake dust -- older vehicles may contain asbestos. Use a HEPA shop vac or brake cleaner spray.</a:t>
            </a:r>
            <a:endParaRPr lang="en-US" sz="1100" dirty="0"/>
          </a:p>
        </p:txBody>
      </p:sp>
      <p:sp>
        <p:nvSpPr>
          <p:cNvPr id="14" name="TextBox 13"/>
          <p:cNvSpPr txBox="1"/>
          <p:nvPr/>
        </p:nvSpPr>
        <p:spPr>
          <a:xfrm>
            <a:off x="8229600" y="4846320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88888"/>
                </a:solidFill>
                <a:latin typeface="Arial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48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29260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Chemical Safety -- Brake Fluid Is Toxic</a:t>
            </a:r>
            <a:endParaRPr lang="en-US" sz="2000" dirty="0"/>
          </a:p>
        </p:txBody>
      </p:sp>
      <p:pic>
        <p:nvPicPr>
          <p:cNvPr id="6" name="Image 0" descr="/home/claude/brakes-lectures/intro-images/image1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37760" y="914400"/>
            <a:ext cx="3840480" cy="2834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960120"/>
            <a:ext cx="42976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Brake fluid is TOXIC -- treat it as a hazardous chemical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 contact: flush immediately with water, seek medical attention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Skin contact: wash thoroughly with soap and water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use the fluid specified for the vehicle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set an open container on a painted surface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where the SDS sheets are in the shop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" y="3840480"/>
            <a:ext cx="8321040" cy="685800"/>
          </a:xfrm>
          <a:prstGeom prst="rect">
            <a:avLst/>
          </a:prstGeom>
          <a:solidFill>
            <a:srgbClr val="FFF3F3"/>
          </a:solidFill>
          <a:ln w="19050">
            <a:solidFill>
              <a:srgbClr val="CC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388620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Brake fluid destroys automotive paint on contact. One spill can cause thousands in damage.</a:t>
            </a:r>
            <a:endParaRPr lang="en-US" sz="1100" dirty="0"/>
          </a:p>
        </p:txBody>
      </p:sp>
      <p:sp>
        <p:nvSpPr>
          <p:cNvPr id="10" name="TextBox 9"/>
          <p:cNvSpPr txBox="1"/>
          <p:nvPr/>
        </p:nvSpPr>
        <p:spPr>
          <a:xfrm>
            <a:off x="8229600" y="4846320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88888"/>
                </a:solidFill>
                <a:latin typeface="Arial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48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 BRAKE SYSTEM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29260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 Brake Components</a:t>
            </a:r>
            <a:endParaRPr lang="en-US" sz="2000" dirty="0"/>
          </a:p>
        </p:txBody>
      </p:sp>
      <p:pic>
        <p:nvPicPr>
          <p:cNvPr id="6" name="Image 0" descr="/home/claude/brakes-lectures/intro-images/image1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68680"/>
            <a:ext cx="5029200" cy="3566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40680" y="960120"/>
            <a:ext cx="33832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Rotor -- rotating friction surface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Caliper body -- houses pistons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Piston &amp; piston seal -- applies force, retracts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Brake pad -- friction material on steel backing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Shim -- reduces noise and vibration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 pins -- allow caliper to float and center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Bleeder screw -- purge air from system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Mounting bracket -- bolts to knuckle</a:t>
            </a:r>
            <a:endParaRPr lang="en-US" sz="1300" dirty="0"/>
          </a:p>
        </p:txBody>
      </p:sp>
      <p:sp>
        <p:nvSpPr>
          <p:cNvPr id="8" name="TextBox 7"/>
          <p:cNvSpPr txBox="1"/>
          <p:nvPr/>
        </p:nvSpPr>
        <p:spPr>
          <a:xfrm>
            <a:off x="8229600" y="4846320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88888"/>
                </a:solidFill>
                <a:latin typeface="Arial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48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OPERATION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29260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Brake System Works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4160520" cy="1188720"/>
          </a:xfrm>
          <a:prstGeom prst="rect">
            <a:avLst/>
          </a:prstGeom>
          <a:solidFill>
            <a:srgbClr val="F8FDFC"/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914400"/>
            <a:ext cx="411480" cy="11887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3444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0058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presses pedal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4173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Mechanical force applied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240280"/>
            <a:ext cx="4160520" cy="1188720"/>
          </a:xfrm>
          <a:prstGeom prst="rect">
            <a:avLst/>
          </a:prstGeom>
          <a:solidFill>
            <a:srgbClr val="F8FDFC"/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240280"/>
            <a:ext cx="411480" cy="11887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56032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23317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cylinder pressurizes fluid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274320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converts to hydraulic pressure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566160"/>
            <a:ext cx="4160520" cy="1188720"/>
          </a:xfrm>
          <a:prstGeom prst="rect">
            <a:avLst/>
          </a:prstGeom>
          <a:solidFill>
            <a:srgbClr val="F8FDFC"/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566160"/>
            <a:ext cx="411480" cy="11887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88620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36576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 flows to calipers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40690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deliver pressure to each corner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914400"/>
            <a:ext cx="4160520" cy="1188720"/>
          </a:xfrm>
          <a:prstGeom prst="rect">
            <a:avLst/>
          </a:prstGeom>
          <a:solidFill>
            <a:srgbClr val="F8FDFC"/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914400"/>
            <a:ext cx="411480" cy="11887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23444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166360" y="10058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Pistons clamp pads to rotor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66360" y="14173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Friction material contacts rotor/drum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2240280"/>
            <a:ext cx="4160520" cy="1188720"/>
          </a:xfrm>
          <a:prstGeom prst="rect">
            <a:avLst/>
          </a:prstGeom>
          <a:solidFill>
            <a:srgbClr val="F8FDFC"/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2240280"/>
            <a:ext cx="411480" cy="11887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256032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166360" y="23317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Friction slows the vehicle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66360" y="274320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Kinetic energy converts to heat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3566160"/>
            <a:ext cx="4160520" cy="1188720"/>
          </a:xfrm>
          <a:prstGeom prst="rect">
            <a:avLst/>
          </a:prstGeom>
          <a:solidFill>
            <a:srgbClr val="F8FDFC"/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3566160"/>
            <a:ext cx="411480" cy="11887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388620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166360" y="36576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Pedal released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166360" y="40690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 drops, system returns to rest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" y="4800600"/>
            <a:ext cx="8503920" cy="246888"/>
          </a:xfrm>
          <a:prstGeom prst="rect">
            <a:avLst/>
          </a:prstGeom>
          <a:solidFill>
            <a:srgbClr val="F0FAF8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846320"/>
            <a:ext cx="8321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chain: Mechanical Force  →  Hydraulic Pressure  →  Friction  →  Deceleration</a:t>
            </a:r>
            <a:endParaRPr lang="en-US" sz="1100" dirty="0"/>
          </a:p>
        </p:txBody>
      </p:sp>
      <p:sp>
        <p:nvSpPr>
          <p:cNvPr id="38" name="TextBox 37"/>
          <p:cNvSpPr txBox="1"/>
          <p:nvPr/>
        </p:nvSpPr>
        <p:spPr>
          <a:xfrm>
            <a:off x="8229600" y="4846320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88888"/>
                </a:solidFill>
                <a:latin typeface="Arial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48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REQUIREMENTS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29260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Brake System Must Do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equal force to both sides of the vehicle to prevent pulling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hydraulic control valves to maximize stopping force without wheel lockup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hydraulic fluid that will not evaporate, freeze, or boil under normal conditions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Friction material must not contain asbestos -- exercise caution with older vehicles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solidFill>
            <a:srgbClr val="FFFBF0"/>
          </a:solidFill>
          <a:ln w="19050">
            <a:solidFill>
              <a:srgbClr val="E9A8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2062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Asbestos warning: Some pre-1980s brake pads may still contain asbestos. Always use a HEPA vacuum and avoid blowing dust.</a:t>
            </a:r>
            <a:endParaRPr lang="en-US" sz="1100" dirty="0"/>
          </a:p>
        </p:txBody>
      </p:sp>
      <p:sp>
        <p:nvSpPr>
          <p:cNvPr id="9" name="TextBox 8"/>
          <p:cNvSpPr txBox="1"/>
          <p:nvPr/>
        </p:nvSpPr>
        <p:spPr>
          <a:xfrm>
            <a:off x="8229600" y="4846320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88888"/>
                </a:solidFill>
                <a:latin typeface="Arial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48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CALIPER TYPES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29260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Floating Caliper</a:t>
            </a:r>
            <a:endParaRPr lang="en-US" sz="2000" dirty="0"/>
          </a:p>
        </p:txBody>
      </p:sp>
      <p:pic>
        <p:nvPicPr>
          <p:cNvPr id="6" name="Image 0" descr="/home/claude/brakes-lectures/intro-images/image1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868680"/>
            <a:ext cx="4069080" cy="3200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960120"/>
            <a:ext cx="4160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Moves freely on an anchor plate using guide pins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 pushes the inboard pad to the rotor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Reaction force slides caliper body, applying outboard pad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Typically 1 to 2 pistons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" y="3063240"/>
            <a:ext cx="1920240" cy="822960"/>
          </a:xfrm>
          <a:prstGeom prst="rect">
            <a:avLst/>
          </a:prstGeom>
          <a:solidFill>
            <a:srgbClr val="E8F8F5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3063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11480" y="33375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cost, compact design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514600" y="3063240"/>
            <a:ext cx="2011680" cy="822960"/>
          </a:xfrm>
          <a:prstGeom prst="rect">
            <a:avLst/>
          </a:prstGeom>
          <a:solidFill>
            <a:srgbClr val="FFF5F5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14600" y="3063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514600" y="3337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flex, potential spongy pedal, uneven pad wear</a:t>
            </a:r>
            <a:endParaRPr lang="en-US" sz="1100" dirty="0"/>
          </a:p>
        </p:txBody>
      </p:sp>
      <p:sp>
        <p:nvSpPr>
          <p:cNvPr id="14" name="TextBox 13"/>
          <p:cNvSpPr txBox="1"/>
          <p:nvPr/>
        </p:nvSpPr>
        <p:spPr>
          <a:xfrm>
            <a:off x="8229600" y="4846320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88888"/>
                </a:solidFill>
                <a:latin typeface="Arial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48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CALIPER TYPES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29260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Floating Caliper -- In Motion</a:t>
            </a:r>
            <a:endParaRPr lang="en-US" sz="2000" dirty="0"/>
          </a:p>
        </p:txBody>
      </p:sp>
      <p:pic>
        <p:nvPicPr>
          <p:cNvPr id="6" name="Image 0" descr="/home/claude/brakes-lectures/intro-images/image13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914400"/>
            <a:ext cx="4389120" cy="3291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37760" y="960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Reference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937760" y="13258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how the piston pushes the inboard pad and the caliper body reacts to apply the outboard pad.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937760" y="2103120"/>
            <a:ext cx="3840480" cy="411480"/>
          </a:xfrm>
          <a:prstGeom prst="rect">
            <a:avLst/>
          </a:prstGeom>
          <a:solidFill>
            <a:srgbClr val="F0FAF8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0" y="2148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youtube.com/watch?v=Au_SRabG_64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937760" y="269748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caliper MOVES -- that movement is what applies the outer pad. Sticky guide pins = uneven pad wear.</a:t>
            </a:r>
            <a:endParaRPr lang="en-US" sz="1200" dirty="0"/>
          </a:p>
        </p:txBody>
      </p:sp>
      <p:sp>
        <p:nvSpPr>
          <p:cNvPr id="12" name="TextBox 11"/>
          <p:cNvSpPr txBox="1"/>
          <p:nvPr/>
        </p:nvSpPr>
        <p:spPr>
          <a:xfrm>
            <a:off x="8229600" y="4846320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88888"/>
                </a:solidFill>
                <a:latin typeface="Arial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48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CALIPER TYPES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29260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Caliper</a:t>
            </a:r>
            <a:endParaRPr lang="en-US" sz="2000" dirty="0"/>
          </a:p>
        </p:txBody>
      </p:sp>
      <p:pic>
        <p:nvPicPr>
          <p:cNvPr id="6" name="Image 0" descr="/home/claude/brakes-lectures/intro-images/image14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868680"/>
            <a:ext cx="4069080" cy="2560320"/>
          </a:xfrm>
          <a:prstGeom prst="rect">
            <a:avLst/>
          </a:prstGeom>
        </p:spPr>
      </p:pic>
      <p:pic>
        <p:nvPicPr>
          <p:cNvPr id="7" name="Image 1" descr="/home/claude/brakes-lectures/intro-images/image15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3520440"/>
            <a:ext cx="4069080" cy="1371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" y="960120"/>
            <a:ext cx="4160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NOT move -- bolted rigidly to knuckle or trailing arm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 4, or 6 pistons -- equal numbers on each side of rotor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Pistons apply equal clamping force on both sides simultaneously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11480" y="2743200"/>
            <a:ext cx="2011680" cy="822960"/>
          </a:xfrm>
          <a:prstGeom prst="rect">
            <a:avLst/>
          </a:prstGeom>
          <a:solidFill>
            <a:srgbClr val="E8F8F5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11480" y="2743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11480" y="3017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heat dissipation, heavy-duty use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606040" y="2743200"/>
            <a:ext cx="1965960" cy="822960"/>
          </a:xfrm>
          <a:prstGeom prst="rect">
            <a:avLst/>
          </a:prstGeom>
          <a:solidFill>
            <a:srgbClr val="FFF5F5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606040" y="27432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2606040" y="30175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Heavier, harder to service, higher leak potential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749040"/>
          <a:ext cx="4206240" cy="118872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</a:tblGrid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Floating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Pistons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1-2 (one side)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2-4-6 (both sides)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Moves?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-- slides on pins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-- rigid mount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Use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Everyday vehicles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Performance / trucks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8229600" y="4846320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88888"/>
                </a:solidFill>
                <a:latin typeface="Arial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48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DRUM BRAKE SYSTEM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29260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Drum Brake Components</a:t>
            </a:r>
            <a:endParaRPr lang="en-US" sz="2000" dirty="0"/>
          </a:p>
        </p:txBody>
      </p:sp>
      <p:pic>
        <p:nvPicPr>
          <p:cNvPr id="6" name="Image 0" descr="/home/claude/brakes-lectures/intro-images/image1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68680"/>
            <a:ext cx="5029200" cy="3566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94960" y="960120"/>
            <a:ext cx="3429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Brake shoes (primary + secondary)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 cylinder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springs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adjuster (self-adjusting)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Drum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Backing plate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Parking brake lever and cable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0040" y="4572000"/>
            <a:ext cx="8503920" cy="457200"/>
          </a:xfrm>
          <a:prstGeom prst="rect">
            <a:avLst/>
          </a:prstGeom>
          <a:solidFill>
            <a:srgbClr val="FFFBF0"/>
          </a:solidFill>
          <a:ln w="19050">
            <a:solidFill>
              <a:srgbClr val="E9A82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461772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Drum brakes are a PREREQUISITE SKILL in this program. We do not run drum brake labs. If this is new content to you -- study it independently. A micro lesson is available in the Study Hub.</a:t>
            </a:r>
            <a:endParaRPr lang="en-US" sz="1100" dirty="0"/>
          </a:p>
        </p:txBody>
      </p:sp>
      <p:sp>
        <p:nvSpPr>
          <p:cNvPr id="10" name="TextBox 9"/>
          <p:cNvSpPr txBox="1"/>
          <p:nvPr/>
        </p:nvSpPr>
        <p:spPr>
          <a:xfrm>
            <a:off x="8229600" y="4846320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88888"/>
                </a:solidFill>
                <a:latin typeface="Arial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48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HYDRAULIC CONTROL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29260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Brake Balancing Control Systems</a:t>
            </a:r>
            <a:endParaRPr lang="en-US" sz="2000" dirty="0"/>
          </a:p>
        </p:txBody>
      </p:sp>
      <p:pic>
        <p:nvPicPr>
          <p:cNvPr id="6" name="Image 0" descr="/home/claude/brakes-lectures/intro-images/image1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20" y="868680"/>
            <a:ext cx="3017520" cy="2743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960120"/>
            <a:ext cx="51206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Metering valve -- delays front disc until rear drums engage (RWD)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Proportioning valve -- limits rear pressure during hard stops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Height sensing proportioning valve -- adjusts for vehicle load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Combination valve -- metering + proportioning + pressure differential in one (RWD)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 -- electronically prevents wheel lockup at each corner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" y="4114800"/>
            <a:ext cx="8321040" cy="457200"/>
          </a:xfrm>
          <a:prstGeom prst="rect">
            <a:avLst/>
          </a:prstGeom>
          <a:solidFill>
            <a:srgbClr val="F0FAF8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416052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Covered in depth in the next lecture: Valves, Switches &amp; Brake Fluid</a:t>
            </a:r>
            <a:endParaRPr lang="en-US" sz="1100" dirty="0"/>
          </a:p>
        </p:txBody>
      </p:sp>
      <p:sp>
        <p:nvSpPr>
          <p:cNvPr id="10" name="TextBox 9"/>
          <p:cNvSpPr txBox="1"/>
          <p:nvPr/>
        </p:nvSpPr>
        <p:spPr>
          <a:xfrm>
            <a:off x="8229600" y="4846320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88888"/>
                </a:solidFill>
                <a:latin typeface="Arial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48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29260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Identifying the Customer Concern</a:t>
            </a:r>
            <a:endParaRPr lang="en-US" sz="2000" dirty="0"/>
          </a:p>
        </p:txBody>
      </p:sp>
      <p:pic>
        <p:nvPicPr>
          <p:cNvPr id="6" name="Image 0" descr="/home/claude/brakes-lectures/intro-images/image1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0" y="868680"/>
            <a:ext cx="3337560" cy="2926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960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Customer Concern?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11480" y="1417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it be...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11480" y="16916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Felt -- vibration, pulsation, pulling, hard/spongy pedal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Heard -- squealing, grinding, clicking, scraping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Smelled -- burning odor (overheating, seized caliper)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28803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does it occur?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11480" y="315468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mornings only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driving a long time (heat-related)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braking only vs. light braking</a:t>
            </a:r>
            <a:endParaRPr lang="en-US" sz="1300" dirty="0"/>
          </a:p>
        </p:txBody>
      </p:sp>
      <p:sp>
        <p:nvSpPr>
          <p:cNvPr id="12" name="TextBox 11"/>
          <p:cNvSpPr txBox="1"/>
          <p:nvPr/>
        </p:nvSpPr>
        <p:spPr>
          <a:xfrm>
            <a:off x="8229600" y="4846320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88888"/>
                </a:solidFill>
                <a:latin typeface="Arial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48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 REFERENCE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29260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Braking Concerns and Likely Causes</a:t>
            </a:r>
            <a:endParaRPr lang="en-US" sz="2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68680"/>
          <a:ext cx="8503920" cy="4206240"/>
        </p:xfrm>
        <a:graphic>
          <a:graphicData uri="http://schemas.openxmlformats.org/drawingml/2006/table">
            <a:tbl>
              <a:tblPr/>
              <a:tblGrid>
                <a:gridCol w="3474720"/>
                <a:gridCol w="5029200"/>
              </a:tblGrid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A9D8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Concern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A9D8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Likely Cause(s)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Noise (squeal, grind, scrape)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pads, shifted shims, rust on rotor, seized component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Pedal vibration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Rotor lateral runout or thickness variation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Steering vibration during braking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 rotor runout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 or spongy pedal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Air in lines, leak, failed master cylinder or caliper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Burning odor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Overheating -- usually a seized caliper preventing retraction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BRAKE / ABS / TRAC warning light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Many causes -- requires scan tool diagnosis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Pulling to one side when braking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Seized caliper, contaminated pad, collapsed hose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8229600" y="4846320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88888"/>
                </a:solidFill>
                <a:latin typeface="Arial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48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TESTING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29260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Verifying Brake System Operation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you understand the concern, attempt to DUPLICATE it on the road test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attention to driving parameters -- speed, braking force, temperature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duplicated, confirm it is a braking issue and not tires, suspension, or wheel bearing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thorough road test must be performed AFTER all repairs before returning the vehicle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429000"/>
            <a:ext cx="8229600" cy="548640"/>
          </a:xfrm>
          <a:prstGeom prst="rect">
            <a:avLst/>
          </a:prstGeom>
          <a:solidFill>
            <a:srgbClr val="F0FAF8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4747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 must be verified as part of every brake road test. ABS should activate during a controlled hard stop on a safe surface.</a:t>
            </a:r>
            <a:endParaRPr lang="en-US" sz="1100" dirty="0"/>
          </a:p>
        </p:txBody>
      </p:sp>
      <p:sp>
        <p:nvSpPr>
          <p:cNvPr id="9" name="TextBox 8"/>
          <p:cNvSpPr txBox="1"/>
          <p:nvPr/>
        </p:nvSpPr>
        <p:spPr>
          <a:xfrm>
            <a:off x="8229600" y="4846320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88888"/>
                </a:solidFill>
                <a:latin typeface="Arial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48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TESTING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29260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Brake Test Procedures (FMVSS)</a:t>
            </a:r>
            <a:endParaRPr lang="en-US" sz="2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68680"/>
          <a:ext cx="8503920" cy="4206240"/>
        </p:xfrm>
        <a:graphic>
          <a:graphicData uri="http://schemas.openxmlformats.org/drawingml/2006/table">
            <a:tbl>
              <a:tblPr/>
              <a:tblGrid>
                <a:gridCol w="2743200"/>
                <a:gridCol w="5760720"/>
              </a:tblGrid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A9D8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A9D8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Verifies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Burnishing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 stops from 50 mph -- seats new pads and rotors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Cold effectiveness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Adequate stopping power when linings are cold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speed effectiveness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Adequate stopping under load at speed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Engine off stops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Stops in 230 ft from 62 mph with no power assist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ABS functional failure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Warning light illuminates with simulated failure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Parking brake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Holds vehicle on 20% grade for 5 minutes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Brake heat test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Brakes function correctly after heat soak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8229600" y="4846320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88888"/>
                </a:solidFill>
                <a:latin typeface="Arial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Brakes</dc:title>
  <dc:subject>PptxGenJS Presentation</dc:subject>
  <dc:creator>Amber Avery-Graff</dc:creator>
  <cp:lastModifiedBy>Amber Avery-Graff</cp:lastModifiedBy>
  <cp:revision>1</cp:revision>
  <dcterms:created xsi:type="dcterms:W3CDTF">2026-04-30T13:21:53Z</dcterms:created>
  <dcterms:modified xsi:type="dcterms:W3CDTF">2026-04-30T13:21:53Z</dcterms:modified>
</cp:coreProperties>
</file>