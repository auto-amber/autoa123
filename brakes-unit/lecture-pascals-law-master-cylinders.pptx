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109728" cy="501548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AUTOMOTIVE TECHNOLOGY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691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AUTOA 123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274320" y="2487168"/>
            <a:ext cx="3657600" cy="36576"/>
          </a:xfrm>
          <a:prstGeom prst="rect">
            <a:avLst/>
          </a:prstGeom>
          <a:solidFill>
            <a:srgbClr val="E9A825"/>
          </a:solidFill>
          <a:ln w="12700">
            <a:solidFill>
              <a:srgbClr val="E9A8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578608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Pascal's Law and Master Cylinders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74320" y="32918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Brake pedal height, travel, and free-play  |  Master cylinder diagnosing, servicing, and R&amp;R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4434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Brakes  |  Day 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965192"/>
            <a:ext cx="9144000" cy="274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4965192"/>
            <a:ext cx="777240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AUTOA 123  |  Brakes  |  Pascal's Law and Master Cylinders  |  Shoreline Community College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8275320" y="4974336"/>
            <a:ext cx="594360" cy="1600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4974336"/>
            <a:ext cx="594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24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217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Pascal's Law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Hydraulic Principles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Blaise Pascal  |  1632 -- 1662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1005840"/>
          </a:xfrm>
          <a:prstGeom prst="rect">
            <a:avLst/>
          </a:prstGeom>
          <a:solidFill>
            <a:srgbClr val="F0FAF8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97280"/>
            <a:ext cx="64008" cy="10058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0972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"When force is applied to a liquid confined in a container or enclosure, the pressure is transmitted equally and undiminished in every direction."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240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means for brakes: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606040"/>
            <a:ext cx="84124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Pressure created at the master cylinder travels equally to every wheel cylinder and caliper.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piston sizes allow us to multiply or reduce force as needed.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10 lbs on a 1 sq.in. piston = 10 psi. That 10 psi is present at every wheel.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965192"/>
            <a:ext cx="9144000" cy="274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" y="4965192"/>
            <a:ext cx="777240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AUTOA 123  |  Brakes  |  Pascal's Law and Master Cylinders  |  Shoreline Community College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8275320" y="4974336"/>
            <a:ext cx="594360" cy="1600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5320" y="4974336"/>
            <a:ext cx="594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24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217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Pascal's Law  --  The Formulas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Hydraulic Principles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8412480" cy="1097280"/>
          </a:xfrm>
          <a:prstGeom prst="rect">
            <a:avLst/>
          </a:prstGeom>
          <a:solidFill>
            <a:srgbClr val="0D2B28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822960"/>
            <a:ext cx="64008" cy="10972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9144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 = P x A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= Pressure x Area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0" y="11430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 = Force (lbs)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94560"/>
            <a:ext cx="8412480" cy="1097280"/>
          </a:xfrm>
          <a:prstGeom prst="rect">
            <a:avLst/>
          </a:prstGeom>
          <a:solidFill>
            <a:srgbClr val="162F2B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194560"/>
            <a:ext cx="64008" cy="10972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2860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= F / A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94360" y="2834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Pressure = Force / Area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0" y="25146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= Pressure (PSI)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566160"/>
            <a:ext cx="8412480" cy="1097280"/>
          </a:xfrm>
          <a:prstGeom prst="rect">
            <a:avLst/>
          </a:prstGeom>
          <a:solidFill>
            <a:srgbClr val="0D2B28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566160"/>
            <a:ext cx="64008" cy="10972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657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= F / P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94360" y="4206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= Force / Pressure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14800" y="38862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= Area (sq. in.)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965192"/>
            <a:ext cx="9144000" cy="274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7160" y="4965192"/>
            <a:ext cx="777240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AUTOA 123  |  Brakes  |  Pascal's Law and Master Cylinders  |  Shoreline Community College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8275320" y="4974336"/>
            <a:ext cx="594360" cy="1600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75320" y="4974336"/>
            <a:ext cx="594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24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217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Pascal's Law  --  Force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Hydraulic Principles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of Pascal's law, we can use different piston sizes to change braking force -- higher force in the front, smaller force in the rear.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amount of force starts at the brake pedal, then transfers to the fluid which pushes the piston in the brake.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input force is 150 lbs at the pedal and the piston is 2 sq. in., then the output force to the brake pads is 300 lbs of force.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65192"/>
            <a:ext cx="9144000" cy="274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" y="4965192"/>
            <a:ext cx="777240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AUTOA 123  |  Brakes  |  Pascal's Law and Master Cylinders  |  Shoreline Community College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8275320" y="4974336"/>
            <a:ext cx="594360" cy="1600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5320" y="4974336"/>
            <a:ext cx="594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24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217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Pascal's Law  --  Pressure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Hydraulic Principles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= F / A</a:t>
            </a:r>
            <a:endParaRPr lang="en-US" sz="24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lbs  /  1 sq. in.  =  100 psi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lbs  /  2 sq. in.  =  50 psi</a:t>
            </a:r>
            <a:endParaRPr lang="en-US" sz="24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Pressure stays constant throughout a sealed system -- but force changes with piston size.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65192"/>
            <a:ext cx="9144000" cy="274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" y="4965192"/>
            <a:ext cx="777240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AUTOA 123  |  Brakes  |  Pascal's Law and Master Cylinders  |  Shoreline Community College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8275320" y="4974336"/>
            <a:ext cx="594360" cy="1600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5320" y="4974336"/>
            <a:ext cx="594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24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217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Pascal's Law  --  Applied to Brakes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Hydraulic Principles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piston surface area affects force -- not diameter.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area that converts force into pressure is the Master Cylinder.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driver inputs 100 PSI to a 1/2" piston in the MC, the pressure in the closed system is 200 psi at each wheel.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46320" y="731520"/>
            <a:ext cx="4023360" cy="3200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5760" y="3657600"/>
            <a:ext cx="8412480" cy="777240"/>
          </a:xfrm>
          <a:prstGeom prst="rect">
            <a:avLst/>
          </a:prstGeom>
          <a:solidFill>
            <a:srgbClr val="FFFBF0"/>
          </a:solidFill>
          <a:ln w="19050">
            <a:solidFill>
              <a:srgbClr val="E9A82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3657600"/>
            <a:ext cx="8275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exercise: Using ShopKey, find the MC bore and one caliper piston bore. Calculate the force ratio.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0" y="4965192"/>
            <a:ext cx="9144000" cy="274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7160" y="4965192"/>
            <a:ext cx="777240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AUTOA 123  |  Brakes  |  Pascal's Law and Master Cylinders  |  Shoreline Community College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8275320" y="4974336"/>
            <a:ext cx="594360" cy="1600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75320" y="4974336"/>
            <a:ext cx="594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24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Pascal's Work as Class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0" y="2651760"/>
            <a:ext cx="3657600" cy="36576"/>
          </a:xfrm>
          <a:prstGeom prst="rect">
            <a:avLst/>
          </a:prstGeom>
          <a:solidFill>
            <a:srgbClr val="E9A825"/>
          </a:solidFill>
          <a:ln w="12700">
            <a:solidFill>
              <a:srgbClr val="E9A8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83464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ShopKey to find your vehicle's MC bore and caliper piston bore.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the force ratio and explain what it means.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65192"/>
            <a:ext cx="9144000" cy="274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" y="4965192"/>
            <a:ext cx="777240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AUTOA 123  |  Brakes  |  Pascal's Law and Master Cylinders  |  Shoreline Community College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8275320" y="4974336"/>
            <a:ext cx="594360" cy="1600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5320" y="4974336"/>
            <a:ext cx="594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24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217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Cylinders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Hydraulic System Components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cylinders have 2 reservoirs -- one primary and one secondary.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42976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Reservoir Cover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Reservoir Diaphragm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Reservoir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Reservoir Grommets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Cylinder Body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46320" y="731520"/>
            <a:ext cx="4023360" cy="4023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0" y="4965192"/>
            <a:ext cx="9144000" cy="274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37160" y="4965192"/>
            <a:ext cx="777240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AUTOA 123  |  Brakes  |  Pascal's Law and Master Cylinders  |  Shoreline Community College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8275320" y="4974336"/>
            <a:ext cx="594360" cy="1600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75320" y="4974336"/>
            <a:ext cx="594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24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217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Reservoir Fluid Level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Hydraulic System Components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731520"/>
            <a:ext cx="3840480" cy="4023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777240"/>
            <a:ext cx="4389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/ MAX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when system is new. All pads near full thickness.</a:t>
            </a:r>
            <a:endParaRPr lang="en-US" sz="1400" dirty="0"/>
          </a:p>
          <a:p>
            <a:pPr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or near MIN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as pads wear. Fluid moves into calipers to compensate.</a:t>
            </a:r>
            <a:endParaRPr lang="en-US" sz="1400" dirty="0"/>
          </a:p>
          <a:p>
            <a:pPr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MIN -- new pads installed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Suspect a fluid leak -- internal or external. Inspect before filling.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0" y="4965192"/>
            <a:ext cx="9144000" cy="274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37160" y="4965192"/>
            <a:ext cx="777240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AUTOA 123  |  Brakes  |  Pascal's Law and Master Cylinders  |  Shoreline Community College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8275320" y="4974336"/>
            <a:ext cx="594360" cy="1600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75320" y="4974336"/>
            <a:ext cx="594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24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217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 and Replenishing Ports  --  Different Names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Cylinder Operation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731520"/>
            <a:ext cx="5486400" cy="4023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0" y="914400"/>
            <a:ext cx="3017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 Port  (also called):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Compensating port  |  Bypass port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Replenishing Port  (also called):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Inlet port  |  Bypass port  |  Filler port  |  Breather port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0" y="4965192"/>
            <a:ext cx="9144000" cy="274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37160" y="4965192"/>
            <a:ext cx="777240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AUTOA 123  |  Brakes  |  Pascal's Law and Master Cylinders  |  Shoreline Community College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8275320" y="4974336"/>
            <a:ext cx="594360" cy="1600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75320" y="4974336"/>
            <a:ext cx="594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24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217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 Ports Must Remain Open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Cylinder Operation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731520"/>
            <a:ext cx="5303520" cy="4023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760720" y="86868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vent ports must remain open to allow brake fluid to expand when heated by the friction material and transferred to the caliper and/or wheel cylinder.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760720" y="3063240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blocked: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Brakes drag and overheat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pressure trapped in lines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Fluid cannot return to reservoir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0" y="4965192"/>
            <a:ext cx="9144000" cy="274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37160" y="4965192"/>
            <a:ext cx="777240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AUTOA 123  |  Brakes  |  Pascal's Law and Master Cylinders  |  Shoreline Community College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8275320" y="4974336"/>
            <a:ext cx="594360" cy="1600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75320" y="4974336"/>
            <a:ext cx="594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24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217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Pedal Depressed  --  Vent Port Closes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Cylinder Operation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731520"/>
            <a:ext cx="5303520" cy="4023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760720" y="109728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the brake pedal is depressed, the pushrod moves the primary piston forward, closing off the vent port.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760720" y="3017520"/>
            <a:ext cx="3108960" cy="1005840"/>
          </a:xfrm>
          <a:prstGeom prst="rect">
            <a:avLst/>
          </a:prstGeom>
          <a:solidFill>
            <a:srgbClr val="FFFBF0"/>
          </a:solidFill>
          <a:ln w="19050">
            <a:solidFill>
              <a:srgbClr val="E9A82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52160" y="301752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moment the hydraulic circuit is sealed and force transmits to the calipers.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0" y="4965192"/>
            <a:ext cx="9144000" cy="274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7160" y="4965192"/>
            <a:ext cx="777240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AUTOA 123  |  Brakes  |  Pascal's Law and Master Cylinders  |  Shoreline Community College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8275320" y="4974336"/>
            <a:ext cx="594360" cy="1600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75320" y="4974336"/>
            <a:ext cx="594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24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217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Replenishing Port  --  Purpose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Cylinder Operation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731520"/>
            <a:ext cx="5303520" cy="4023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760720" y="86868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purpose of the replenishing port is to keep the volume behind the primary piston filled with brake fluid from the reservoir as the piston moves forward during a brake application.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0" y="4965192"/>
            <a:ext cx="9144000" cy="274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37160" y="4965192"/>
            <a:ext cx="777240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AUTOA 123  |  Brakes  |  Pascal's Law and Master Cylinders  |  Shoreline Community College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8275320" y="4974336"/>
            <a:ext cx="594360" cy="1600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75320" y="4974336"/>
            <a:ext cx="594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24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217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Brake Pedal Released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Cylinder Operation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731520"/>
            <a:ext cx="5303520" cy="4023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760720" y="109728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brake pedal is released, the master cylinder piston moves rearward.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760720" y="274320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 port reopens -- pressure bleeds back to reservoir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Calipers release -- pads retract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ready for next application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0" y="4965192"/>
            <a:ext cx="9144000" cy="274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37160" y="4965192"/>
            <a:ext cx="777240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AUTOA 123  |  Brakes  |  Pascal's Law and Master Cylinders  |  Shoreline Community College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8275320" y="4974336"/>
            <a:ext cx="594360" cy="1600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75320" y="4974336"/>
            <a:ext cx="594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217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Split Master Cylinder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Cylinder Types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731520"/>
            <a:ext cx="5303520" cy="4023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0" y="8229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split master cylinder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669280" y="146304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on most rear-wheel-drive vehicles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circuit: both front wheels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Rear circuit: both rear wheels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0" y="3291840"/>
            <a:ext cx="3200400" cy="914400"/>
          </a:xfrm>
          <a:prstGeom prst="rect">
            <a:avLst/>
          </a:prstGeom>
          <a:solidFill>
            <a:srgbClr val="F0FAF8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69280" y="3291840"/>
            <a:ext cx="64008" cy="9144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06440" y="32918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one circuit fails, the other continues to provide braking.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4965192"/>
            <a:ext cx="9144000" cy="274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7160" y="4965192"/>
            <a:ext cx="777240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AUTOA 123  |  Brakes  |  Pascal's Law and Master Cylinders  |  Shoreline Community College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8275320" y="4974336"/>
            <a:ext cx="594360" cy="1600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75320" y="4974336"/>
            <a:ext cx="594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24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217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and Secondary Pistons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Cylinder Types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0" y="731520"/>
            <a:ext cx="4480560" cy="4023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822960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piston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Closest to the pushrod (brake pedal side)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E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piston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Closest to the nose (front of the MC body)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65760" y="3520440"/>
            <a:ext cx="3840480" cy="777240"/>
          </a:xfrm>
          <a:prstGeom prst="rect">
            <a:avLst/>
          </a:prstGeom>
          <a:solidFill>
            <a:srgbClr val="FFFBF0"/>
          </a:solidFill>
          <a:ln w="19050">
            <a:solidFill>
              <a:srgbClr val="E9A82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3520440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tip: Pushrod end = Primary. Nose end = Secondary.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0" y="4965192"/>
            <a:ext cx="9144000" cy="274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7160" y="4965192"/>
            <a:ext cx="777240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AUTOA 123  |  Brakes  |  Pascal's Law and Master Cylinders  |  Shoreline Community College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8275320" y="4974336"/>
            <a:ext cx="594360" cy="1600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75320" y="4974336"/>
            <a:ext cx="594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24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217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Circuit Failure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Cylinder Types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8412480" cy="1005840"/>
          </a:xfrm>
          <a:prstGeom prst="rect">
            <a:avLst/>
          </a:prstGeom>
          <a:solidFill>
            <a:srgbClr val="F0FAF8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777240"/>
            <a:ext cx="64008" cy="10058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7772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event of a primary system failure, no hydraulic pressure is available to push the secondary piston forward.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331720"/>
            <a:ext cx="8412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circuit loses pressure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piston is not actuated -- rear brakes may have reduced or no effect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Pedal may travel further before resistance is felt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 light illuminates via pressure differential switch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965192"/>
            <a:ext cx="9144000" cy="274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4965192"/>
            <a:ext cx="777240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AUTOA 123  |  Brakes  |  Pascal's Law and Master Cylinders  |  Shoreline Community College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8275320" y="4974336"/>
            <a:ext cx="594360" cy="1600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4974336"/>
            <a:ext cx="594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24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217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Diagonal Split Master Cylinder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Cylinder Types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0" y="731520"/>
            <a:ext cx="4480560" cy="4023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82296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Front-wheel-drive vehicles use a diagonal split master cylinder.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65760" y="1645920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1: Right front + Left rear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2: Left front + Right rear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Guarantees at least one front wheel has braking if a circuit fails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5760" y="3657600"/>
            <a:ext cx="3749040" cy="1005840"/>
          </a:xfrm>
          <a:prstGeom prst="rect">
            <a:avLst/>
          </a:prstGeom>
          <a:solidFill>
            <a:srgbClr val="FFFBF0"/>
          </a:solidFill>
          <a:ln w="19050">
            <a:solidFill>
              <a:srgbClr val="E9A82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365760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FWD vehicles do most braking at the front -- diagonal split ensures at least one front wheel always has pressure.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0" y="4965192"/>
            <a:ext cx="9144000" cy="274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37160" y="4965192"/>
            <a:ext cx="777240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AUTOA 123  |  Brakes  |  Pascal's Law and Master Cylinders  |  Shoreline Community College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8275320" y="4974336"/>
            <a:ext cx="594360" cy="1600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75320" y="4974336"/>
            <a:ext cx="594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24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217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Take-Up Master Cylinder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Cylinder Types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0" y="685800"/>
            <a:ext cx="448056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8229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in new vehicles for fuel economy.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65760" y="1325880"/>
            <a:ext cx="37490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be identified by the large primary chamber (low pressure side)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a large primary piston in the low pressure chamber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ball valve holds pressure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Allows low drag caliper pistons to retract further -- reduces pad drag and fuel waste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0" y="4965192"/>
            <a:ext cx="9144000" cy="274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37160" y="4965192"/>
            <a:ext cx="777240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AUTOA 123  |  Brakes  |  Pascal's Law and Master Cylinders  |  Shoreline Community College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8275320" y="4974336"/>
            <a:ext cx="594360" cy="1600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75320" y="4974336"/>
            <a:ext cx="594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24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217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 Bleeding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Cylinder Service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731520"/>
            <a:ext cx="5029200" cy="4023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77840" y="8229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 bleeding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577840" y="1600200"/>
            <a:ext cx="3291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bench bleed tubes into outlet ports, loop back into reservoir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Slowly stroke the piston until no bubbles appear in tubes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reservoir filled -- never let it run dry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 outlets before removing tubes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brake lines immediately after installing to prevent draining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0" y="4965192"/>
            <a:ext cx="9144000" cy="274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37160" y="4965192"/>
            <a:ext cx="777240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AUTOA 123  |  Brakes  |  Pascal's Law and Master Cylinders  |  Shoreline Community College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8275320" y="4974336"/>
            <a:ext cx="594360" cy="1600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75320" y="4974336"/>
            <a:ext cx="594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24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217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Brake Pedal Height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Pedal Measurements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0" y="685800"/>
            <a:ext cx="448056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7772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Brake pedal height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365760" y="1417320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important for the operation of the stop light switch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too far forward -- can cause the vent ports not to open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too low -- it can cause the free play to be excessive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5760" y="3703320"/>
            <a:ext cx="3749040" cy="777240"/>
          </a:xfrm>
          <a:prstGeom prst="rect">
            <a:avLst/>
          </a:prstGeom>
          <a:solidFill>
            <a:srgbClr val="F0FAF8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5760" y="3703320"/>
            <a:ext cx="64008" cy="7772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370332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look up the vehicle-specific specification in ShopKey before measuring.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4965192"/>
            <a:ext cx="9144000" cy="274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7160" y="4965192"/>
            <a:ext cx="777240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AUTOA 123  |  Brakes  |  Pascal's Law and Master Cylinders  |  Shoreline Community College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8275320" y="4974336"/>
            <a:ext cx="594360" cy="1600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75320" y="4974336"/>
            <a:ext cx="594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24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217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Brake Pedal Free Play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Pedal Measurements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0" y="685800"/>
            <a:ext cx="448056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7772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Brake pedal free play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365760" y="1371600"/>
            <a:ext cx="37490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play is the amount of 'slack' the system has before the pushrod engages with the master cylinder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measure from the top of the pedal to the floor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measure from the point that the pedal begins to have resistance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Subtract these two numbers -- this is the freeplay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0" y="4965192"/>
            <a:ext cx="9144000" cy="274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37160" y="4965192"/>
            <a:ext cx="777240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AUTOA 123  |  Brakes  |  Pascal's Law and Master Cylinders  |  Shoreline Community College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8275320" y="4974336"/>
            <a:ext cx="594360" cy="1600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75320" y="4974336"/>
            <a:ext cx="594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24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217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Play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Pedal Measurements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a measurable distance of the travel before the primary piston in the master cylinder moves.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much or too little free play can cause: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spongy pedal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than normal pedal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Sinking brake pedal -- can sink even when car is not moving; internal leak also known as bypassing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65192"/>
            <a:ext cx="9144000" cy="274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" y="4965192"/>
            <a:ext cx="777240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AUTOA 123  |  Brakes  |  Pascal's Law and Master Cylinders  |  Shoreline Community College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8275320" y="4974336"/>
            <a:ext cx="594360" cy="1600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5320" y="4974336"/>
            <a:ext cx="594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24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217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858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Brake Pedal Reserve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132320" y="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Pedal Measurements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 brake pedal fully depressed, measure from the floor to the top of the pedal -- specification is usually between 2-3 inches.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travel is out of specification -- possible causes: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brake booster push rod clearance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for fluid leaks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for damaged components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for air in the system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65192"/>
            <a:ext cx="9144000" cy="274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" y="4965192"/>
            <a:ext cx="777240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AUTOA 123  |  Brakes  |  Pascal's Law and Master Cylinders  |  Shoreline Community College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8275320" y="4974336"/>
            <a:ext cx="594360" cy="1600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5320" y="4974336"/>
            <a:ext cx="594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24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Pascal's Law and Master Cylinders</dc:title>
  <dc:subject>PptxGenJS Presentation</dc:subject>
  <dc:creator>Amber Avery-Graff</dc:creator>
  <cp:lastModifiedBy>Amber Avery-Graff</cp:lastModifiedBy>
  <cp:revision>1</cp:revision>
  <dcterms:created xsi:type="dcterms:W3CDTF">2026-05-04T16:05:43Z</dcterms:created>
  <dcterms:modified xsi:type="dcterms:W3CDTF">2026-05-04T16:05:43Z</dcterms:modified>
</cp:coreProperties>
</file>